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6.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eff1d70-b17f-fdaa-1228-f5e7a709f974}">
          <p14:sldIdLst>
            <p14:sldId id="256"/>
          </p14:sldIdLst>
        </p14:section>
        <p14:section name="The gap" id="{526d6d19-1a98-550e-284d-de93c89c7bdd}">
          <p14:sldIdLst>
            <p14:sldId id="257"/>
          </p14:sldIdLst>
        </p14:section>
        <p14:section name="Approach" id="{4384f23f-a0bd-2461-9e70-641d893f976a}">
          <p14:sldIdLst>
            <p14:sldId id="258"/>
          </p14:sldIdLst>
        </p14:section>
        <p14:section name="Measuring the media" id="{b925e285-19c3-891b-4235-9c311a98460b}">
          <p14:sldIdLst>
            <p14:sldId id="259"/>
            <p14:sldId id="260"/>
          </p14:sldIdLst>
        </p14:section>
        <p14:section name="Impact" id="{4d3bde75-cca8-227d-df5b-24f89717db42}">
          <p14:sldIdLst>
            <p14:sldId id="261"/>
            <p14:sldId id="262"/>
          </p14:sldIdLst>
        </p14:section>
        <p14:section name="Forecasting" id="{0009643d-66c1-9d30-f987-7430532f0031}">
          <p14:sldIdLst>
            <p14:sldId id="263"/>
            <p14:sldId id="264"/>
          </p14:sldIdLst>
        </p14:section>
        <p14:section name="Conclusion" id="{b6a981ad-2727-9338-b978-6072d3287a16}">
          <p14:sldIdLst>
            <p14:sldId id="265"/>
            <p14:sldId id="266"/>
          </p14:sldIdLst>
        </p14:section>
        <p14:section name="Implication" id="{311aa03b-e98e-6302-92b2-20d2e7595033}">
          <p14:sldIdLst>
            <p14:sldId id="267"/>
            <p14:sldId id="268"/>
          </p14:sldIdLst>
        </p14:section>
        <p14:section name="Backup" id="{761ca956-fbb9-7c42-4bde-432b361f741f}">
          <p14:sldIdLst>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Michigan sentiment (ICS, index points)</c:v>
                </c:pt>
              </c:strCache>
            </c:strRef>
          </c:tx>
          <c:spPr>
            <a:solidFill>
              <a:srgbClr val="1B2333"/>
            </a:solidFill>
            <a:ln w="25400" cap="flat">
              <a:solidFill>
                <a:srgbClr val="1B2333"/>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1B2333"/>
              </a:solidFill>
              <a:ln w="9525" cap="flat">
                <a:solidFill>
                  <a:srgbClr val="1B2333"/>
                </a:solidFill>
                <a:prstDash val="solid"/>
                <a:round/>
              </a:ln>
              <a:effectLst/>
            </c:spPr>
          </c:marker>
          <c:cat>
            <c:multiLvlStrRef>
              <c:f>Sheet1!$A$2:$A$203</c:f>
              <c:multiLvlStrCache>
                <c:ptCount val="202"/>
                <c:lvl>
                  <c:pt idx="0">
                    <c:v>Jan 2010</c:v>
                  </c:pt>
                  <c:pt idx="1">
                    <c:v>Feb 2010</c:v>
                  </c:pt>
                  <c:pt idx="2">
                    <c:v>Mar 2010</c:v>
                  </c:pt>
                  <c:pt idx="3">
                    <c:v>Apr 2010</c:v>
                  </c:pt>
                  <c:pt idx="4">
                    <c:v>May 2010</c:v>
                  </c:pt>
                  <c:pt idx="5">
                    <c:v>Jun 2010</c:v>
                  </c:pt>
                  <c:pt idx="6">
                    <c:v>Jul 2010</c:v>
                  </c:pt>
                  <c:pt idx="7">
                    <c:v>Aug 2010</c:v>
                  </c:pt>
                  <c:pt idx="8">
                    <c:v>Sep 2010</c:v>
                  </c:pt>
                  <c:pt idx="9">
                    <c:v>Oct 2010</c:v>
                  </c:pt>
                  <c:pt idx="10">
                    <c:v>Nov 2010</c:v>
                  </c:pt>
                  <c:pt idx="11">
                    <c:v>Dec 2010</c:v>
                  </c:pt>
                  <c:pt idx="12">
                    <c:v>Jan 2011</c:v>
                  </c:pt>
                  <c:pt idx="13">
                    <c:v>Feb 2011</c:v>
                  </c:pt>
                  <c:pt idx="14">
                    <c:v>Mar 2011</c:v>
                  </c:pt>
                  <c:pt idx="15">
                    <c:v>Apr 2011</c:v>
                  </c:pt>
                  <c:pt idx="16">
                    <c:v>May 2011</c:v>
                  </c:pt>
                  <c:pt idx="17">
                    <c:v>Jun 2011</c:v>
                  </c:pt>
                  <c:pt idx="18">
                    <c:v>Jul 2011</c:v>
                  </c:pt>
                  <c:pt idx="19">
                    <c:v>Aug 2011</c:v>
                  </c:pt>
                  <c:pt idx="20">
                    <c:v>Sep 2011</c:v>
                  </c:pt>
                  <c:pt idx="21">
                    <c:v>Oct 2011</c:v>
                  </c:pt>
                  <c:pt idx="22">
                    <c:v>Nov 2011</c:v>
                  </c:pt>
                  <c:pt idx="23">
                    <c:v>Dec 2011</c:v>
                  </c:pt>
                  <c:pt idx="24">
                    <c:v>Jan 2012</c:v>
                  </c:pt>
                  <c:pt idx="25">
                    <c:v>Feb 2012</c:v>
                  </c:pt>
                  <c:pt idx="26">
                    <c:v>Mar 2012</c:v>
                  </c:pt>
                  <c:pt idx="27">
                    <c:v>Apr 2012</c:v>
                  </c:pt>
                  <c:pt idx="28">
                    <c:v>May 2012</c:v>
                  </c:pt>
                  <c:pt idx="29">
                    <c:v>Jun 2012</c:v>
                  </c:pt>
                  <c:pt idx="30">
                    <c:v>Jul 2012</c:v>
                  </c:pt>
                  <c:pt idx="31">
                    <c:v>Aug 2012</c:v>
                  </c:pt>
                  <c:pt idx="32">
                    <c:v>Sep 2012</c:v>
                  </c:pt>
                  <c:pt idx="33">
                    <c:v>Oct 2012</c:v>
                  </c:pt>
                  <c:pt idx="34">
                    <c:v>Nov 2012</c:v>
                  </c:pt>
                  <c:pt idx="35">
                    <c:v>Dec 2012</c:v>
                  </c:pt>
                  <c:pt idx="36">
                    <c:v>Jan 2013</c:v>
                  </c:pt>
                  <c:pt idx="37">
                    <c:v>Feb 2013</c:v>
                  </c:pt>
                  <c:pt idx="38">
                    <c:v>Mar 2013</c:v>
                  </c:pt>
                  <c:pt idx="39">
                    <c:v>Apr 2013</c:v>
                  </c:pt>
                  <c:pt idx="40">
                    <c:v>May 2013</c:v>
                  </c:pt>
                  <c:pt idx="41">
                    <c:v>Jun 2013</c:v>
                  </c:pt>
                  <c:pt idx="42">
                    <c:v>Jul 2013</c:v>
                  </c:pt>
                  <c:pt idx="43">
                    <c:v>Aug 2013</c:v>
                  </c:pt>
                  <c:pt idx="44">
                    <c:v>Sep 2013</c:v>
                  </c:pt>
                  <c:pt idx="45">
                    <c:v>Oct 2013</c:v>
                  </c:pt>
                  <c:pt idx="46">
                    <c:v>Nov 2013</c:v>
                  </c:pt>
                  <c:pt idx="47">
                    <c:v>Dec 2013</c:v>
                  </c:pt>
                  <c:pt idx="48">
                    <c:v>Jan 2014</c:v>
                  </c:pt>
                  <c:pt idx="49">
                    <c:v>Feb 2014</c:v>
                  </c:pt>
                  <c:pt idx="50">
                    <c:v>Mar 2014</c:v>
                  </c:pt>
                  <c:pt idx="51">
                    <c:v>Apr 2014</c:v>
                  </c:pt>
                  <c:pt idx="52">
                    <c:v>May 2014</c:v>
                  </c:pt>
                  <c:pt idx="53">
                    <c:v>Jun 2014</c:v>
                  </c:pt>
                  <c:pt idx="54">
                    <c:v>Jul 2014</c:v>
                  </c:pt>
                  <c:pt idx="55">
                    <c:v>Aug 2014</c:v>
                  </c:pt>
                  <c:pt idx="56">
                    <c:v>Sep 2014</c:v>
                  </c:pt>
                  <c:pt idx="57">
                    <c:v>Oct 2014</c:v>
                  </c:pt>
                  <c:pt idx="58">
                    <c:v>Nov 2014</c:v>
                  </c:pt>
                  <c:pt idx="59">
                    <c:v>Dec 2014</c:v>
                  </c:pt>
                  <c:pt idx="60">
                    <c:v>Jan 2015</c:v>
                  </c:pt>
                  <c:pt idx="61">
                    <c:v>Feb 2015</c:v>
                  </c:pt>
                  <c:pt idx="62">
                    <c:v>Mar 2015</c:v>
                  </c:pt>
                  <c:pt idx="63">
                    <c:v>Apr 2015</c:v>
                  </c:pt>
                  <c:pt idx="64">
                    <c:v>May 2015</c:v>
                  </c:pt>
                  <c:pt idx="65">
                    <c:v>Jun 2015</c:v>
                  </c:pt>
                  <c:pt idx="66">
                    <c:v>Jul 2015</c:v>
                  </c:pt>
                  <c:pt idx="67">
                    <c:v>Aug 2015</c:v>
                  </c:pt>
                  <c:pt idx="68">
                    <c:v>Sep 2015</c:v>
                  </c:pt>
                  <c:pt idx="69">
                    <c:v>Oct 2015</c:v>
                  </c:pt>
                  <c:pt idx="70">
                    <c:v>Nov 2015</c:v>
                  </c:pt>
                  <c:pt idx="71">
                    <c:v>Dec 2015</c:v>
                  </c:pt>
                  <c:pt idx="72">
                    <c:v>Jan 2016</c:v>
                  </c:pt>
                  <c:pt idx="73">
                    <c:v>Feb 2016</c:v>
                  </c:pt>
                  <c:pt idx="74">
                    <c:v>Mar 2016</c:v>
                  </c:pt>
                  <c:pt idx="75">
                    <c:v>Apr 2016</c:v>
                  </c:pt>
                  <c:pt idx="76">
                    <c:v>May 2016</c:v>
                  </c:pt>
                  <c:pt idx="77">
                    <c:v>Jun 2016</c:v>
                  </c:pt>
                  <c:pt idx="78">
                    <c:v>Jul 2016</c:v>
                  </c:pt>
                  <c:pt idx="79">
                    <c:v>Aug 2016</c:v>
                  </c:pt>
                  <c:pt idx="80">
                    <c:v>Sep 2016</c:v>
                  </c:pt>
                  <c:pt idx="81">
                    <c:v>Oct 2016</c:v>
                  </c:pt>
                  <c:pt idx="82">
                    <c:v>Nov 2016</c:v>
                  </c:pt>
                  <c:pt idx="83">
                    <c:v>Dec 2016</c:v>
                  </c:pt>
                  <c:pt idx="84">
                    <c:v>Jan 2017</c:v>
                  </c:pt>
                  <c:pt idx="85">
                    <c:v>Feb 2017</c:v>
                  </c:pt>
                  <c:pt idx="86">
                    <c:v>Mar 2017</c:v>
                  </c:pt>
                  <c:pt idx="87">
                    <c:v>Apr 2017</c:v>
                  </c:pt>
                  <c:pt idx="88">
                    <c:v>May 2017</c:v>
                  </c:pt>
                  <c:pt idx="89">
                    <c:v>Jun 2017</c:v>
                  </c:pt>
                  <c:pt idx="90">
                    <c:v>Jul 2017</c:v>
                  </c:pt>
                  <c:pt idx="91">
                    <c:v>Aug 2017</c:v>
                  </c:pt>
                  <c:pt idx="92">
                    <c:v>Sep 2017</c:v>
                  </c:pt>
                  <c:pt idx="93">
                    <c:v>Oct 2017</c:v>
                  </c:pt>
                  <c:pt idx="94">
                    <c:v>Nov 2017</c:v>
                  </c:pt>
                  <c:pt idx="95">
                    <c:v>Dec 2017</c:v>
                  </c:pt>
                  <c:pt idx="96">
                    <c:v>Jan 2018</c:v>
                  </c:pt>
                  <c:pt idx="97">
                    <c:v>Feb 2018</c:v>
                  </c:pt>
                  <c:pt idx="98">
                    <c:v>Mar 2018</c:v>
                  </c:pt>
                  <c:pt idx="99">
                    <c:v>Apr 2018</c:v>
                  </c:pt>
                  <c:pt idx="100">
                    <c:v>May 2018</c:v>
                  </c:pt>
                  <c:pt idx="101">
                    <c:v>Jun 2018</c:v>
                  </c:pt>
                  <c:pt idx="102">
                    <c:v>Jul 2018</c:v>
                  </c:pt>
                  <c:pt idx="103">
                    <c:v>Aug 2018</c:v>
                  </c:pt>
                  <c:pt idx="104">
                    <c:v>Sep 2018</c:v>
                  </c:pt>
                  <c:pt idx="105">
                    <c:v>Oct 2018</c:v>
                  </c:pt>
                  <c:pt idx="106">
                    <c:v>Nov 2018</c:v>
                  </c:pt>
                  <c:pt idx="107">
                    <c:v>Dec 2018</c:v>
                  </c:pt>
                  <c:pt idx="108">
                    <c:v>Jan 2019</c:v>
                  </c:pt>
                  <c:pt idx="109">
                    <c:v>Feb 2019</c:v>
                  </c:pt>
                  <c:pt idx="110">
                    <c:v>Mar 2019</c:v>
                  </c:pt>
                  <c:pt idx="111">
                    <c:v>Apr 2019</c:v>
                  </c:pt>
                  <c:pt idx="112">
                    <c:v>May 2019</c:v>
                  </c:pt>
                  <c:pt idx="113">
                    <c:v>Jun 2019</c:v>
                  </c:pt>
                  <c:pt idx="114">
                    <c:v>Jul 2019</c:v>
                  </c:pt>
                  <c:pt idx="115">
                    <c:v>Aug 2019</c:v>
                  </c:pt>
                  <c:pt idx="116">
                    <c:v>Sep 2019</c:v>
                  </c:pt>
                  <c:pt idx="117">
                    <c:v>Oct 2019</c:v>
                  </c:pt>
                  <c:pt idx="118">
                    <c:v>Nov 2019</c:v>
                  </c:pt>
                  <c:pt idx="119">
                    <c:v>Dec 2019</c:v>
                  </c:pt>
                  <c:pt idx="120">
                    <c:v>Jan 2020</c:v>
                  </c:pt>
                  <c:pt idx="121">
                    <c:v>Feb 2020</c:v>
                  </c:pt>
                  <c:pt idx="122">
                    <c:v>Mar 2020</c:v>
                  </c:pt>
                  <c:pt idx="123">
                    <c:v>Apr 2020</c:v>
                  </c:pt>
                  <c:pt idx="124">
                    <c:v>May 2020</c:v>
                  </c:pt>
                  <c:pt idx="125">
                    <c:v>Jun 2020</c:v>
                  </c:pt>
                  <c:pt idx="126">
                    <c:v>Jul 2020</c:v>
                  </c:pt>
                  <c:pt idx="127">
                    <c:v>Aug 2020</c:v>
                  </c:pt>
                  <c:pt idx="128">
                    <c:v>Sep 2020</c:v>
                  </c:pt>
                  <c:pt idx="129">
                    <c:v>Oct 2020</c:v>
                  </c:pt>
                  <c:pt idx="130">
                    <c:v>Nov 2020</c:v>
                  </c:pt>
                  <c:pt idx="131">
                    <c:v>Dec 2020</c:v>
                  </c:pt>
                  <c:pt idx="132">
                    <c:v>Jan 2021</c:v>
                  </c:pt>
                  <c:pt idx="133">
                    <c:v>Feb 2021</c:v>
                  </c:pt>
                  <c:pt idx="134">
                    <c:v>Mar 2021</c:v>
                  </c:pt>
                  <c:pt idx="135">
                    <c:v>Apr 2021</c:v>
                  </c:pt>
                  <c:pt idx="136">
                    <c:v>May 2021</c:v>
                  </c:pt>
                  <c:pt idx="137">
                    <c:v>Jun 2021</c:v>
                  </c:pt>
                  <c:pt idx="138">
                    <c:v>Jul 2021</c:v>
                  </c:pt>
                  <c:pt idx="139">
                    <c:v>Aug 2021</c:v>
                  </c:pt>
                  <c:pt idx="140">
                    <c:v>Sep 2021</c:v>
                  </c:pt>
                  <c:pt idx="141">
                    <c:v>Oct 2021</c:v>
                  </c:pt>
                  <c:pt idx="142">
                    <c:v>Nov 2021</c:v>
                  </c:pt>
                  <c:pt idx="143">
                    <c:v>Dec 2021</c:v>
                  </c:pt>
                  <c:pt idx="144">
                    <c:v>Jan 2022</c:v>
                  </c:pt>
                  <c:pt idx="145">
                    <c:v>Feb 2022</c:v>
                  </c:pt>
                  <c:pt idx="146">
                    <c:v>Mar 2022</c:v>
                  </c:pt>
                  <c:pt idx="147">
                    <c:v>Apr 2022</c:v>
                  </c:pt>
                  <c:pt idx="148">
                    <c:v>May 2022</c:v>
                  </c:pt>
                  <c:pt idx="149">
                    <c:v>Jun 2022</c:v>
                  </c:pt>
                  <c:pt idx="150">
                    <c:v>Jul 2022</c:v>
                  </c:pt>
                  <c:pt idx="151">
                    <c:v>Aug 2022</c:v>
                  </c:pt>
                  <c:pt idx="152">
                    <c:v>Sep 2022</c:v>
                  </c:pt>
                  <c:pt idx="153">
                    <c:v>Oct 2022</c:v>
                  </c:pt>
                  <c:pt idx="154">
                    <c:v>Nov 2022</c:v>
                  </c:pt>
                  <c:pt idx="155">
                    <c:v>Dec 2022</c:v>
                  </c:pt>
                  <c:pt idx="156">
                    <c:v>Jan 2023</c:v>
                  </c:pt>
                  <c:pt idx="157">
                    <c:v>Feb 2023</c:v>
                  </c:pt>
                  <c:pt idx="158">
                    <c:v>Mar 2023</c:v>
                  </c:pt>
                  <c:pt idx="159">
                    <c:v>Apr 2023</c:v>
                  </c:pt>
                  <c:pt idx="160">
                    <c:v>May 2023</c:v>
                  </c:pt>
                  <c:pt idx="161">
                    <c:v>Jun 2023</c:v>
                  </c:pt>
                  <c:pt idx="162">
                    <c:v>Jul 2023</c:v>
                  </c:pt>
                  <c:pt idx="163">
                    <c:v>Aug 2023</c:v>
                  </c:pt>
                  <c:pt idx="164">
                    <c:v>Sep 2023</c:v>
                  </c:pt>
                  <c:pt idx="165">
                    <c:v>Oct 2023</c:v>
                  </c:pt>
                  <c:pt idx="166">
                    <c:v>Nov 2023</c:v>
                  </c:pt>
                  <c:pt idx="167">
                    <c:v>Dec 2023</c:v>
                  </c:pt>
                  <c:pt idx="168">
                    <c:v>Jan 2024</c:v>
                  </c:pt>
                  <c:pt idx="169">
                    <c:v>Feb 2024</c:v>
                  </c:pt>
                  <c:pt idx="170">
                    <c:v>Mar 2024</c:v>
                  </c:pt>
                  <c:pt idx="171">
                    <c:v>Apr 2024</c:v>
                  </c:pt>
                  <c:pt idx="172">
                    <c:v>May 2024</c:v>
                  </c:pt>
                  <c:pt idx="173">
                    <c:v>Jun 2024</c:v>
                  </c:pt>
                  <c:pt idx="174">
                    <c:v>Jul 2024</c:v>
                  </c:pt>
                  <c:pt idx="175">
                    <c:v>Aug 2024</c:v>
                  </c:pt>
                  <c:pt idx="176">
                    <c:v>Sep 2024</c:v>
                  </c:pt>
                  <c:pt idx="177">
                    <c:v>Oct 2024</c:v>
                  </c:pt>
                  <c:pt idx="178">
                    <c:v>Nov 2024</c:v>
                  </c:pt>
                  <c:pt idx="179">
                    <c:v>Dec 2024</c:v>
                  </c:pt>
                  <c:pt idx="180">
                    <c:v>Jan 2025</c:v>
                  </c:pt>
                  <c:pt idx="181">
                    <c:v>Feb 2025</c:v>
                  </c:pt>
                  <c:pt idx="182">
                    <c:v>Mar 2025</c:v>
                  </c:pt>
                  <c:pt idx="183">
                    <c:v>Apr 2025</c:v>
                  </c:pt>
                  <c:pt idx="184">
                    <c:v>May 2025</c:v>
                  </c:pt>
                  <c:pt idx="185">
                    <c:v>Jun 2025</c:v>
                  </c:pt>
                  <c:pt idx="186">
                    <c:v>Jul 2025</c:v>
                  </c:pt>
                  <c:pt idx="187">
                    <c:v>Aug 2025</c:v>
                  </c:pt>
                  <c:pt idx="188">
                    <c:v>Sep 2025</c:v>
                  </c:pt>
                  <c:pt idx="189">
                    <c:v>Oct 2025</c:v>
                  </c:pt>
                  <c:pt idx="190">
                    <c:v>Nov 2025</c:v>
                  </c:pt>
                  <c:pt idx="191">
                    <c:v>Dec 2025</c:v>
                  </c:pt>
                  <c:pt idx="192">
                    <c:v>Jan 2026</c:v>
                  </c:pt>
                  <c:pt idx="193">
                    <c:v>Feb 2026</c:v>
                  </c:pt>
                  <c:pt idx="194">
                    <c:v>Mar 2026</c:v>
                  </c:pt>
                  <c:pt idx="195">
                    <c:v>Apr 2026</c:v>
                  </c:pt>
                  <c:pt idx="196">
                    <c:v>May 2026</c:v>
                  </c:pt>
                  <c:pt idx="197">
                    <c:v>Jun 2026</c:v>
                  </c:pt>
                  <c:pt idx="198">
                    <c:v>Jul 2026</c:v>
                  </c:pt>
                  <c:pt idx="199">
                    <c:v>Aug 2026</c:v>
                  </c:pt>
                  <c:pt idx="200">
                    <c:v>Sep 2026</c:v>
                  </c:pt>
                  <c:pt idx="201">
                    <c:v>Oct 2026</c:v>
                  </c:pt>
                </c:lvl>
              </c:multiLvlStrCache>
            </c:multiLvlStrRef>
          </c:cat>
          <c:val>
            <c:numRef>
              <c:f>Sheet1!$B$2:$B$203</c:f>
              <c:numCache>
                <c:formatCode>General</c:formatCode>
                <c:ptCount val="202"/>
                <c:pt idx="0">
                  <c:v>74.4</c:v>
                </c:pt>
                <c:pt idx="1">
                  <c:v>73.6</c:v>
                </c:pt>
                <c:pt idx="2">
                  <c:v>73.6</c:v>
                </c:pt>
                <c:pt idx="3">
                  <c:v>72.2</c:v>
                </c:pt>
                <c:pt idx="4">
                  <c:v>73.6</c:v>
                </c:pt>
                <c:pt idx="5">
                  <c:v>76</c:v>
                </c:pt>
                <c:pt idx="6">
                  <c:v>67.8</c:v>
                </c:pt>
                <c:pt idx="7">
                  <c:v>68.9</c:v>
                </c:pt>
                <c:pt idx="8">
                  <c:v>68.2</c:v>
                </c:pt>
                <c:pt idx="9">
                  <c:v>67.7</c:v>
                </c:pt>
                <c:pt idx="10">
                  <c:v>71.6</c:v>
                </c:pt>
                <c:pt idx="11">
                  <c:v>74.5</c:v>
                </c:pt>
                <c:pt idx="12">
                  <c:v>74.2</c:v>
                </c:pt>
                <c:pt idx="13">
                  <c:v>77.5</c:v>
                </c:pt>
                <c:pt idx="14">
                  <c:v>67.5</c:v>
                </c:pt>
                <c:pt idx="15">
                  <c:v>69.8</c:v>
                </c:pt>
                <c:pt idx="16">
                  <c:v>74.3</c:v>
                </c:pt>
                <c:pt idx="17">
                  <c:v>71.5</c:v>
                </c:pt>
                <c:pt idx="18">
                  <c:v>63.7</c:v>
                </c:pt>
                <c:pt idx="19">
                  <c:v>55.8</c:v>
                </c:pt>
                <c:pt idx="20">
                  <c:v>59.5</c:v>
                </c:pt>
                <c:pt idx="21">
                  <c:v>60.8</c:v>
                </c:pt>
                <c:pt idx="22">
                  <c:v>63.7</c:v>
                </c:pt>
                <c:pt idx="23">
                  <c:v>69.9</c:v>
                </c:pt>
                <c:pt idx="24">
                  <c:v>75</c:v>
                </c:pt>
                <c:pt idx="25">
                  <c:v>75.3</c:v>
                </c:pt>
                <c:pt idx="26">
                  <c:v>76.2</c:v>
                </c:pt>
                <c:pt idx="27">
                  <c:v>76.4</c:v>
                </c:pt>
                <c:pt idx="28">
                  <c:v>79.3</c:v>
                </c:pt>
                <c:pt idx="29">
                  <c:v>73.2</c:v>
                </c:pt>
                <c:pt idx="30">
                  <c:v>72.3</c:v>
                </c:pt>
                <c:pt idx="31">
                  <c:v>74.3</c:v>
                </c:pt>
                <c:pt idx="32">
                  <c:v>78.3</c:v>
                </c:pt>
                <c:pt idx="33">
                  <c:v>82.6</c:v>
                </c:pt>
                <c:pt idx="34">
                  <c:v>82.7</c:v>
                </c:pt>
                <c:pt idx="35">
                  <c:v>72.9</c:v>
                </c:pt>
                <c:pt idx="36">
                  <c:v>73.8</c:v>
                </c:pt>
                <c:pt idx="37">
                  <c:v>77.6</c:v>
                </c:pt>
                <c:pt idx="38">
                  <c:v>78.6</c:v>
                </c:pt>
                <c:pt idx="39">
                  <c:v>76.4</c:v>
                </c:pt>
                <c:pt idx="40">
                  <c:v>84.5</c:v>
                </c:pt>
                <c:pt idx="41">
                  <c:v>84.1</c:v>
                </c:pt>
                <c:pt idx="42">
                  <c:v>85.1</c:v>
                </c:pt>
                <c:pt idx="43">
                  <c:v>82.1</c:v>
                </c:pt>
                <c:pt idx="44">
                  <c:v>77.5</c:v>
                </c:pt>
                <c:pt idx="45">
                  <c:v>73.2</c:v>
                </c:pt>
                <c:pt idx="46">
                  <c:v>75.1</c:v>
                </c:pt>
                <c:pt idx="47">
                  <c:v>82.5</c:v>
                </c:pt>
                <c:pt idx="48">
                  <c:v>81.2</c:v>
                </c:pt>
                <c:pt idx="49">
                  <c:v>81.6</c:v>
                </c:pt>
                <c:pt idx="50">
                  <c:v>80</c:v>
                </c:pt>
                <c:pt idx="51">
                  <c:v>84.1</c:v>
                </c:pt>
                <c:pt idx="52">
                  <c:v>81.9</c:v>
                </c:pt>
                <c:pt idx="53">
                  <c:v>82.5</c:v>
                </c:pt>
                <c:pt idx="54">
                  <c:v>81.8</c:v>
                </c:pt>
                <c:pt idx="55">
                  <c:v>82.5</c:v>
                </c:pt>
                <c:pt idx="56">
                  <c:v>84.6</c:v>
                </c:pt>
                <c:pt idx="57">
                  <c:v>86.9</c:v>
                </c:pt>
                <c:pt idx="58">
                  <c:v>88.8</c:v>
                </c:pt>
                <c:pt idx="59">
                  <c:v>93.6</c:v>
                </c:pt>
                <c:pt idx="60">
                  <c:v>98.1</c:v>
                </c:pt>
                <c:pt idx="61">
                  <c:v>95.4</c:v>
                </c:pt>
                <c:pt idx="62">
                  <c:v>93</c:v>
                </c:pt>
                <c:pt idx="63">
                  <c:v>95.9</c:v>
                </c:pt>
                <c:pt idx="64">
                  <c:v>90.7</c:v>
                </c:pt>
                <c:pt idx="65">
                  <c:v>96.1</c:v>
                </c:pt>
                <c:pt idx="66">
                  <c:v>93.1</c:v>
                </c:pt>
                <c:pt idx="67">
                  <c:v>91.9</c:v>
                </c:pt>
                <c:pt idx="68">
                  <c:v>87.2</c:v>
                </c:pt>
                <c:pt idx="69">
                  <c:v>90</c:v>
                </c:pt>
                <c:pt idx="70">
                  <c:v>91.3</c:v>
                </c:pt>
                <c:pt idx="71">
                  <c:v>92.6</c:v>
                </c:pt>
                <c:pt idx="72">
                  <c:v>92</c:v>
                </c:pt>
                <c:pt idx="73">
                  <c:v>91.7</c:v>
                </c:pt>
                <c:pt idx="74">
                  <c:v>91</c:v>
                </c:pt>
                <c:pt idx="75">
                  <c:v>89</c:v>
                </c:pt>
                <c:pt idx="76">
                  <c:v>94.7</c:v>
                </c:pt>
                <c:pt idx="77">
                  <c:v>93.5</c:v>
                </c:pt>
                <c:pt idx="78">
                  <c:v>90</c:v>
                </c:pt>
                <c:pt idx="79">
                  <c:v>89.8</c:v>
                </c:pt>
                <c:pt idx="80">
                  <c:v>91.2</c:v>
                </c:pt>
                <c:pt idx="81">
                  <c:v>87.2</c:v>
                </c:pt>
                <c:pt idx="82">
                  <c:v>93.8</c:v>
                </c:pt>
                <c:pt idx="83">
                  <c:v>98.2</c:v>
                </c:pt>
                <c:pt idx="84">
                  <c:v>98.5</c:v>
                </c:pt>
                <c:pt idx="85">
                  <c:v>96.3</c:v>
                </c:pt>
                <c:pt idx="86">
                  <c:v>96.9</c:v>
                </c:pt>
                <c:pt idx="87">
                  <c:v>97</c:v>
                </c:pt>
                <c:pt idx="88">
                  <c:v>97.1</c:v>
                </c:pt>
                <c:pt idx="89">
                  <c:v>95</c:v>
                </c:pt>
                <c:pt idx="90">
                  <c:v>93.4</c:v>
                </c:pt>
                <c:pt idx="91">
                  <c:v>96.8</c:v>
                </c:pt>
                <c:pt idx="92">
                  <c:v>95.1</c:v>
                </c:pt>
                <c:pt idx="93">
                  <c:v>100.7</c:v>
                </c:pt>
                <c:pt idx="94">
                  <c:v>98.5</c:v>
                </c:pt>
                <c:pt idx="95">
                  <c:v>95.9</c:v>
                </c:pt>
                <c:pt idx="96">
                  <c:v>95.7</c:v>
                </c:pt>
                <c:pt idx="97">
                  <c:v>99.7</c:v>
                </c:pt>
                <c:pt idx="98">
                  <c:v>101.4</c:v>
                </c:pt>
                <c:pt idx="99">
                  <c:v>98.8</c:v>
                </c:pt>
                <c:pt idx="100">
                  <c:v>98</c:v>
                </c:pt>
                <c:pt idx="101">
                  <c:v>98.2</c:v>
                </c:pt>
                <c:pt idx="102">
                  <c:v>97.9</c:v>
                </c:pt>
                <c:pt idx="103">
                  <c:v>96.2</c:v>
                </c:pt>
                <c:pt idx="104">
                  <c:v>100.1</c:v>
                </c:pt>
                <c:pt idx="105">
                  <c:v>98.6</c:v>
                </c:pt>
                <c:pt idx="106">
                  <c:v>97.5</c:v>
                </c:pt>
                <c:pt idx="107">
                  <c:v>98.3</c:v>
                </c:pt>
                <c:pt idx="108">
                  <c:v>91.2</c:v>
                </c:pt>
                <c:pt idx="109">
                  <c:v>93.8</c:v>
                </c:pt>
                <c:pt idx="110">
                  <c:v>98.4</c:v>
                </c:pt>
                <c:pt idx="111">
                  <c:v>97.2</c:v>
                </c:pt>
                <c:pt idx="112">
                  <c:v>100</c:v>
                </c:pt>
                <c:pt idx="113">
                  <c:v>98.2</c:v>
                </c:pt>
                <c:pt idx="114">
                  <c:v>98.4</c:v>
                </c:pt>
                <c:pt idx="115">
                  <c:v>89.8</c:v>
                </c:pt>
                <c:pt idx="116">
                  <c:v>93.2</c:v>
                </c:pt>
                <c:pt idx="117">
                  <c:v>95.5</c:v>
                </c:pt>
                <c:pt idx="118">
                  <c:v>96.8</c:v>
                </c:pt>
                <c:pt idx="119">
                  <c:v>99.3</c:v>
                </c:pt>
                <c:pt idx="120">
                  <c:v>99.8</c:v>
                </c:pt>
                <c:pt idx="121">
                  <c:v>101</c:v>
                </c:pt>
                <c:pt idx="122">
                  <c:v>89.1</c:v>
                </c:pt>
                <c:pt idx="123">
                  <c:v>71.8</c:v>
                </c:pt>
                <c:pt idx="124">
                  <c:v>72.3</c:v>
                </c:pt>
                <c:pt idx="125">
                  <c:v>78.1</c:v>
                </c:pt>
                <c:pt idx="126">
                  <c:v>72.5</c:v>
                </c:pt>
                <c:pt idx="127">
                  <c:v>74.1</c:v>
                </c:pt>
                <c:pt idx="128">
                  <c:v>80.4</c:v>
                </c:pt>
                <c:pt idx="129">
                  <c:v>81.8</c:v>
                </c:pt>
                <c:pt idx="130">
                  <c:v>76.9</c:v>
                </c:pt>
                <c:pt idx="131">
                  <c:v>80.7</c:v>
                </c:pt>
                <c:pt idx="132">
                  <c:v>79</c:v>
                </c:pt>
                <c:pt idx="133">
                  <c:v>76.8</c:v>
                </c:pt>
                <c:pt idx="134">
                  <c:v>84.9</c:v>
                </c:pt>
                <c:pt idx="135">
                  <c:v>88.3</c:v>
                </c:pt>
                <c:pt idx="136">
                  <c:v>82.9</c:v>
                </c:pt>
                <c:pt idx="137">
                  <c:v>85.5</c:v>
                </c:pt>
                <c:pt idx="138">
                  <c:v>81.2</c:v>
                </c:pt>
                <c:pt idx="139">
                  <c:v>70.3</c:v>
                </c:pt>
                <c:pt idx="140">
                  <c:v>72.8</c:v>
                </c:pt>
                <c:pt idx="141">
                  <c:v>71.7</c:v>
                </c:pt>
                <c:pt idx="142">
                  <c:v>67.4</c:v>
                </c:pt>
                <c:pt idx="143">
                  <c:v>70.6</c:v>
                </c:pt>
                <c:pt idx="144">
                  <c:v>67.2</c:v>
                </c:pt>
                <c:pt idx="145">
                  <c:v>62.8</c:v>
                </c:pt>
                <c:pt idx="146">
                  <c:v>59.4</c:v>
                </c:pt>
                <c:pt idx="147">
                  <c:v>65.2</c:v>
                </c:pt>
                <c:pt idx="148">
                  <c:v>58.4</c:v>
                </c:pt>
                <c:pt idx="149">
                  <c:v>50</c:v>
                </c:pt>
                <c:pt idx="150">
                  <c:v>51.5</c:v>
                </c:pt>
                <c:pt idx="151">
                  <c:v>58.2</c:v>
                </c:pt>
                <c:pt idx="152">
                  <c:v>58.6</c:v>
                </c:pt>
                <c:pt idx="153">
                  <c:v>59.9</c:v>
                </c:pt>
                <c:pt idx="154">
                  <c:v>56.7</c:v>
                </c:pt>
                <c:pt idx="155">
                  <c:v>59.8</c:v>
                </c:pt>
                <c:pt idx="156">
                  <c:v>64.9</c:v>
                </c:pt>
                <c:pt idx="157">
                  <c:v>66.9</c:v>
                </c:pt>
                <c:pt idx="158">
                  <c:v>62</c:v>
                </c:pt>
                <c:pt idx="159">
                  <c:v>63.7</c:v>
                </c:pt>
                <c:pt idx="160">
                  <c:v>59</c:v>
                </c:pt>
                <c:pt idx="161">
                  <c:v>64.2</c:v>
                </c:pt>
                <c:pt idx="162">
                  <c:v>71.5</c:v>
                </c:pt>
                <c:pt idx="163">
                  <c:v>69.4</c:v>
                </c:pt>
                <c:pt idx="164">
                  <c:v>67.8</c:v>
                </c:pt>
                <c:pt idx="165">
                  <c:v>63.8</c:v>
                </c:pt>
                <c:pt idx="166">
                  <c:v>61.3</c:v>
                </c:pt>
                <c:pt idx="167">
                  <c:v>69.7</c:v>
                </c:pt>
                <c:pt idx="168">
                  <c:v>79</c:v>
                </c:pt>
                <c:pt idx="169">
                  <c:v>76.9</c:v>
                </c:pt>
                <c:pt idx="170">
                  <c:v>79.4</c:v>
                </c:pt>
                <c:pt idx="171">
                  <c:v>77.2</c:v>
                </c:pt>
                <c:pt idx="172">
                  <c:v>69.1</c:v>
                </c:pt>
                <c:pt idx="173">
                  <c:v>68.2</c:v>
                </c:pt>
                <c:pt idx="174">
                  <c:v>66.4</c:v>
                </c:pt>
                <c:pt idx="175">
                  <c:v>67.9</c:v>
                </c:pt>
                <c:pt idx="176">
                  <c:v>70.1</c:v>
                </c:pt>
                <c:pt idx="177">
                  <c:v>70.5</c:v>
                </c:pt>
                <c:pt idx="178">
                  <c:v>71.8</c:v>
                </c:pt>
                <c:pt idx="179">
                  <c:v>74</c:v>
                </c:pt>
                <c:pt idx="180">
                  <c:v>71.7</c:v>
                </c:pt>
                <c:pt idx="181">
                  <c:v>64.7</c:v>
                </c:pt>
                <c:pt idx="182">
                  <c:v>57</c:v>
                </c:pt>
                <c:pt idx="183">
                  <c:v>52.2</c:v>
                </c:pt>
                <c:pt idx="184">
                  <c:v>52.2</c:v>
                </c:pt>
                <c:pt idx="185">
                  <c:v>60.7</c:v>
                </c:pt>
                <c:pt idx="186">
                  <c:v>61.7</c:v>
                </c:pt>
                <c:pt idx="187">
                  <c:v>58.2</c:v>
                </c:pt>
                <c:pt idx="188">
                  <c:v>55.1</c:v>
                </c:pt>
                <c:pt idx="189">
                  <c:v>53.6</c:v>
                </c:pt>
                <c:pt idx="190">
                  <c:v>51</c:v>
                </c:pt>
                <c:pt idx="191">
                  <c:v>52.9</c:v>
                </c:pt>
                <c:pt idx="192">
                  <c:v>56.4</c:v>
                </c:pt>
                <c:pt idx="193">
                  <c:v>56.6</c:v>
                </c:pt>
                <c:pt idx="194">
                  <c:v>53.3</c:v>
                </c:pt>
                <c:pt idx="195">
                  <c:v>49.8</c:v>
                </c:pt>
                <c:pt idx="196">
                  <c:v>44.8</c:v>
                </c:pt>
                <c:pt idx="197">
                  <c:v>49.5</c:v>
                </c:pt>
                <c:pt idx="198">
                  <c:v>55.2</c:v>
                </c:pt>
                <c:pt idx="199">
                  <c:v>51.7</c:v>
                </c:pt>
                <c:pt idx="200">
                  <c:v>48.1</c:v>
                </c:pt>
                <c:pt idx="201">
                  <c:v>46.3</c:v>
                </c:pt>
              </c:numCache>
            </c:numRef>
          </c:val>
          <c:smooth val="0"/>
        </c:ser>
        <c:ser>
          <c:idx val="1"/>
          <c:order val="1"/>
          <c:tx>
            <c:strRef>
              <c:f>Sheet1!$C$1</c:f>
              <c:strCache>
                <c:ptCount val="1"/>
                <c:pt idx="0">
                  <c:v>Economy-only model (unemployment, PCE inflation, GDP growth)</c:v>
                </c:pt>
              </c:strCache>
            </c:strRef>
          </c:tx>
          <c:spPr>
            <a:solidFill>
              <a:srgbClr val="2A7F86"/>
            </a:solidFill>
            <a:ln w="25400" cap="flat">
              <a:solidFill>
                <a:srgbClr val="2A7F86"/>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2A7F86"/>
              </a:solidFill>
              <a:ln w="9525" cap="flat">
                <a:solidFill>
                  <a:srgbClr val="2A7F86"/>
                </a:solidFill>
                <a:prstDash val="solid"/>
                <a:round/>
              </a:ln>
              <a:effectLst/>
            </c:spPr>
          </c:marker>
          <c:cat>
            <c:multiLvlStrRef>
              <c:f>Sheet1!$A$2:$A$203</c:f>
              <c:multiLvlStrCache>
                <c:ptCount val="202"/>
                <c:lvl>
                  <c:pt idx="0">
                    <c:v>Jan 2010</c:v>
                  </c:pt>
                  <c:pt idx="1">
                    <c:v>Feb 2010</c:v>
                  </c:pt>
                  <c:pt idx="2">
                    <c:v>Mar 2010</c:v>
                  </c:pt>
                  <c:pt idx="3">
                    <c:v>Apr 2010</c:v>
                  </c:pt>
                  <c:pt idx="4">
                    <c:v>May 2010</c:v>
                  </c:pt>
                  <c:pt idx="5">
                    <c:v>Jun 2010</c:v>
                  </c:pt>
                  <c:pt idx="6">
                    <c:v>Jul 2010</c:v>
                  </c:pt>
                  <c:pt idx="7">
                    <c:v>Aug 2010</c:v>
                  </c:pt>
                  <c:pt idx="8">
                    <c:v>Sep 2010</c:v>
                  </c:pt>
                  <c:pt idx="9">
                    <c:v>Oct 2010</c:v>
                  </c:pt>
                  <c:pt idx="10">
                    <c:v>Nov 2010</c:v>
                  </c:pt>
                  <c:pt idx="11">
                    <c:v>Dec 2010</c:v>
                  </c:pt>
                  <c:pt idx="12">
                    <c:v>Jan 2011</c:v>
                  </c:pt>
                  <c:pt idx="13">
                    <c:v>Feb 2011</c:v>
                  </c:pt>
                  <c:pt idx="14">
                    <c:v>Mar 2011</c:v>
                  </c:pt>
                  <c:pt idx="15">
                    <c:v>Apr 2011</c:v>
                  </c:pt>
                  <c:pt idx="16">
                    <c:v>May 2011</c:v>
                  </c:pt>
                  <c:pt idx="17">
                    <c:v>Jun 2011</c:v>
                  </c:pt>
                  <c:pt idx="18">
                    <c:v>Jul 2011</c:v>
                  </c:pt>
                  <c:pt idx="19">
                    <c:v>Aug 2011</c:v>
                  </c:pt>
                  <c:pt idx="20">
                    <c:v>Sep 2011</c:v>
                  </c:pt>
                  <c:pt idx="21">
                    <c:v>Oct 2011</c:v>
                  </c:pt>
                  <c:pt idx="22">
                    <c:v>Nov 2011</c:v>
                  </c:pt>
                  <c:pt idx="23">
                    <c:v>Dec 2011</c:v>
                  </c:pt>
                  <c:pt idx="24">
                    <c:v>Jan 2012</c:v>
                  </c:pt>
                  <c:pt idx="25">
                    <c:v>Feb 2012</c:v>
                  </c:pt>
                  <c:pt idx="26">
                    <c:v>Mar 2012</c:v>
                  </c:pt>
                  <c:pt idx="27">
                    <c:v>Apr 2012</c:v>
                  </c:pt>
                  <c:pt idx="28">
                    <c:v>May 2012</c:v>
                  </c:pt>
                  <c:pt idx="29">
                    <c:v>Jun 2012</c:v>
                  </c:pt>
                  <c:pt idx="30">
                    <c:v>Jul 2012</c:v>
                  </c:pt>
                  <c:pt idx="31">
                    <c:v>Aug 2012</c:v>
                  </c:pt>
                  <c:pt idx="32">
                    <c:v>Sep 2012</c:v>
                  </c:pt>
                  <c:pt idx="33">
                    <c:v>Oct 2012</c:v>
                  </c:pt>
                  <c:pt idx="34">
                    <c:v>Nov 2012</c:v>
                  </c:pt>
                  <c:pt idx="35">
                    <c:v>Dec 2012</c:v>
                  </c:pt>
                  <c:pt idx="36">
                    <c:v>Jan 2013</c:v>
                  </c:pt>
                  <c:pt idx="37">
                    <c:v>Feb 2013</c:v>
                  </c:pt>
                  <c:pt idx="38">
                    <c:v>Mar 2013</c:v>
                  </c:pt>
                  <c:pt idx="39">
                    <c:v>Apr 2013</c:v>
                  </c:pt>
                  <c:pt idx="40">
                    <c:v>May 2013</c:v>
                  </c:pt>
                  <c:pt idx="41">
                    <c:v>Jun 2013</c:v>
                  </c:pt>
                  <c:pt idx="42">
                    <c:v>Jul 2013</c:v>
                  </c:pt>
                  <c:pt idx="43">
                    <c:v>Aug 2013</c:v>
                  </c:pt>
                  <c:pt idx="44">
                    <c:v>Sep 2013</c:v>
                  </c:pt>
                  <c:pt idx="45">
                    <c:v>Oct 2013</c:v>
                  </c:pt>
                  <c:pt idx="46">
                    <c:v>Nov 2013</c:v>
                  </c:pt>
                  <c:pt idx="47">
                    <c:v>Dec 2013</c:v>
                  </c:pt>
                  <c:pt idx="48">
                    <c:v>Jan 2014</c:v>
                  </c:pt>
                  <c:pt idx="49">
                    <c:v>Feb 2014</c:v>
                  </c:pt>
                  <c:pt idx="50">
                    <c:v>Mar 2014</c:v>
                  </c:pt>
                  <c:pt idx="51">
                    <c:v>Apr 2014</c:v>
                  </c:pt>
                  <c:pt idx="52">
                    <c:v>May 2014</c:v>
                  </c:pt>
                  <c:pt idx="53">
                    <c:v>Jun 2014</c:v>
                  </c:pt>
                  <c:pt idx="54">
                    <c:v>Jul 2014</c:v>
                  </c:pt>
                  <c:pt idx="55">
                    <c:v>Aug 2014</c:v>
                  </c:pt>
                  <c:pt idx="56">
                    <c:v>Sep 2014</c:v>
                  </c:pt>
                  <c:pt idx="57">
                    <c:v>Oct 2014</c:v>
                  </c:pt>
                  <c:pt idx="58">
                    <c:v>Nov 2014</c:v>
                  </c:pt>
                  <c:pt idx="59">
                    <c:v>Dec 2014</c:v>
                  </c:pt>
                  <c:pt idx="60">
                    <c:v>Jan 2015</c:v>
                  </c:pt>
                  <c:pt idx="61">
                    <c:v>Feb 2015</c:v>
                  </c:pt>
                  <c:pt idx="62">
                    <c:v>Mar 2015</c:v>
                  </c:pt>
                  <c:pt idx="63">
                    <c:v>Apr 2015</c:v>
                  </c:pt>
                  <c:pt idx="64">
                    <c:v>May 2015</c:v>
                  </c:pt>
                  <c:pt idx="65">
                    <c:v>Jun 2015</c:v>
                  </c:pt>
                  <c:pt idx="66">
                    <c:v>Jul 2015</c:v>
                  </c:pt>
                  <c:pt idx="67">
                    <c:v>Aug 2015</c:v>
                  </c:pt>
                  <c:pt idx="68">
                    <c:v>Sep 2015</c:v>
                  </c:pt>
                  <c:pt idx="69">
                    <c:v>Oct 2015</c:v>
                  </c:pt>
                  <c:pt idx="70">
                    <c:v>Nov 2015</c:v>
                  </c:pt>
                  <c:pt idx="71">
                    <c:v>Dec 2015</c:v>
                  </c:pt>
                  <c:pt idx="72">
                    <c:v>Jan 2016</c:v>
                  </c:pt>
                  <c:pt idx="73">
                    <c:v>Feb 2016</c:v>
                  </c:pt>
                  <c:pt idx="74">
                    <c:v>Mar 2016</c:v>
                  </c:pt>
                  <c:pt idx="75">
                    <c:v>Apr 2016</c:v>
                  </c:pt>
                  <c:pt idx="76">
                    <c:v>May 2016</c:v>
                  </c:pt>
                  <c:pt idx="77">
                    <c:v>Jun 2016</c:v>
                  </c:pt>
                  <c:pt idx="78">
                    <c:v>Jul 2016</c:v>
                  </c:pt>
                  <c:pt idx="79">
                    <c:v>Aug 2016</c:v>
                  </c:pt>
                  <c:pt idx="80">
                    <c:v>Sep 2016</c:v>
                  </c:pt>
                  <c:pt idx="81">
                    <c:v>Oct 2016</c:v>
                  </c:pt>
                  <c:pt idx="82">
                    <c:v>Nov 2016</c:v>
                  </c:pt>
                  <c:pt idx="83">
                    <c:v>Dec 2016</c:v>
                  </c:pt>
                  <c:pt idx="84">
                    <c:v>Jan 2017</c:v>
                  </c:pt>
                  <c:pt idx="85">
                    <c:v>Feb 2017</c:v>
                  </c:pt>
                  <c:pt idx="86">
                    <c:v>Mar 2017</c:v>
                  </c:pt>
                  <c:pt idx="87">
                    <c:v>Apr 2017</c:v>
                  </c:pt>
                  <c:pt idx="88">
                    <c:v>May 2017</c:v>
                  </c:pt>
                  <c:pt idx="89">
                    <c:v>Jun 2017</c:v>
                  </c:pt>
                  <c:pt idx="90">
                    <c:v>Jul 2017</c:v>
                  </c:pt>
                  <c:pt idx="91">
                    <c:v>Aug 2017</c:v>
                  </c:pt>
                  <c:pt idx="92">
                    <c:v>Sep 2017</c:v>
                  </c:pt>
                  <c:pt idx="93">
                    <c:v>Oct 2017</c:v>
                  </c:pt>
                  <c:pt idx="94">
                    <c:v>Nov 2017</c:v>
                  </c:pt>
                  <c:pt idx="95">
                    <c:v>Dec 2017</c:v>
                  </c:pt>
                  <c:pt idx="96">
                    <c:v>Jan 2018</c:v>
                  </c:pt>
                  <c:pt idx="97">
                    <c:v>Feb 2018</c:v>
                  </c:pt>
                  <c:pt idx="98">
                    <c:v>Mar 2018</c:v>
                  </c:pt>
                  <c:pt idx="99">
                    <c:v>Apr 2018</c:v>
                  </c:pt>
                  <c:pt idx="100">
                    <c:v>May 2018</c:v>
                  </c:pt>
                  <c:pt idx="101">
                    <c:v>Jun 2018</c:v>
                  </c:pt>
                  <c:pt idx="102">
                    <c:v>Jul 2018</c:v>
                  </c:pt>
                  <c:pt idx="103">
                    <c:v>Aug 2018</c:v>
                  </c:pt>
                  <c:pt idx="104">
                    <c:v>Sep 2018</c:v>
                  </c:pt>
                  <c:pt idx="105">
                    <c:v>Oct 2018</c:v>
                  </c:pt>
                  <c:pt idx="106">
                    <c:v>Nov 2018</c:v>
                  </c:pt>
                  <c:pt idx="107">
                    <c:v>Dec 2018</c:v>
                  </c:pt>
                  <c:pt idx="108">
                    <c:v>Jan 2019</c:v>
                  </c:pt>
                  <c:pt idx="109">
                    <c:v>Feb 2019</c:v>
                  </c:pt>
                  <c:pt idx="110">
                    <c:v>Mar 2019</c:v>
                  </c:pt>
                  <c:pt idx="111">
                    <c:v>Apr 2019</c:v>
                  </c:pt>
                  <c:pt idx="112">
                    <c:v>May 2019</c:v>
                  </c:pt>
                  <c:pt idx="113">
                    <c:v>Jun 2019</c:v>
                  </c:pt>
                  <c:pt idx="114">
                    <c:v>Jul 2019</c:v>
                  </c:pt>
                  <c:pt idx="115">
                    <c:v>Aug 2019</c:v>
                  </c:pt>
                  <c:pt idx="116">
                    <c:v>Sep 2019</c:v>
                  </c:pt>
                  <c:pt idx="117">
                    <c:v>Oct 2019</c:v>
                  </c:pt>
                  <c:pt idx="118">
                    <c:v>Nov 2019</c:v>
                  </c:pt>
                  <c:pt idx="119">
                    <c:v>Dec 2019</c:v>
                  </c:pt>
                  <c:pt idx="120">
                    <c:v>Jan 2020</c:v>
                  </c:pt>
                  <c:pt idx="121">
                    <c:v>Feb 2020</c:v>
                  </c:pt>
                  <c:pt idx="122">
                    <c:v>Mar 2020</c:v>
                  </c:pt>
                  <c:pt idx="123">
                    <c:v>Apr 2020</c:v>
                  </c:pt>
                  <c:pt idx="124">
                    <c:v>May 2020</c:v>
                  </c:pt>
                  <c:pt idx="125">
                    <c:v>Jun 2020</c:v>
                  </c:pt>
                  <c:pt idx="126">
                    <c:v>Jul 2020</c:v>
                  </c:pt>
                  <c:pt idx="127">
                    <c:v>Aug 2020</c:v>
                  </c:pt>
                  <c:pt idx="128">
                    <c:v>Sep 2020</c:v>
                  </c:pt>
                  <c:pt idx="129">
                    <c:v>Oct 2020</c:v>
                  </c:pt>
                  <c:pt idx="130">
                    <c:v>Nov 2020</c:v>
                  </c:pt>
                  <c:pt idx="131">
                    <c:v>Dec 2020</c:v>
                  </c:pt>
                  <c:pt idx="132">
                    <c:v>Jan 2021</c:v>
                  </c:pt>
                  <c:pt idx="133">
                    <c:v>Feb 2021</c:v>
                  </c:pt>
                  <c:pt idx="134">
                    <c:v>Mar 2021</c:v>
                  </c:pt>
                  <c:pt idx="135">
                    <c:v>Apr 2021</c:v>
                  </c:pt>
                  <c:pt idx="136">
                    <c:v>May 2021</c:v>
                  </c:pt>
                  <c:pt idx="137">
                    <c:v>Jun 2021</c:v>
                  </c:pt>
                  <c:pt idx="138">
                    <c:v>Jul 2021</c:v>
                  </c:pt>
                  <c:pt idx="139">
                    <c:v>Aug 2021</c:v>
                  </c:pt>
                  <c:pt idx="140">
                    <c:v>Sep 2021</c:v>
                  </c:pt>
                  <c:pt idx="141">
                    <c:v>Oct 2021</c:v>
                  </c:pt>
                  <c:pt idx="142">
                    <c:v>Nov 2021</c:v>
                  </c:pt>
                  <c:pt idx="143">
                    <c:v>Dec 2021</c:v>
                  </c:pt>
                  <c:pt idx="144">
                    <c:v>Jan 2022</c:v>
                  </c:pt>
                  <c:pt idx="145">
                    <c:v>Feb 2022</c:v>
                  </c:pt>
                  <c:pt idx="146">
                    <c:v>Mar 2022</c:v>
                  </c:pt>
                  <c:pt idx="147">
                    <c:v>Apr 2022</c:v>
                  </c:pt>
                  <c:pt idx="148">
                    <c:v>May 2022</c:v>
                  </c:pt>
                  <c:pt idx="149">
                    <c:v>Jun 2022</c:v>
                  </c:pt>
                  <c:pt idx="150">
                    <c:v>Jul 2022</c:v>
                  </c:pt>
                  <c:pt idx="151">
                    <c:v>Aug 2022</c:v>
                  </c:pt>
                  <c:pt idx="152">
                    <c:v>Sep 2022</c:v>
                  </c:pt>
                  <c:pt idx="153">
                    <c:v>Oct 2022</c:v>
                  </c:pt>
                  <c:pt idx="154">
                    <c:v>Nov 2022</c:v>
                  </c:pt>
                  <c:pt idx="155">
                    <c:v>Dec 2022</c:v>
                  </c:pt>
                  <c:pt idx="156">
                    <c:v>Jan 2023</c:v>
                  </c:pt>
                  <c:pt idx="157">
                    <c:v>Feb 2023</c:v>
                  </c:pt>
                  <c:pt idx="158">
                    <c:v>Mar 2023</c:v>
                  </c:pt>
                  <c:pt idx="159">
                    <c:v>Apr 2023</c:v>
                  </c:pt>
                  <c:pt idx="160">
                    <c:v>May 2023</c:v>
                  </c:pt>
                  <c:pt idx="161">
                    <c:v>Jun 2023</c:v>
                  </c:pt>
                  <c:pt idx="162">
                    <c:v>Jul 2023</c:v>
                  </c:pt>
                  <c:pt idx="163">
                    <c:v>Aug 2023</c:v>
                  </c:pt>
                  <c:pt idx="164">
                    <c:v>Sep 2023</c:v>
                  </c:pt>
                  <c:pt idx="165">
                    <c:v>Oct 2023</c:v>
                  </c:pt>
                  <c:pt idx="166">
                    <c:v>Nov 2023</c:v>
                  </c:pt>
                  <c:pt idx="167">
                    <c:v>Dec 2023</c:v>
                  </c:pt>
                  <c:pt idx="168">
                    <c:v>Jan 2024</c:v>
                  </c:pt>
                  <c:pt idx="169">
                    <c:v>Feb 2024</c:v>
                  </c:pt>
                  <c:pt idx="170">
                    <c:v>Mar 2024</c:v>
                  </c:pt>
                  <c:pt idx="171">
                    <c:v>Apr 2024</c:v>
                  </c:pt>
                  <c:pt idx="172">
                    <c:v>May 2024</c:v>
                  </c:pt>
                  <c:pt idx="173">
                    <c:v>Jun 2024</c:v>
                  </c:pt>
                  <c:pt idx="174">
                    <c:v>Jul 2024</c:v>
                  </c:pt>
                  <c:pt idx="175">
                    <c:v>Aug 2024</c:v>
                  </c:pt>
                  <c:pt idx="176">
                    <c:v>Sep 2024</c:v>
                  </c:pt>
                  <c:pt idx="177">
                    <c:v>Oct 2024</c:v>
                  </c:pt>
                  <c:pt idx="178">
                    <c:v>Nov 2024</c:v>
                  </c:pt>
                  <c:pt idx="179">
                    <c:v>Dec 2024</c:v>
                  </c:pt>
                  <c:pt idx="180">
                    <c:v>Jan 2025</c:v>
                  </c:pt>
                  <c:pt idx="181">
                    <c:v>Feb 2025</c:v>
                  </c:pt>
                  <c:pt idx="182">
                    <c:v>Mar 2025</c:v>
                  </c:pt>
                  <c:pt idx="183">
                    <c:v>Apr 2025</c:v>
                  </c:pt>
                  <c:pt idx="184">
                    <c:v>May 2025</c:v>
                  </c:pt>
                  <c:pt idx="185">
                    <c:v>Jun 2025</c:v>
                  </c:pt>
                  <c:pt idx="186">
                    <c:v>Jul 2025</c:v>
                  </c:pt>
                  <c:pt idx="187">
                    <c:v>Aug 2025</c:v>
                  </c:pt>
                  <c:pt idx="188">
                    <c:v>Sep 2025</c:v>
                  </c:pt>
                  <c:pt idx="189">
                    <c:v>Oct 2025</c:v>
                  </c:pt>
                  <c:pt idx="190">
                    <c:v>Nov 2025</c:v>
                  </c:pt>
                  <c:pt idx="191">
                    <c:v>Dec 2025</c:v>
                  </c:pt>
                  <c:pt idx="192">
                    <c:v>Jan 2026</c:v>
                  </c:pt>
                  <c:pt idx="193">
                    <c:v>Feb 2026</c:v>
                  </c:pt>
                  <c:pt idx="194">
                    <c:v>Mar 2026</c:v>
                  </c:pt>
                  <c:pt idx="195">
                    <c:v>Apr 2026</c:v>
                  </c:pt>
                  <c:pt idx="196">
                    <c:v>May 2026</c:v>
                  </c:pt>
                  <c:pt idx="197">
                    <c:v>Jun 2026</c:v>
                  </c:pt>
                  <c:pt idx="198">
                    <c:v>Jul 2026</c:v>
                  </c:pt>
                  <c:pt idx="199">
                    <c:v>Aug 2026</c:v>
                  </c:pt>
                  <c:pt idx="200">
                    <c:v>Sep 2026</c:v>
                  </c:pt>
                  <c:pt idx="201">
                    <c:v>Oct 2026</c:v>
                  </c:pt>
                </c:lvl>
              </c:multiLvlStrCache>
            </c:multiLvlStrRef>
          </c:cat>
          <c:val>
            <c:numRef>
              <c:f>Sheet1!$C$2:$C$203</c:f>
              <c:numCache>
                <c:formatCode>General</c:formatCode>
                <c:ptCount val="202"/>
                <c:pt idx="0">
                  <c:v>67.3</c:v>
                </c:pt>
                <c:pt idx="1">
                  <c:v>70.4</c:v>
                </c:pt>
                <c:pt idx="2">
                  <c:v>70.7</c:v>
                </c:pt>
                <c:pt idx="3">
                  <c:v>71</c:v>
                </c:pt>
                <c:pt idx="4">
                  <c:v>67.5</c:v>
                </c:pt>
                <c:pt idx="5">
                  <c:v>68.4</c:v>
                </c:pt>
                <c:pt idx="6">
                  <c:v>69.3</c:v>
                </c:pt>
                <c:pt idx="7">
                  <c:v>70.1</c:v>
                </c:pt>
                <c:pt idx="8">
                  <c:v>68.6</c:v>
                </c:pt>
                <c:pt idx="9">
                  <c:v>68.8</c:v>
                </c:pt>
                <c:pt idx="10">
                  <c:v>69.3</c:v>
                </c:pt>
                <c:pt idx="11">
                  <c:v>69</c:v>
                </c:pt>
                <c:pt idx="12">
                  <c:v>71.5</c:v>
                </c:pt>
                <c:pt idx="13">
                  <c:v>73.6</c:v>
                </c:pt>
                <c:pt idx="14">
                  <c:v>73.7</c:v>
                </c:pt>
                <c:pt idx="15">
                  <c:v>73.7</c:v>
                </c:pt>
                <c:pt idx="16">
                  <c:v>71</c:v>
                </c:pt>
                <c:pt idx="17">
                  <c:v>69.8</c:v>
                </c:pt>
                <c:pt idx="18">
                  <c:v>68.7</c:v>
                </c:pt>
                <c:pt idx="19">
                  <c:v>68.5</c:v>
                </c:pt>
                <c:pt idx="20">
                  <c:v>67.8</c:v>
                </c:pt>
                <c:pt idx="21">
                  <c:v>67.9</c:v>
                </c:pt>
                <c:pt idx="22">
                  <c:v>69.2</c:v>
                </c:pt>
                <c:pt idx="23">
                  <c:v>71.3</c:v>
                </c:pt>
                <c:pt idx="24">
                  <c:v>71.9</c:v>
                </c:pt>
                <c:pt idx="25">
                  <c:v>74</c:v>
                </c:pt>
                <c:pt idx="26">
                  <c:v>74.3</c:v>
                </c:pt>
                <c:pt idx="27">
                  <c:v>74.9</c:v>
                </c:pt>
                <c:pt idx="28">
                  <c:v>75.1</c:v>
                </c:pt>
                <c:pt idx="29">
                  <c:v>75</c:v>
                </c:pt>
                <c:pt idx="30">
                  <c:v>75.7</c:v>
                </c:pt>
                <c:pt idx="31">
                  <c:v>74.9</c:v>
                </c:pt>
                <c:pt idx="32">
                  <c:v>76.5</c:v>
                </c:pt>
                <c:pt idx="33">
                  <c:v>77.1</c:v>
                </c:pt>
                <c:pt idx="34">
                  <c:v>76.8</c:v>
                </c:pt>
                <c:pt idx="35">
                  <c:v>78.3</c:v>
                </c:pt>
                <c:pt idx="36">
                  <c:v>78.9</c:v>
                </c:pt>
                <c:pt idx="37">
                  <c:v>75.8</c:v>
                </c:pt>
                <c:pt idx="38">
                  <c:v>77.3</c:v>
                </c:pt>
                <c:pt idx="39">
                  <c:v>77.7</c:v>
                </c:pt>
                <c:pt idx="40">
                  <c:v>80.8</c:v>
                </c:pt>
                <c:pt idx="41">
                  <c:v>80.7</c:v>
                </c:pt>
                <c:pt idx="42">
                  <c:v>79.6</c:v>
                </c:pt>
                <c:pt idx="43">
                  <c:v>79.8</c:v>
                </c:pt>
                <c:pt idx="44">
                  <c:v>80.9</c:v>
                </c:pt>
                <c:pt idx="45">
                  <c:v>81.4</c:v>
                </c:pt>
                <c:pt idx="46">
                  <c:v>82.2</c:v>
                </c:pt>
                <c:pt idx="47">
                  <c:v>84.7</c:v>
                </c:pt>
                <c:pt idx="48">
                  <c:v>86.4</c:v>
                </c:pt>
                <c:pt idx="49">
                  <c:v>85.6</c:v>
                </c:pt>
                <c:pt idx="50">
                  <c:v>84.1</c:v>
                </c:pt>
                <c:pt idx="51">
                  <c:v>85</c:v>
                </c:pt>
                <c:pt idx="52">
                  <c:v>84.2</c:v>
                </c:pt>
                <c:pt idx="53">
                  <c:v>82.2</c:v>
                </c:pt>
                <c:pt idx="54">
                  <c:v>81.1</c:v>
                </c:pt>
                <c:pt idx="55">
                  <c:v>87</c:v>
                </c:pt>
                <c:pt idx="56">
                  <c:v>87.8</c:v>
                </c:pt>
                <c:pt idx="57">
                  <c:v>89.4</c:v>
                </c:pt>
                <c:pt idx="58">
                  <c:v>89</c:v>
                </c:pt>
                <c:pt idx="59">
                  <c:v>89.3</c:v>
                </c:pt>
                <c:pt idx="60">
                  <c:v>91.8</c:v>
                </c:pt>
                <c:pt idx="61">
                  <c:v>90.2</c:v>
                </c:pt>
                <c:pt idx="62">
                  <c:v>91.9</c:v>
                </c:pt>
                <c:pt idx="63">
                  <c:v>91.7</c:v>
                </c:pt>
                <c:pt idx="64">
                  <c:v>90.5</c:v>
                </c:pt>
                <c:pt idx="65">
                  <c:v>89.6</c:v>
                </c:pt>
                <c:pt idx="66">
                  <c:v>90.8</c:v>
                </c:pt>
                <c:pt idx="67">
                  <c:v>92.8</c:v>
                </c:pt>
                <c:pt idx="68">
                  <c:v>95</c:v>
                </c:pt>
                <c:pt idx="69">
                  <c:v>95.1</c:v>
                </c:pt>
                <c:pt idx="70">
                  <c:v>93.9</c:v>
                </c:pt>
                <c:pt idx="71">
                  <c:v>94.2</c:v>
                </c:pt>
                <c:pt idx="72">
                  <c:v>93.8</c:v>
                </c:pt>
                <c:pt idx="73">
                  <c:v>92.7</c:v>
                </c:pt>
                <c:pt idx="74">
                  <c:v>91.5</c:v>
                </c:pt>
                <c:pt idx="75">
                  <c:v>92</c:v>
                </c:pt>
                <c:pt idx="76">
                  <c:v>91.6</c:v>
                </c:pt>
                <c:pt idx="77">
                  <c:v>92.7</c:v>
                </c:pt>
                <c:pt idx="78">
                  <c:v>92.3</c:v>
                </c:pt>
                <c:pt idx="79">
                  <c:v>92.5</c:v>
                </c:pt>
                <c:pt idx="80">
                  <c:v>92.6</c:v>
                </c:pt>
                <c:pt idx="81">
                  <c:v>92</c:v>
                </c:pt>
                <c:pt idx="82">
                  <c:v>93.2</c:v>
                </c:pt>
                <c:pt idx="83">
                  <c:v>94.5</c:v>
                </c:pt>
                <c:pt idx="84">
                  <c:v>94.4</c:v>
                </c:pt>
                <c:pt idx="85">
                  <c:v>92</c:v>
                </c:pt>
                <c:pt idx="86">
                  <c:v>91.9</c:v>
                </c:pt>
                <c:pt idx="87">
                  <c:v>92.5</c:v>
                </c:pt>
                <c:pt idx="88">
                  <c:v>92.4</c:v>
                </c:pt>
                <c:pt idx="89">
                  <c:v>93.6</c:v>
                </c:pt>
                <c:pt idx="90">
                  <c:v>93.9</c:v>
                </c:pt>
                <c:pt idx="91">
                  <c:v>95.5</c:v>
                </c:pt>
                <c:pt idx="92">
                  <c:v>95.4</c:v>
                </c:pt>
                <c:pt idx="93">
                  <c:v>96.4</c:v>
                </c:pt>
                <c:pt idx="94">
                  <c:v>96.3</c:v>
                </c:pt>
                <c:pt idx="95">
                  <c:v>96.7</c:v>
                </c:pt>
                <c:pt idx="96">
                  <c:v>96.2</c:v>
                </c:pt>
                <c:pt idx="97">
                  <c:v>95.8</c:v>
                </c:pt>
                <c:pt idx="98">
                  <c:v>95.9</c:v>
                </c:pt>
                <c:pt idx="99">
                  <c:v>96</c:v>
                </c:pt>
                <c:pt idx="100">
                  <c:v>95.9</c:v>
                </c:pt>
                <c:pt idx="101">
                  <c:v>96.4</c:v>
                </c:pt>
                <c:pt idx="102">
                  <c:v>94.6</c:v>
                </c:pt>
                <c:pt idx="103">
                  <c:v>96.9</c:v>
                </c:pt>
                <c:pt idx="104">
                  <c:v>96.9</c:v>
                </c:pt>
                <c:pt idx="105">
                  <c:v>98</c:v>
                </c:pt>
                <c:pt idx="106">
                  <c:v>97.9</c:v>
                </c:pt>
                <c:pt idx="107">
                  <c:v>98</c:v>
                </c:pt>
                <c:pt idx="108">
                  <c:v>97.2</c:v>
                </c:pt>
                <c:pt idx="109">
                  <c:v>96.7</c:v>
                </c:pt>
                <c:pt idx="110">
                  <c:v>97.2</c:v>
                </c:pt>
                <c:pt idx="111">
                  <c:v>97.7</c:v>
                </c:pt>
                <c:pt idx="112">
                  <c:v>99.2</c:v>
                </c:pt>
                <c:pt idx="113">
                  <c:v>99.1</c:v>
                </c:pt>
                <c:pt idx="114">
                  <c:v>98.7</c:v>
                </c:pt>
                <c:pt idx="115">
                  <c:v>98.1</c:v>
                </c:pt>
                <c:pt idx="116">
                  <c:v>98</c:v>
                </c:pt>
                <c:pt idx="117">
                  <c:v>98.8</c:v>
                </c:pt>
                <c:pt idx="118">
                  <c:v>98.5</c:v>
                </c:pt>
                <c:pt idx="119">
                  <c:v>99.2</c:v>
                </c:pt>
                <c:pt idx="120">
                  <c:v>98.8</c:v>
                </c:pt>
                <c:pt idx="121">
                  <c:v>98</c:v>
                </c:pt>
                <c:pt idx="122">
                  <c:v/>
                </c:pt>
                <c:pt idx="123">
                  <c:v/>
                </c:pt>
                <c:pt idx="124">
                  <c:v/>
                </c:pt>
                <c:pt idx="125">
                  <c:v/>
                </c:pt>
                <c:pt idx="126">
                  <c:v/>
                </c:pt>
                <c:pt idx="127">
                  <c:v/>
                </c:pt>
                <c:pt idx="128">
                  <c:v/>
                </c:pt>
                <c:pt idx="129">
                  <c:v/>
                </c:pt>
                <c:pt idx="130">
                  <c:v/>
                </c:pt>
                <c:pt idx="131">
                  <c:v/>
                </c:pt>
                <c:pt idx="132">
                  <c:v/>
                </c:pt>
                <c:pt idx="133">
                  <c:v>87.3</c:v>
                </c:pt>
                <c:pt idx="134">
                  <c:v>87.5</c:v>
                </c:pt>
                <c:pt idx="135">
                  <c:v>88.4</c:v>
                </c:pt>
                <c:pt idx="136">
                  <c:v>88.1</c:v>
                </c:pt>
                <c:pt idx="137">
                  <c:v>86.8</c:v>
                </c:pt>
                <c:pt idx="138">
                  <c:v>85.5</c:v>
                </c:pt>
                <c:pt idx="139">
                  <c:v>87.9</c:v>
                </c:pt>
                <c:pt idx="140">
                  <c:v>88.6</c:v>
                </c:pt>
                <c:pt idx="141">
                  <c:v>90.5</c:v>
                </c:pt>
                <c:pt idx="142">
                  <c:v>87.1</c:v>
                </c:pt>
                <c:pt idx="143">
                  <c:v>87.6</c:v>
                </c:pt>
                <c:pt idx="144">
                  <c:v>87.8</c:v>
                </c:pt>
                <c:pt idx="145">
                  <c:v>91.2</c:v>
                </c:pt>
                <c:pt idx="146">
                  <c:v>91.6</c:v>
                </c:pt>
                <c:pt idx="147">
                  <c:v>91.9</c:v>
                </c:pt>
                <c:pt idx="148">
                  <c:v>84.1</c:v>
                </c:pt>
                <c:pt idx="149">
                  <c:v>84.7</c:v>
                </c:pt>
                <c:pt idx="150">
                  <c:v>84.5</c:v>
                </c:pt>
                <c:pt idx="151">
                  <c:v>84.7</c:v>
                </c:pt>
                <c:pt idx="152">
                  <c:v>85</c:v>
                </c:pt>
                <c:pt idx="153">
                  <c:v>86.1</c:v>
                </c:pt>
                <c:pt idx="154">
                  <c:v>87.9</c:v>
                </c:pt>
                <c:pt idx="155">
                  <c:v>88.7</c:v>
                </c:pt>
                <c:pt idx="156">
                  <c:v>91</c:v>
                </c:pt>
                <c:pt idx="157">
                  <c:v>92.3</c:v>
                </c:pt>
                <c:pt idx="158">
                  <c:v>90.3</c:v>
                </c:pt>
                <c:pt idx="159">
                  <c:v>91.6</c:v>
                </c:pt>
                <c:pt idx="160">
                  <c:v>92.5</c:v>
                </c:pt>
                <c:pt idx="161">
                  <c:v>90.8</c:v>
                </c:pt>
                <c:pt idx="162">
                  <c:v>93.1</c:v>
                </c:pt>
                <c:pt idx="163">
                  <c:v>95.8</c:v>
                </c:pt>
                <c:pt idx="164">
                  <c:v>93.4</c:v>
                </c:pt>
                <c:pt idx="165">
                  <c:v>93</c:v>
                </c:pt>
                <c:pt idx="166">
                  <c:v>95</c:v>
                </c:pt>
                <c:pt idx="167">
                  <c:v>97.2</c:v>
                </c:pt>
                <c:pt idx="168">
                  <c:v>97.7</c:v>
                </c:pt>
                <c:pt idx="169">
                  <c:v>96.4</c:v>
                </c:pt>
                <c:pt idx="170">
                  <c:v>95.8</c:v>
                </c:pt>
                <c:pt idx="171">
                  <c:v>96.4</c:v>
                </c:pt>
                <c:pt idx="172">
                  <c:v>93.7</c:v>
                </c:pt>
                <c:pt idx="173">
                  <c:v>93.1</c:v>
                </c:pt>
                <c:pt idx="174">
                  <c:v>92.9</c:v>
                </c:pt>
                <c:pt idx="175">
                  <c:v>93.3</c:v>
                </c:pt>
                <c:pt idx="176">
                  <c:v>93.9</c:v>
                </c:pt>
                <c:pt idx="177">
                  <c:v>95</c:v>
                </c:pt>
                <c:pt idx="178">
                  <c:v>95.2</c:v>
                </c:pt>
                <c:pt idx="179">
                  <c:v>94.2</c:v>
                </c:pt>
                <c:pt idx="180">
                  <c:v>94.6</c:v>
                </c:pt>
                <c:pt idx="181">
                  <c:v>94.2</c:v>
                </c:pt>
                <c:pt idx="182">
                  <c:v>93.9</c:v>
                </c:pt>
                <c:pt idx="183">
                  <c:v>93.4</c:v>
                </c:pt>
                <c:pt idx="184">
                  <c:v>91.6</c:v>
                </c:pt>
                <c:pt idx="185">
                  <c:v>91.9</c:v>
                </c:pt>
                <c:pt idx="186">
                  <c:v>91.7</c:v>
                </c:pt>
                <c:pt idx="187">
                  <c:v>93.8</c:v>
                </c:pt>
                <c:pt idx="188">
                  <c:v>93.5</c:v>
                </c:pt>
                <c:pt idx="189">
                  <c:v>93.7</c:v>
                </c:pt>
                <c:pt idx="190">
                  <c:v>93.7</c:v>
                </c:pt>
                <c:pt idx="191">
                  <c:v>93.1</c:v>
                </c:pt>
                <c:pt idx="192">
                  <c:v>93.5</c:v>
                </c:pt>
                <c:pt idx="193">
                  <c:v>94.1</c:v>
                </c:pt>
                <c:pt idx="194">
                  <c:v>90.2</c:v>
                </c:pt>
                <c:pt idx="195">
                  <c:v>90.6</c:v>
                </c:pt>
                <c:pt idx="196">
                  <c:v>90.4</c:v>
                </c:pt>
                <c:pt idx="197">
                  <c:v>89.5</c:v>
                </c:pt>
                <c:pt idx="198">
                  <c:v>89.7</c:v>
                </c:pt>
                <c:pt idx="199">
                  <c:v>90.6</c:v>
                </c:pt>
                <c:pt idx="200">
                  <c:v>90.5</c:v>
                </c:pt>
                <c:pt idx="201">
                  <c:v>91.3</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659"/>
                </a:solidFill>
                <a:latin typeface="+mn-lt"/>
              </a:defRPr>
            </a:pPr>
            <a:endParaRPr lang="en-US"/>
          </a:p>
        </c:txPr>
        <c:crossAx val="2094734552"/>
        <c:crosses val="autoZero"/>
        <c:auto val="1"/>
        <c:lblAlgn val="ctr"/>
        <c:noMultiLvlLbl val="1"/>
        <c:tickLblSkip val="24"/>
      </c:catAx>
      <c:valAx>
        <c:axId val="2094734552"/>
        <c:scaling>
          <c:orientation val="minMax"/>
          <c:max val="120"/>
          <c:min val="40"/>
        </c:scaling>
        <c:delete val="0"/>
        <c:axPos val="l"/>
        <c:majorGridlines>
          <c:spPr>
            <a:ln w="9525" cap="flat">
              <a:solidFill>
                <a:srgbClr val="DDE2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3A465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gap"/>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A4659"/>
                </a:solidFill>
                <a:latin typeface="+mn-lt"/>
              </a:defRPr>
            </a:pPr>
            <a:r>
              <a:rPr sz="1300" b="0" i="0" u="none" strike="noStrike">
                <a:solidFill>
                  <a:srgbClr val="3A4659"/>
                </a:solidFill>
                <a:latin typeface="+mn-lt"/>
              </a:rPr>
              <a:t>Accuracy on the answer key: 300 headlines, 150 Reddit posts (macro-F1, 1 = perfect)</a:t>
            </a:r>
          </a:p>
        </c:rich>
      </c:tx>
      <c:layout/>
      <c:overlay val="0"/>
    </c:title>
    <c:autoTitleDeleted val="0"/>
    <c:plotArea>
      <c:layout/>
      <c:barChart>
        <c:barDir val="bar"/>
        <c:grouping val="clustered"/>
        <c:varyColors val="0"/>
        <c:ser>
          <c:idx val="0"/>
          <c:order val="0"/>
          <c:tx>
            <c:strRef>
              <c:f>Sheet1!$B$1</c:f>
              <c:strCache>
                <c:ptCount val="1"/>
                <c:pt idx="0">
                  <c:v>Relevance</c:v>
                </c:pt>
              </c:strCache>
            </c:strRef>
          </c:tx>
          <c:spPr>
            <a:solidFill>
              <a:srgbClr val="7A8699"/>
            </a:solidFill>
            <a:effectLst/>
          </c:spPr>
          <c:invertIfNegative val="0"/>
          <c:dLbls>
            <c:numFmt formatCode="0.0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Sheet1!$A$2:$A$5</c:f>
              <c:multiLvlStrCache>
                <c:ptCount val="4"/>
                <c:lvl>
                  <c:pt idx="0">
                    <c:v>Claude Opus coder</c:v>
                  </c:pt>
                  <c:pt idx="1">
                    <c:v>Tier C (classifier trained on Opus labels)</c:v>
                  </c:pt>
                  <c:pt idx="2">
                    <c:v>Classifier trained on 450 gold items</c:v>
                  </c:pt>
                  <c:pt idx="3">
                    <c:v>Loughran-McDonald dictionary</c:v>
                  </c:pt>
                </c:lvl>
              </c:multiLvlStrCache>
            </c:multiLvlStrRef>
          </c:cat>
          <c:val>
            <c:numRef>
              <c:f>Sheet1!$B$2:$B$5</c:f>
              <c:numCache>
                <c:formatCode>General</c:formatCode>
                <c:ptCount val="4"/>
                <c:pt idx="0">
                  <c:v>0.93</c:v>
                </c:pt>
                <c:pt idx="1">
                  <c:v>0.84</c:v>
                </c:pt>
                <c:pt idx="2">
                  <c:v>0.76</c:v>
                </c:pt>
                <c:pt idx="3">
                  <c:v>0.32</c:v>
                </c:pt>
              </c:numCache>
            </c:numRef>
          </c:val>
        </c:ser>
        <c:ser>
          <c:idx val="1"/>
          <c:order val="1"/>
          <c:tx>
            <c:strRef>
              <c:f>Sheet1!$C$1</c:f>
              <c:strCache>
                <c:ptCount val="1"/>
                <c:pt idx="0">
                  <c:v>Tone</c:v>
                </c:pt>
              </c:strCache>
            </c:strRef>
          </c:tx>
          <c:spPr>
            <a:solidFill>
              <a:srgbClr val="2A7F86"/>
            </a:solidFill>
            <a:effectLst/>
          </c:spPr>
          <c:invertIfNegative val="0"/>
          <c:dLbls>
            <c:numFmt formatCode="0.0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Sheet1!$A$2:$A$5</c:f>
              <c:multiLvlStrCache>
                <c:ptCount val="4"/>
                <c:lvl>
                  <c:pt idx="0">
                    <c:v>Claude Opus coder</c:v>
                  </c:pt>
                  <c:pt idx="1">
                    <c:v>Tier C (classifier trained on Opus labels)</c:v>
                  </c:pt>
                  <c:pt idx="2">
                    <c:v>Classifier trained on 450 gold items</c:v>
                  </c:pt>
                  <c:pt idx="3">
                    <c:v>Loughran-McDonald dictionary</c:v>
                  </c:pt>
                </c:lvl>
              </c:multiLvlStrCache>
            </c:multiLvlStrRef>
          </c:cat>
          <c:val>
            <c:numRef>
              <c:f>Sheet1!$C$2:$C$5</c:f>
              <c:numCache>
                <c:formatCode>General</c:formatCode>
                <c:ptCount val="4"/>
                <c:pt idx="0">
                  <c:v>0.89</c:v>
                </c:pt>
                <c:pt idx="1">
                  <c:v>0.61</c:v>
                </c:pt>
                <c:pt idx="2">
                  <c:v>0.46</c:v>
                </c:pt>
                <c:pt idx="3">
                  <c:v>0.4</c:v>
                </c:pt>
              </c:numCache>
            </c:numRef>
          </c:val>
        </c:ser>
        <c:dLbls>
          <c:numFmt formatCode="0.0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4659"/>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b"/>
        <c:majorGridlines>
          <c:spPr>
            <a:ln w="9525" cap="flat">
              <a:solidFill>
                <a:srgbClr val="DDE2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3A465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659"/>
                </a:solidFill>
                <a:latin typeface="+mn-lt"/>
              </a:defRPr>
            </a:pPr>
            <a:r>
              <a:rPr sz="1200" b="0" i="0" u="none" strike="noStrike">
                <a:solidFill>
                  <a:srgbClr val="3A4659"/>
                </a:solidFill>
                <a:latin typeface="+mn-lt"/>
              </a:rPr>
              <a:t>Inflation (per 1 pp)</a:t>
            </a:r>
          </a:p>
        </c:rich>
      </c:tx>
      <c:layout/>
      <c:overlay val="0"/>
    </c:title>
    <c:autoTitleDeleted val="0"/>
    <c:plotArea>
      <c:layout/>
      <c:barChart>
        <c:barDir val="col"/>
        <c:grouping val="clustered"/>
        <c:varyColors val="0"/>
        <c:ser>
          <c:idx val="0"/>
          <c:order val="0"/>
          <c:tx>
            <c:strRef>
              <c:f>Sheet1!$B$1</c:f>
              <c:strCache>
                <c:ptCount val="1"/>
                <c:pt idx="0">
                  <c:v>Inflation (per 1 pp)</c:v>
                </c:pt>
              </c:strCache>
            </c:strRef>
          </c:tx>
          <c:spPr>
            <a:solidFill>
              <a:srgbClr val="C2453A"/>
            </a:solidFill>
            <a:effectLst/>
          </c:spPr>
          <c:invertIfNegative val="0"/>
          <c:dLbls>
            <c:numFmt formatCode="+0.000;-0.00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C2453A"/>
              </a:solidFill>
              <a:effectLst/>
            </c:spPr>
          </c:dPt>
          <c:dPt>
            <c:idx val="1"/>
            <c:invertIfNegative val="0"/>
            <c:bubble3D val="0"/>
            <c:spPr>
              <a:solidFill>
                <a:srgbClr val="3F6FB5"/>
              </a:solidFill>
              <a:effectLst/>
            </c:spPr>
          </c:dPt>
          <c:cat>
            <c:multiLvlStrRef>
              <c:f>Sheet1!$A$2:$A$3</c:f>
              <c:multiLvlStrCache>
                <c:ptCount val="2"/>
                <c:lvl>
                  <c:pt idx="0">
                    <c:v>Bad news</c:v>
                  </c:pt>
                  <c:pt idx="1">
                    <c:v>Good news</c:v>
                  </c:pt>
                </c:lvl>
              </c:multiLvlStrCache>
            </c:multiLvlStrRef>
          </c:cat>
          <c:val>
            <c:numRef>
              <c:f>Sheet1!$B$2:$B$3</c:f>
              <c:numCache>
                <c:formatCode>General</c:formatCode>
                <c:ptCount val="2"/>
                <c:pt idx="0">
                  <c:v>0.057</c:v>
                </c:pt>
                <c:pt idx="1">
                  <c:v>0.045</c:v>
                </c:pt>
              </c:numCache>
            </c:numRef>
          </c:val>
        </c:ser>
        <c:dLbls>
          <c:numFmt formatCode="+0.000;-0.00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659"/>
                </a:solidFill>
                <a:latin typeface="+mn-lt"/>
              </a:defRPr>
            </a:pPr>
            <a:endParaRPr lang="en-US"/>
          </a:p>
        </c:txPr>
        <c:crossAx val="2094734552"/>
        <c:crosses val="autoZero"/>
        <c:auto val="1"/>
        <c:lblAlgn val="ctr"/>
        <c:noMultiLvlLbl val="1"/>
      </c:catAx>
      <c:valAx>
        <c:axId val="2094734552"/>
        <c:scaling>
          <c:orientation val="minMax"/>
          <c:max val="0.08"/>
          <c:min val="-0.08"/>
        </c:scaling>
        <c:delete val="0"/>
        <c:axPos val="l"/>
        <c:majorGridlines>
          <c:spPr>
            <a:ln w="9525" cap="flat">
              <a:solidFill>
                <a:srgbClr val="DDE2E8"/>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3A4659"/>
                </a:solidFill>
                <a:latin typeface="+mn-lt"/>
              </a:defRPr>
            </a:pPr>
            <a:endParaRPr lang="en-US"/>
          </a:p>
        </c:txPr>
        <c:crossAx val="2094734554"/>
        <c:crosses val="autoZero"/>
        <c:crossBetween val="between"/>
        <c:majorUnit val="0.04"/>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659"/>
                </a:solidFill>
                <a:latin typeface="+mn-lt"/>
              </a:defRPr>
            </a:pPr>
            <a:r>
              <a:rPr sz="1200" b="0" i="0" u="none" strike="noStrike">
                <a:solidFill>
                  <a:srgbClr val="3A4659"/>
                </a:solidFill>
                <a:latin typeface="+mn-lt"/>
              </a:rPr>
              <a:t>Unemployment (per 1 pp)</a:t>
            </a:r>
          </a:p>
        </c:rich>
      </c:tx>
      <c:layout/>
      <c:overlay val="0"/>
    </c:title>
    <c:autoTitleDeleted val="0"/>
    <c:plotArea>
      <c:layout/>
      <c:barChart>
        <c:barDir val="col"/>
        <c:grouping val="clustered"/>
        <c:varyColors val="0"/>
        <c:ser>
          <c:idx val="0"/>
          <c:order val="0"/>
          <c:tx>
            <c:strRef>
              <c:f>Sheet1!$B$1</c:f>
              <c:strCache>
                <c:ptCount val="1"/>
                <c:pt idx="0">
                  <c:v>Unemployment (per 1 pp)</c:v>
                </c:pt>
              </c:strCache>
            </c:strRef>
          </c:tx>
          <c:spPr>
            <a:solidFill>
              <a:srgbClr val="C2453A"/>
            </a:solidFill>
            <a:effectLst/>
          </c:spPr>
          <c:invertIfNegative val="0"/>
          <c:dLbls>
            <c:numFmt formatCode="+0.00;-0.0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C2453A"/>
              </a:solidFill>
              <a:effectLst/>
            </c:spPr>
          </c:dPt>
          <c:dPt>
            <c:idx val="1"/>
            <c:invertIfNegative val="0"/>
            <c:bubble3D val="0"/>
            <c:spPr>
              <a:solidFill>
                <a:srgbClr val="3F6FB5"/>
              </a:solidFill>
              <a:effectLst/>
            </c:spPr>
          </c:dPt>
          <c:cat>
            <c:multiLvlStrRef>
              <c:f>Sheet1!$A$2:$A$3</c:f>
              <c:multiLvlStrCache>
                <c:ptCount val="2"/>
                <c:lvl>
                  <c:pt idx="0">
                    <c:v>Bad news</c:v>
                  </c:pt>
                  <c:pt idx="1">
                    <c:v>Good news</c:v>
                  </c:pt>
                </c:lvl>
              </c:multiLvlStrCache>
            </c:multiLvlStrRef>
          </c:cat>
          <c:val>
            <c:numRef>
              <c:f>Sheet1!$B$2:$B$3</c:f>
              <c:numCache>
                <c:formatCode>General</c:formatCode>
                <c:ptCount val="2"/>
                <c:pt idx="0">
                  <c:v>0.3</c:v>
                </c:pt>
                <c:pt idx="1">
                  <c:v>-0.1</c:v>
                </c:pt>
              </c:numCache>
            </c:numRef>
          </c:val>
        </c:ser>
        <c:dLbls>
          <c:numFmt formatCode="+0.00;-0.0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659"/>
                </a:solidFill>
                <a:latin typeface="+mn-lt"/>
              </a:defRPr>
            </a:pPr>
            <a:endParaRPr lang="en-US"/>
          </a:p>
        </c:txPr>
        <c:crossAx val="2094734552"/>
        <c:crosses val="autoZero"/>
        <c:auto val="1"/>
        <c:lblAlgn val="ctr"/>
        <c:noMultiLvlLbl val="1"/>
      </c:catAx>
      <c:valAx>
        <c:axId val="2094734552"/>
        <c:scaling>
          <c:orientation val="minMax"/>
          <c:max val="0.4"/>
          <c:min val="-0.4"/>
        </c:scaling>
        <c:delete val="0"/>
        <c:axPos val="l"/>
        <c:majorGridlines>
          <c:spPr>
            <a:ln w="9525" cap="flat">
              <a:solidFill>
                <a:srgbClr val="DDE2E8"/>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3A4659"/>
                </a:solidFill>
                <a:latin typeface="+mn-lt"/>
              </a:defRPr>
            </a:pPr>
            <a:endParaRPr lang="en-US"/>
          </a:p>
        </c:txPr>
        <c:crossAx val="2094734554"/>
        <c:crosses val="autoZero"/>
        <c:crossBetween val="between"/>
        <c:majorUnit val="0.2"/>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659"/>
                </a:solidFill>
                <a:latin typeface="+mn-lt"/>
              </a:defRPr>
            </a:pPr>
            <a:r>
              <a:rPr sz="1200" b="0" i="0" u="none" strike="noStrike">
                <a:solidFill>
                  <a:srgbClr val="3A4659"/>
                </a:solidFill>
                <a:latin typeface="+mn-lt"/>
              </a:rPr>
              <a:t>Jobs days (per 0.1 pp)</a:t>
            </a:r>
          </a:p>
        </c:rich>
      </c:tx>
      <c:layout/>
      <c:overlay val="0"/>
    </c:title>
    <c:autoTitleDeleted val="0"/>
    <c:plotArea>
      <c:layout/>
      <c:barChart>
        <c:barDir val="col"/>
        <c:grouping val="clustered"/>
        <c:varyColors val="0"/>
        <c:ser>
          <c:idx val="0"/>
          <c:order val="0"/>
          <c:tx>
            <c:strRef>
              <c:f>Sheet1!$B$1</c:f>
              <c:strCache>
                <c:ptCount val="1"/>
                <c:pt idx="0">
                  <c:v>Jobs days (per 0.1 pp)</c:v>
                </c:pt>
              </c:strCache>
            </c:strRef>
          </c:tx>
          <c:spPr>
            <a:solidFill>
              <a:srgbClr val="C2453A"/>
            </a:solidFill>
            <a:effectLst/>
          </c:spPr>
          <c:invertIfNegative val="0"/>
          <c:dLbls>
            <c:numFmt formatCode="+0.000;-0.00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C2453A"/>
              </a:solidFill>
              <a:effectLst/>
            </c:spPr>
          </c:dPt>
          <c:dPt>
            <c:idx val="1"/>
            <c:invertIfNegative val="0"/>
            <c:bubble3D val="0"/>
            <c:spPr>
              <a:solidFill>
                <a:srgbClr val="3F6FB5"/>
              </a:solidFill>
              <a:effectLst/>
            </c:spPr>
          </c:dPt>
          <c:cat>
            <c:multiLvlStrRef>
              <c:f>Sheet1!$A$2:$A$3</c:f>
              <c:multiLvlStrCache>
                <c:ptCount val="2"/>
                <c:lvl>
                  <c:pt idx="0">
                    <c:v>Bad news</c:v>
                  </c:pt>
                  <c:pt idx="1">
                    <c:v>Good news</c:v>
                  </c:pt>
                </c:lvl>
              </c:multiLvlStrCache>
            </c:multiLvlStrRef>
          </c:cat>
          <c:val>
            <c:numRef>
              <c:f>Sheet1!$B$2:$B$3</c:f>
              <c:numCache>
                <c:formatCode>General</c:formatCode>
                <c:ptCount val="2"/>
                <c:pt idx="0">
                  <c:v>0.115</c:v>
                </c:pt>
                <c:pt idx="1">
                  <c:v>-0.017</c:v>
                </c:pt>
              </c:numCache>
            </c:numRef>
          </c:val>
        </c:ser>
        <c:dLbls>
          <c:numFmt formatCode="+0.000;-0.00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659"/>
                </a:solidFill>
                <a:latin typeface="+mn-lt"/>
              </a:defRPr>
            </a:pPr>
            <a:endParaRPr lang="en-US"/>
          </a:p>
        </c:txPr>
        <c:crossAx val="2094734552"/>
        <c:crosses val="autoZero"/>
        <c:auto val="1"/>
        <c:lblAlgn val="ctr"/>
        <c:noMultiLvlLbl val="1"/>
      </c:catAx>
      <c:valAx>
        <c:axId val="2094734552"/>
        <c:scaling>
          <c:orientation val="minMax"/>
          <c:max val="0.2"/>
          <c:min val="-0.2"/>
        </c:scaling>
        <c:delete val="0"/>
        <c:axPos val="l"/>
        <c:majorGridlines>
          <c:spPr>
            <a:ln w="9525" cap="flat">
              <a:solidFill>
                <a:srgbClr val="DDE2E8"/>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3A4659"/>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A4659"/>
                </a:solidFill>
                <a:latin typeface="+mn-lt"/>
              </a:defRPr>
            </a:pPr>
            <a:r>
              <a:rPr sz="1100" b="0" i="0" u="none" strike="noStrike">
                <a:solidFill>
                  <a:srgbClr val="3A4659"/>
                </a:solidFill>
                <a:latin typeface="+mn-lt"/>
              </a:rPr>
              <a:t>Democratic president (points vs center, same month)</a:t>
            </a:r>
          </a:p>
        </c:rich>
      </c:tx>
      <c:layout/>
      <c:overlay val="0"/>
    </c:title>
    <c:autoTitleDeleted val="0"/>
    <c:plotArea>
      <c:layout/>
      <c:barChart>
        <c:barDir val="col"/>
        <c:grouping val="clustered"/>
        <c:varyColors val="0"/>
        <c:ser>
          <c:idx val="0"/>
          <c:order val="0"/>
          <c:tx>
            <c:strRef>
              <c:f>Sheet1!$B$1</c:f>
              <c:strCache>
                <c:ptCount val="1"/>
                <c:pt idx="0">
                  <c:v>D</c:v>
                </c:pt>
              </c:strCache>
            </c:strRef>
          </c:tx>
          <c:spPr>
            <a:solidFill>
              <a:srgbClr val="7A8699"/>
            </a:solidFill>
            <a:effectLst/>
          </c:spPr>
          <c:invertIfNegative val="0"/>
          <c:dLbls>
            <c:numFmt formatCode="+0.0;-0.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7A8699"/>
              </a:solidFill>
              <a:effectLst/>
            </c:spPr>
          </c:dPt>
          <c:dPt>
            <c:idx val="1"/>
            <c:invertIfNegative val="0"/>
            <c:bubble3D val="0"/>
            <c:spPr>
              <a:solidFill>
                <a:srgbClr val="7A8699"/>
              </a:solidFill>
              <a:effectLst/>
            </c:spPr>
          </c:dPt>
          <c:dPt>
            <c:idx val="2"/>
            <c:invertIfNegative val="0"/>
            <c:bubble3D val="0"/>
            <c:spPr>
              <a:solidFill>
                <a:srgbClr val="C2453A"/>
              </a:solidFill>
              <a:effectLst/>
            </c:spPr>
          </c:dPt>
          <c:dPt>
            <c:idx val="3"/>
            <c:invertIfNegative val="0"/>
            <c:bubble3D val="0"/>
            <c:spPr>
              <a:solidFill>
                <a:srgbClr val="8C6BB1"/>
              </a:solidFill>
              <a:effectLst/>
            </c:spPr>
          </c:dPt>
          <c:cat>
            <c:multiLvlStrRef>
              <c:f>Sheet1!$A$2:$A$5</c:f>
              <c:multiLvlStrCache>
                <c:ptCount val="4"/>
                <c:lvl>
                  <c:pt idx="0">
                    <c:v>Left-leaning</c:v>
                  </c:pt>
                  <c:pt idx="1">
                    <c:v>Local</c:v>
                  </c:pt>
                  <c:pt idx="2">
                    <c:v>Right-leaning</c:v>
                  </c:pt>
                  <c:pt idx="3">
                    <c:v>Reddit</c:v>
                  </c:pt>
                </c:lvl>
              </c:multiLvlStrCache>
            </c:multiLvlStrRef>
          </c:cat>
          <c:val>
            <c:numRef>
              <c:f>Sheet1!$B$2:$B$5</c:f>
              <c:numCache>
                <c:formatCode>General</c:formatCode>
                <c:ptCount val="4"/>
                <c:pt idx="0">
                  <c:v>-0.9</c:v>
                </c:pt>
                <c:pt idx="1">
                  <c:v>-3</c:v>
                </c:pt>
                <c:pt idx="2">
                  <c:v>15.9</c:v>
                </c:pt>
                <c:pt idx="3">
                  <c:v>8.4</c:v>
                </c:pt>
              </c:numCache>
            </c:numRef>
          </c:val>
        </c:ser>
        <c:dLbls>
          <c:numFmt formatCode="+0.0;-0.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A4659"/>
                </a:solidFill>
                <a:latin typeface="+mn-lt"/>
              </a:defRPr>
            </a:pPr>
            <a:endParaRPr lang="en-US"/>
          </a:p>
        </c:txPr>
        <c:crossAx val="2094734552"/>
        <c:crosses val="autoZero"/>
        <c:auto val="1"/>
        <c:lblAlgn val="ctr"/>
        <c:noMultiLvlLbl val="1"/>
      </c:catAx>
      <c:valAx>
        <c:axId val="2094734552"/>
        <c:scaling>
          <c:orientation val="minMax"/>
          <c:max val="25"/>
          <c:min val="-10"/>
        </c:scaling>
        <c:delete val="0"/>
        <c:axPos val="l"/>
        <c:majorGridlines>
          <c:spPr>
            <a:ln w="9525" cap="flat">
              <a:solidFill>
                <a:srgbClr val="DDE2E8"/>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3A4659"/>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A4659"/>
                </a:solidFill>
                <a:latin typeface="+mn-lt"/>
              </a:defRPr>
            </a:pPr>
            <a:r>
              <a:rPr sz="1100" b="0" i="0" u="none" strike="noStrike">
                <a:solidFill>
                  <a:srgbClr val="3A4659"/>
                </a:solidFill>
                <a:latin typeface="+mn-lt"/>
              </a:rPr>
              <a:t>Republican president (points vs center, same month)</a:t>
            </a:r>
          </a:p>
        </c:rich>
      </c:tx>
      <c:layout/>
      <c:overlay val="0"/>
    </c:title>
    <c:autoTitleDeleted val="0"/>
    <c:plotArea>
      <c:layout/>
      <c:barChart>
        <c:barDir val="col"/>
        <c:grouping val="clustered"/>
        <c:varyColors val="0"/>
        <c:ser>
          <c:idx val="0"/>
          <c:order val="0"/>
          <c:tx>
            <c:strRef>
              <c:f>Sheet1!$B$1</c:f>
              <c:strCache>
                <c:ptCount val="1"/>
                <c:pt idx="0">
                  <c:v>R</c:v>
                </c:pt>
              </c:strCache>
            </c:strRef>
          </c:tx>
          <c:spPr>
            <a:solidFill>
              <a:srgbClr val="7A8699"/>
            </a:solidFill>
            <a:effectLst/>
          </c:spPr>
          <c:invertIfNegative val="0"/>
          <c:dLbls>
            <c:numFmt formatCode="+0.0;-0.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7A8699"/>
              </a:solidFill>
              <a:effectLst/>
            </c:spPr>
          </c:dPt>
          <c:dPt>
            <c:idx val="1"/>
            <c:invertIfNegative val="0"/>
            <c:bubble3D val="0"/>
            <c:spPr>
              <a:solidFill>
                <a:srgbClr val="7A8699"/>
              </a:solidFill>
              <a:effectLst/>
            </c:spPr>
          </c:dPt>
          <c:dPt>
            <c:idx val="2"/>
            <c:invertIfNegative val="0"/>
            <c:bubble3D val="0"/>
            <c:spPr>
              <a:solidFill>
                <a:srgbClr val="C2453A"/>
              </a:solidFill>
              <a:effectLst/>
            </c:spPr>
          </c:dPt>
          <c:dPt>
            <c:idx val="3"/>
            <c:invertIfNegative val="0"/>
            <c:bubble3D val="0"/>
            <c:spPr>
              <a:solidFill>
                <a:srgbClr val="8C6BB1"/>
              </a:solidFill>
              <a:effectLst/>
            </c:spPr>
          </c:dPt>
          <c:cat>
            <c:multiLvlStrRef>
              <c:f>Sheet1!$A$2:$A$5</c:f>
              <c:multiLvlStrCache>
                <c:ptCount val="4"/>
                <c:lvl>
                  <c:pt idx="0">
                    <c:v>Left-leaning</c:v>
                  </c:pt>
                  <c:pt idx="1">
                    <c:v>Local</c:v>
                  </c:pt>
                  <c:pt idx="2">
                    <c:v>Right-leaning</c:v>
                  </c:pt>
                  <c:pt idx="3">
                    <c:v>Reddit</c:v>
                  </c:pt>
                </c:lvl>
              </c:multiLvlStrCache>
            </c:multiLvlStrRef>
          </c:cat>
          <c:val>
            <c:numRef>
              <c:f>Sheet1!$B$2:$B$5</c:f>
              <c:numCache>
                <c:formatCode>General</c:formatCode>
                <c:ptCount val="4"/>
                <c:pt idx="0">
                  <c:v>-1</c:v>
                </c:pt>
                <c:pt idx="1">
                  <c:v>2.5</c:v>
                </c:pt>
                <c:pt idx="2">
                  <c:v>6</c:v>
                </c:pt>
                <c:pt idx="3">
                  <c:v>12</c:v>
                </c:pt>
              </c:numCache>
            </c:numRef>
          </c:val>
        </c:ser>
        <c:dLbls>
          <c:numFmt formatCode="+0.0;-0.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A4659"/>
                </a:solidFill>
                <a:latin typeface="+mn-lt"/>
              </a:defRPr>
            </a:pPr>
            <a:endParaRPr lang="en-US"/>
          </a:p>
        </c:txPr>
        <c:crossAx val="2094734552"/>
        <c:crosses val="autoZero"/>
        <c:auto val="1"/>
        <c:lblAlgn val="ctr"/>
        <c:noMultiLvlLbl val="1"/>
      </c:catAx>
      <c:valAx>
        <c:axId val="2094734552"/>
        <c:scaling>
          <c:orientation val="minMax"/>
          <c:max val="25"/>
          <c:min val="-10"/>
        </c:scaling>
        <c:delete val="0"/>
        <c:axPos val="l"/>
        <c:majorGridlines>
          <c:spPr>
            <a:ln w="9525" cap="flat">
              <a:solidFill>
                <a:srgbClr val="DDE2E8"/>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3A4659"/>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A4659"/>
                </a:solidFill>
                <a:latin typeface="+mn-lt"/>
              </a:defRPr>
            </a:pPr>
            <a:r>
              <a:rPr sz="1300" b="0" i="0" u="none" strike="noStrike">
                <a:solidFill>
                  <a:srgbClr val="3A4659"/>
                </a:solidFill>
                <a:latin typeface="+mn-lt"/>
              </a:rPr>
              <a:t>Negativity bias: ICS change (points) per 1 pp move in inflation</a:t>
            </a:r>
          </a:p>
        </c:rich>
      </c:tx>
      <c:layout/>
      <c:overlay val="0"/>
    </c:title>
    <c:autoTitleDeleted val="0"/>
    <c:plotArea>
      <c:layout/>
      <c:barChart>
        <c:barDir val="col"/>
        <c:grouping val="clustered"/>
        <c:varyColors val="0"/>
        <c:ser>
          <c:idx val="0"/>
          <c:order val="0"/>
          <c:tx>
            <c:strRef>
              <c:f>Sheet1!$B$1</c:f>
              <c:strCache>
                <c:ptCount val="1"/>
                <c:pt idx="0">
                  <c:v>ICS change</c:v>
                </c:pt>
              </c:strCache>
            </c:strRef>
          </c:tx>
          <c:spPr>
            <a:solidFill>
              <a:srgbClr val="C2453A"/>
            </a:solidFill>
            <a:effectLst/>
          </c:spPr>
          <c:invertIfNegative val="0"/>
          <c:dLbls>
            <c:numFmt formatCode="0.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C2453A"/>
              </a:solidFill>
              <a:effectLst/>
            </c:spPr>
          </c:dPt>
          <c:dPt>
            <c:idx val="1"/>
            <c:invertIfNegative val="0"/>
            <c:bubble3D val="0"/>
            <c:spPr>
              <a:solidFill>
                <a:srgbClr val="3F6FB5"/>
              </a:solidFill>
              <a:effectLst/>
            </c:spPr>
          </c:dPt>
          <c:cat>
            <c:multiLvlStrRef>
              <c:f>Sheet1!$A$2:$A$3</c:f>
              <c:multiLvlStrCache>
                <c:ptCount val="2"/>
                <c:lvl>
                  <c:pt idx="0">
                    <c:v>1 pp rise</c:v>
                  </c:pt>
                  <c:pt idx="1">
                    <c:v>1 pp fall</c:v>
                  </c:pt>
                </c:lvl>
              </c:multiLvlStrCache>
            </c:multiLvlStrRef>
          </c:cat>
          <c:val>
            <c:numRef>
              <c:f>Sheet1!$B$2:$B$3</c:f>
              <c:numCache>
                <c:formatCode>General</c:formatCode>
                <c:ptCount val="2"/>
                <c:pt idx="0">
                  <c:v>-6.2</c:v>
                </c:pt>
                <c:pt idx="1">
                  <c:v>-2.9</c:v>
                </c:pt>
              </c:numCache>
            </c:numRef>
          </c:val>
        </c:ser>
        <c:dLbls>
          <c:numFmt formatCode="0.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659"/>
                </a:solidFill>
                <a:latin typeface="+mn-lt"/>
              </a:defRPr>
            </a:pPr>
            <a:endParaRPr lang="en-US"/>
          </a:p>
        </c:txPr>
        <c:crossAx val="2094734552"/>
        <c:crosses val="autoZero"/>
        <c:auto val="1"/>
        <c:lblAlgn val="ctr"/>
        <c:noMultiLvlLbl val="1"/>
      </c:catAx>
      <c:valAx>
        <c:axId val="2094734552"/>
        <c:scaling>
          <c:orientation val="minMax"/>
          <c:max val="2"/>
          <c:min val="-8"/>
        </c:scaling>
        <c:delete val="0"/>
        <c:axPos val="l"/>
        <c:majorGridlines>
          <c:spPr>
            <a:ln w="9525" cap="flat">
              <a:solidFill>
                <a:srgbClr val="DDE2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3A465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A4659"/>
                </a:solidFill>
                <a:latin typeface="+mn-lt"/>
              </a:defRPr>
            </a:pPr>
            <a:r>
              <a:rPr sz="1300" b="0" i="0" u="none" strike="noStrike">
                <a:solidFill>
                  <a:srgbClr val="3A4659"/>
                </a:solidFill>
                <a:latin typeface="+mn-lt"/>
              </a:rPr>
              <a:t>Price level (exploratory): feeling worse off vs what prices did</a:t>
            </a:r>
          </a:p>
        </c:rich>
      </c:tx>
      <c:layout/>
      <c:overlay val="0"/>
    </c:title>
    <c:autoTitleDeleted val="0"/>
    <c:plotArea>
      <c:layout/>
      <c:lineChart>
        <c:varyColors val="0"/>
        <c:ser>
          <c:idx val="0"/>
          <c:order val="0"/>
          <c:tx>
            <c:strRef>
              <c:f>Sheet1!$B$1</c:f>
              <c:strCache>
                <c:ptCount val="1"/>
                <c:pt idx="0">
                  <c:v>Worse off because of prices (% of people)</c:v>
                </c:pt>
              </c:strCache>
            </c:strRef>
          </c:tx>
          <c:spPr>
            <a:solidFill>
              <a:srgbClr val="D9822B"/>
            </a:solidFill>
            <a:ln w="38100" cap="flat">
              <a:solidFill>
                <a:srgbClr val="D9822B"/>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D9822B"/>
              </a:solidFill>
              <a:ln w="9525" cap="flat">
                <a:solidFill>
                  <a:srgbClr val="D9822B"/>
                </a:solidFill>
                <a:prstDash val="solid"/>
                <a:round/>
              </a:ln>
              <a:effectLst/>
            </c:spPr>
          </c:marker>
          <c:cat>
            <c:multiLvlStrRef>
              <c:f>Sheet1!$A$2:$A$18</c:f>
              <c:multiLvlStrCache>
                <c:ptCount val="17"/>
                <c:lvl>
                  <c:pt idx="0">
                    <c:v>2010</c:v>
                  </c:pt>
                  <c:pt idx="1">
                    <c:v>2011</c:v>
                  </c:pt>
                  <c:pt idx="2">
                    <c:v>2012</c:v>
                  </c:pt>
                  <c:pt idx="3">
                    <c:v>2013</c:v>
                  </c:pt>
                  <c:pt idx="4">
                    <c:v>2014</c:v>
                  </c:pt>
                  <c:pt idx="5">
                    <c:v>2015</c:v>
                  </c:pt>
                  <c:pt idx="6">
                    <c:v>2016</c:v>
                  </c:pt>
                  <c:pt idx="7">
                    <c:v>2017</c:v>
                  </c:pt>
                  <c:pt idx="8">
                    <c:v>2018</c:v>
                  </c:pt>
                  <c:pt idx="9">
                    <c:v>2019</c:v>
                  </c:pt>
                  <c:pt idx="10">
                    <c:v>2020</c:v>
                  </c:pt>
                  <c:pt idx="11">
                    <c:v>2021</c:v>
                  </c:pt>
                  <c:pt idx="12">
                    <c:v>2022</c:v>
                  </c:pt>
                  <c:pt idx="13">
                    <c:v>2023</c:v>
                  </c:pt>
                  <c:pt idx="14">
                    <c:v>2024</c:v>
                  </c:pt>
                  <c:pt idx="15">
                    <c:v>2025</c:v>
                  </c:pt>
                  <c:pt idx="16">
                    <c:v>2026</c:v>
                  </c:pt>
                </c:lvl>
              </c:multiLvlStrCache>
            </c:multiLvlStrRef>
          </c:cat>
          <c:val>
            <c:numRef>
              <c:f>Sheet1!$B$2:$B$18</c:f>
              <c:numCache>
                <c:formatCode>General</c:formatCode>
                <c:ptCount val="17"/>
                <c:pt idx="0">
                  <c:v>16.8</c:v>
                </c:pt>
                <c:pt idx="1">
                  <c:v>25.2</c:v>
                </c:pt>
                <c:pt idx="2">
                  <c:v>23.1</c:v>
                </c:pt>
                <c:pt idx="3">
                  <c:v>18.2</c:v>
                </c:pt>
                <c:pt idx="4">
                  <c:v>16.5</c:v>
                </c:pt>
                <c:pt idx="5">
                  <c:v>11.8</c:v>
                </c:pt>
                <c:pt idx="6">
                  <c:v>10.2</c:v>
                </c:pt>
                <c:pt idx="7">
                  <c:v>7.1</c:v>
                </c:pt>
                <c:pt idx="8">
                  <c:v>7.6</c:v>
                </c:pt>
                <c:pt idx="9">
                  <c:v>7.3</c:v>
                </c:pt>
                <c:pt idx="10">
                  <c:v>4.8</c:v>
                </c:pt>
                <c:pt idx="11">
                  <c:v>14.2</c:v>
                </c:pt>
                <c:pt idx="12">
                  <c:v>39.8</c:v>
                </c:pt>
                <c:pt idx="13">
                  <c:v>39.2</c:v>
                </c:pt>
                <c:pt idx="14">
                  <c:v>40.3</c:v>
                </c:pt>
                <c:pt idx="15">
                  <c:v>40.9</c:v>
                </c:pt>
                <c:pt idx="16">
                  <c:v>50.5</c:v>
                </c:pt>
              </c:numCache>
            </c:numRef>
          </c:val>
          <c:smooth val="0"/>
        </c:ser>
        <c:ser>
          <c:idx val="1"/>
          <c:order val="1"/>
          <c:tx>
            <c:strRef>
              <c:f>Sheet1!$C$1</c:f>
              <c:strCache>
                <c:ptCount val="1"/>
                <c:pt idx="0">
                  <c:v>Prices above their 2010s trend (%)</c:v>
                </c:pt>
              </c:strCache>
            </c:strRef>
          </c:tx>
          <c:spPr>
            <a:solidFill>
              <a:srgbClr val="2A7F86"/>
            </a:solidFill>
            <a:ln w="38100" cap="flat">
              <a:solidFill>
                <a:srgbClr val="2A7F86"/>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2A7F86"/>
              </a:solidFill>
              <a:ln w="9525" cap="flat">
                <a:solidFill>
                  <a:srgbClr val="2A7F86"/>
                </a:solidFill>
                <a:prstDash val="solid"/>
                <a:round/>
              </a:ln>
              <a:effectLst/>
            </c:spPr>
          </c:marker>
          <c:cat>
            <c:multiLvlStrRef>
              <c:f>Sheet1!$A$2:$A$18</c:f>
              <c:multiLvlStrCache>
                <c:ptCount val="17"/>
                <c:lvl>
                  <c:pt idx="0">
                    <c:v>2010</c:v>
                  </c:pt>
                  <c:pt idx="1">
                    <c:v>2011</c:v>
                  </c:pt>
                  <c:pt idx="2">
                    <c:v>2012</c:v>
                  </c:pt>
                  <c:pt idx="3">
                    <c:v>2013</c:v>
                  </c:pt>
                  <c:pt idx="4">
                    <c:v>2014</c:v>
                  </c:pt>
                  <c:pt idx="5">
                    <c:v>2015</c:v>
                  </c:pt>
                  <c:pt idx="6">
                    <c:v>2016</c:v>
                  </c:pt>
                  <c:pt idx="7">
                    <c:v>2017</c:v>
                  </c:pt>
                  <c:pt idx="8">
                    <c:v>2018</c:v>
                  </c:pt>
                  <c:pt idx="9">
                    <c:v>2019</c:v>
                  </c:pt>
                  <c:pt idx="10">
                    <c:v>2020</c:v>
                  </c:pt>
                  <c:pt idx="11">
                    <c:v>2021</c:v>
                  </c:pt>
                  <c:pt idx="12">
                    <c:v>2022</c:v>
                  </c:pt>
                  <c:pt idx="13">
                    <c:v>2023</c:v>
                  </c:pt>
                  <c:pt idx="14">
                    <c:v>2024</c:v>
                  </c:pt>
                  <c:pt idx="15">
                    <c:v>2025</c:v>
                  </c:pt>
                  <c:pt idx="16">
                    <c:v>2026</c:v>
                  </c:pt>
                </c:lvl>
              </c:multiLvlStrCache>
            </c:multiLvlStrRef>
          </c:cat>
          <c:val>
            <c:numRef>
              <c:f>Sheet1!$C$2:$C$18</c:f>
              <c:numCache>
                <c:formatCode>General</c:formatCode>
                <c:ptCount val="17"/>
                <c:pt idx="0">
                  <c:v>-1</c:v>
                </c:pt>
                <c:pt idx="1">
                  <c:v>0</c:v>
                </c:pt>
                <c:pt idx="2">
                  <c:v>0.6</c:v>
                </c:pt>
                <c:pt idx="3">
                  <c:v>0.7</c:v>
                </c:pt>
                <c:pt idx="4">
                  <c:v>0.8</c:v>
                </c:pt>
                <c:pt idx="5">
                  <c:v>-0.3</c:v>
                </c:pt>
                <c:pt idx="6">
                  <c:v>-0.9</c:v>
                </c:pt>
                <c:pt idx="7">
                  <c:v>-0.5</c:v>
                </c:pt>
                <c:pt idx="8">
                  <c:v>0.1</c:v>
                </c:pt>
                <c:pt idx="9">
                  <c:v>0.3</c:v>
                </c:pt>
                <c:pt idx="10">
                  <c:v>0.1</c:v>
                </c:pt>
                <c:pt idx="11">
                  <c:v>1.9</c:v>
                </c:pt>
                <c:pt idx="12">
                  <c:v>6.9</c:v>
                </c:pt>
                <c:pt idx="13">
                  <c:v>9.8</c:v>
                </c:pt>
                <c:pt idx="14">
                  <c:v>11.1</c:v>
                </c:pt>
                <c:pt idx="15">
                  <c:v>12.3</c:v>
                </c:pt>
                <c:pt idx="16">
                  <c:v>13.8</c:v>
                </c:pt>
              </c:numCache>
            </c:numRef>
          </c:val>
          <c:smooth val="0"/>
        </c:ser>
        <c:ser>
          <c:idx val="2"/>
          <c:order val="2"/>
          <c:tx>
            <c:strRef>
              <c:f>Sheet1!$D$1</c:f>
              <c:strCache>
                <c:ptCount val="1"/>
                <c:pt idx="0">
                  <c:v>Inflation rate (% a year)</c:v>
                </c:pt>
              </c:strCache>
            </c:strRef>
          </c:tx>
          <c:spPr>
            <a:solidFill>
              <a:srgbClr val="7A8699"/>
            </a:solidFill>
            <a:ln w="38100" cap="flat">
              <a:solidFill>
                <a:srgbClr val="7A8699"/>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7A8699"/>
              </a:solidFill>
              <a:ln w="9525" cap="flat">
                <a:solidFill>
                  <a:srgbClr val="7A8699"/>
                </a:solidFill>
                <a:prstDash val="solid"/>
                <a:round/>
              </a:ln>
              <a:effectLst/>
            </c:spPr>
          </c:marker>
          <c:cat>
            <c:multiLvlStrRef>
              <c:f>Sheet1!$A$2:$A$18</c:f>
              <c:multiLvlStrCache>
                <c:ptCount val="17"/>
                <c:lvl>
                  <c:pt idx="0">
                    <c:v>2010</c:v>
                  </c:pt>
                  <c:pt idx="1">
                    <c:v>2011</c:v>
                  </c:pt>
                  <c:pt idx="2">
                    <c:v>2012</c:v>
                  </c:pt>
                  <c:pt idx="3">
                    <c:v>2013</c:v>
                  </c:pt>
                  <c:pt idx="4">
                    <c:v>2014</c:v>
                  </c:pt>
                  <c:pt idx="5">
                    <c:v>2015</c:v>
                  </c:pt>
                  <c:pt idx="6">
                    <c:v>2016</c:v>
                  </c:pt>
                  <c:pt idx="7">
                    <c:v>2017</c:v>
                  </c:pt>
                  <c:pt idx="8">
                    <c:v>2018</c:v>
                  </c:pt>
                  <c:pt idx="9">
                    <c:v>2019</c:v>
                  </c:pt>
                  <c:pt idx="10">
                    <c:v>2020</c:v>
                  </c:pt>
                  <c:pt idx="11">
                    <c:v>2021</c:v>
                  </c:pt>
                  <c:pt idx="12">
                    <c:v>2022</c:v>
                  </c:pt>
                  <c:pt idx="13">
                    <c:v>2023</c:v>
                  </c:pt>
                  <c:pt idx="14">
                    <c:v>2024</c:v>
                  </c:pt>
                  <c:pt idx="15">
                    <c:v>2025</c:v>
                  </c:pt>
                  <c:pt idx="16">
                    <c:v>2026</c:v>
                  </c:pt>
                </c:lvl>
              </c:multiLvlStrCache>
            </c:multiLvlStrRef>
          </c:cat>
          <c:val>
            <c:numRef>
              <c:f>Sheet1!$D$2:$D$18</c:f>
              <c:numCache>
                <c:formatCode>General</c:formatCode>
                <c:ptCount val="17"/>
                <c:pt idx="0">
                  <c:v>1.7</c:v>
                </c:pt>
                <c:pt idx="1">
                  <c:v>2.1</c:v>
                </c:pt>
                <c:pt idx="2">
                  <c:v>1.9</c:v>
                </c:pt>
                <c:pt idx="3">
                  <c:v>1.1</c:v>
                </c:pt>
                <c:pt idx="4">
                  <c:v>1.3</c:v>
                </c:pt>
                <c:pt idx="5">
                  <c:v>0.4</c:v>
                </c:pt>
                <c:pt idx="6">
                  <c:v>0.9</c:v>
                </c:pt>
                <c:pt idx="7">
                  <c:v>1.6</c:v>
                </c:pt>
                <c:pt idx="8">
                  <c:v>2</c:v>
                </c:pt>
                <c:pt idx="9">
                  <c:v>1.5</c:v>
                </c:pt>
                <c:pt idx="10">
                  <c:v>1.2</c:v>
                </c:pt>
                <c:pt idx="11">
                  <c:v>3.1</c:v>
                </c:pt>
                <c:pt idx="12">
                  <c:v>6.2</c:v>
                </c:pt>
                <c:pt idx="13">
                  <c:v>4.1</c:v>
                </c:pt>
                <c:pt idx="14">
                  <c:v>2.5</c:v>
                </c:pt>
                <c:pt idx="15">
                  <c:v>2.5</c:v>
                </c:pt>
                <c:pt idx="16">
                  <c:v>3.3</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659"/>
                </a:solidFill>
                <a:latin typeface="+mn-lt"/>
              </a:defRPr>
            </a:pPr>
            <a:endParaRPr lang="en-US"/>
          </a:p>
        </c:txPr>
        <c:crossAx val="2094734552"/>
        <c:crosses val="autoZero"/>
        <c:auto val="1"/>
        <c:lblAlgn val="ctr"/>
        <c:noMultiLvlLbl val="1"/>
        <c:tickLblSkip val="4"/>
      </c:catAx>
      <c:valAx>
        <c:axId val="2094734552"/>
        <c:scaling>
          <c:orientation val="minMax"/>
          <c:max val="60"/>
          <c:min val="0"/>
        </c:scaling>
        <c:delete val="0"/>
        <c:axPos val="l"/>
        <c:majorGridlines>
          <c:spPr>
            <a:ln w="9525" cap="flat">
              <a:solidFill>
                <a:srgbClr val="DDE2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3A4659"/>
                </a:solidFill>
                <a:latin typeface="+mn-lt"/>
              </a:defRPr>
            </a:pPr>
            <a:endParaRPr lang="en-US"/>
          </a:p>
        </c:txPr>
        <c:crossAx val="2094734554"/>
        <c:crosses val="autoZero"/>
        <c:crossBetween val="between"/>
        <c:majorUnit val="20"/>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A4659"/>
                </a:solidFill>
                <a:latin typeface="+mn-lt"/>
              </a:defRPr>
            </a:pPr>
            <a:r>
              <a:rPr sz="1300" b="0" i="0" u="none" strike="noStrike">
                <a:solidFill>
                  <a:srgbClr val="3A4659"/>
                </a:solidFill>
                <a:latin typeface="+mn-lt"/>
              </a:rPr>
              <a:t>Party (descriptive): ICS around the Nov 2024 election</a:t>
            </a:r>
          </a:p>
        </c:rich>
      </c:tx>
      <c:layout/>
      <c:overlay val="0"/>
    </c:title>
    <c:autoTitleDeleted val="0"/>
    <c:plotArea>
      <c:layout/>
      <c:lineChart>
        <c:varyColors val="0"/>
        <c:ser>
          <c:idx val="0"/>
          <c:order val="0"/>
          <c:tx>
            <c:strRef>
              <c:f>Sheet1!$B$1</c:f>
              <c:strCache>
                <c:ptCount val="1"/>
                <c:pt idx="0">
                  <c:v>Democrats</c:v>
                </c:pt>
              </c:strCache>
            </c:strRef>
          </c:tx>
          <c:spPr>
            <a:solidFill>
              <a:srgbClr val="3F6FB5"/>
            </a:solidFill>
            <a:ln w="38100" cap="flat">
              <a:solidFill>
                <a:srgbClr val="3F6FB5"/>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F6FB5"/>
              </a:solidFill>
              <a:ln w="9525" cap="flat">
                <a:solidFill>
                  <a:srgbClr val="3F6FB5"/>
                </a:solidFill>
                <a:prstDash val="solid"/>
                <a:round/>
              </a:ln>
              <a:effectLst/>
            </c:spPr>
          </c:marker>
          <c:cat>
            <c:multiLvlStrRef>
              <c:f>Sheet1!$A$2:$A$9</c:f>
              <c:multiLvlStrCache>
                <c:ptCount val="8"/>
                <c:lvl>
                  <c:pt idx="0">
                    <c:v>Aug 24</c:v>
                  </c:pt>
                  <c:pt idx="1">
                    <c:v>Sep 24</c:v>
                  </c:pt>
                  <c:pt idx="2">
                    <c:v>Oct 24</c:v>
                  </c:pt>
                  <c:pt idx="3">
                    <c:v>Nov 24</c:v>
                  </c:pt>
                  <c:pt idx="4">
                    <c:v>Dec 24</c:v>
                  </c:pt>
                  <c:pt idx="5">
                    <c:v>Jan 25</c:v>
                  </c:pt>
                  <c:pt idx="6">
                    <c:v>Feb 25</c:v>
                  </c:pt>
                  <c:pt idx="7">
                    <c:v>Mar 25</c:v>
                  </c:pt>
                </c:lvl>
              </c:multiLvlStrCache>
            </c:multiLvlStrRef>
          </c:cat>
          <c:val>
            <c:numRef>
              <c:f>Sheet1!$B$2:$B$9</c:f>
              <c:numCache>
                <c:formatCode>General</c:formatCode>
                <c:ptCount val="8"/>
                <c:pt idx="0">
                  <c:v>90.9</c:v>
                </c:pt>
                <c:pt idx="1">
                  <c:v>92.6</c:v>
                </c:pt>
                <c:pt idx="2">
                  <c:v>91.4</c:v>
                </c:pt>
                <c:pt idx="3">
                  <c:v>81.3</c:v>
                </c:pt>
                <c:pt idx="4">
                  <c:v>69.6</c:v>
                </c:pt>
                <c:pt idx="5">
                  <c:v>65</c:v>
                </c:pt>
                <c:pt idx="6">
                  <c:v>51.3</c:v>
                </c:pt>
                <c:pt idx="7">
                  <c:v>41.3</c:v>
                </c:pt>
              </c:numCache>
            </c:numRef>
          </c:val>
          <c:smooth val="0"/>
        </c:ser>
        <c:ser>
          <c:idx val="1"/>
          <c:order val="1"/>
          <c:tx>
            <c:strRef>
              <c:f>Sheet1!$C$1</c:f>
              <c:strCache>
                <c:ptCount val="1"/>
                <c:pt idx="0">
                  <c:v>Republicans</c:v>
                </c:pt>
              </c:strCache>
            </c:strRef>
          </c:tx>
          <c:spPr>
            <a:solidFill>
              <a:srgbClr val="C2453A"/>
            </a:solidFill>
            <a:ln w="38100" cap="flat">
              <a:solidFill>
                <a:srgbClr val="C2453A"/>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C2453A"/>
              </a:solidFill>
              <a:ln w="9525" cap="flat">
                <a:solidFill>
                  <a:srgbClr val="C2453A"/>
                </a:solidFill>
                <a:prstDash val="solid"/>
                <a:round/>
              </a:ln>
              <a:effectLst/>
            </c:spPr>
          </c:marker>
          <c:cat>
            <c:multiLvlStrRef>
              <c:f>Sheet1!$A$2:$A$9</c:f>
              <c:multiLvlStrCache>
                <c:ptCount val="8"/>
                <c:lvl>
                  <c:pt idx="0">
                    <c:v>Aug 24</c:v>
                  </c:pt>
                  <c:pt idx="1">
                    <c:v>Sep 24</c:v>
                  </c:pt>
                  <c:pt idx="2">
                    <c:v>Oct 24</c:v>
                  </c:pt>
                  <c:pt idx="3">
                    <c:v>Nov 24</c:v>
                  </c:pt>
                  <c:pt idx="4">
                    <c:v>Dec 24</c:v>
                  </c:pt>
                  <c:pt idx="5">
                    <c:v>Jan 25</c:v>
                  </c:pt>
                  <c:pt idx="6">
                    <c:v>Feb 25</c:v>
                  </c:pt>
                  <c:pt idx="7">
                    <c:v>Mar 25</c:v>
                  </c:pt>
                </c:lvl>
              </c:multiLvlStrCache>
            </c:multiLvlStrRef>
          </c:cat>
          <c:val>
            <c:numRef>
              <c:f>Sheet1!$C$2:$C$9</c:f>
              <c:numCache>
                <c:formatCode>General</c:formatCode>
                <c:ptCount val="8"/>
                <c:pt idx="0">
                  <c:v>47.4</c:v>
                </c:pt>
                <c:pt idx="1">
                  <c:v>49.7</c:v>
                </c:pt>
                <c:pt idx="2">
                  <c:v>53.6</c:v>
                </c:pt>
                <c:pt idx="3">
                  <c:v>69.1</c:v>
                </c:pt>
                <c:pt idx="4">
                  <c:v>85.4</c:v>
                </c:pt>
                <c:pt idx="5">
                  <c:v>86.7</c:v>
                </c:pt>
                <c:pt idx="6">
                  <c:v>86.7</c:v>
                </c:pt>
                <c:pt idx="7">
                  <c:v>87.4</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659"/>
                </a:solidFill>
                <a:latin typeface="+mn-lt"/>
              </a:defRPr>
            </a:pPr>
            <a:endParaRPr lang="en-US"/>
          </a:p>
        </c:txPr>
        <c:crossAx val="2094734552"/>
        <c:crosses val="autoZero"/>
        <c:auto val="1"/>
        <c:lblAlgn val="ctr"/>
        <c:noMultiLvlLbl val="1"/>
        <c:tickLblSkip val="2"/>
      </c:catAx>
      <c:valAx>
        <c:axId val="2094734552"/>
        <c:scaling>
          <c:orientation val="minMax"/>
          <c:max val="100"/>
          <c:min val="30"/>
        </c:scaling>
        <c:delete val="0"/>
        <c:axPos val="l"/>
        <c:majorGridlines>
          <c:spPr>
            <a:ln w="9525" cap="flat">
              <a:solidFill>
                <a:srgbClr val="DDE2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3A465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A4659"/>
                </a:solidFill>
                <a:latin typeface="+mn-lt"/>
              </a:defRPr>
            </a:pPr>
            <a:r>
              <a:rPr sz="1300" b="0" i="0" u="none" strike="noStrike">
                <a:solidFill>
                  <a:srgbClr val="3A4659"/>
                </a:solidFill>
                <a:latin typeface="+mn-lt"/>
              </a:rPr>
              <a:t>Typical forecast miss (RMSE, index points)</a:t>
            </a:r>
          </a:p>
        </c:rich>
      </c:tx>
      <c:layout/>
      <c:overlay val="0"/>
    </c:title>
    <c:autoTitleDeleted val="0"/>
    <c:plotArea>
      <c:layout/>
      <c:barChart>
        <c:barDir val="bar"/>
        <c:grouping val="clustered"/>
        <c:varyColors val="0"/>
        <c:ser>
          <c:idx val="0"/>
          <c:order val="0"/>
          <c:tx>
            <c:strRef>
              <c:f>Sheet1!$B$1</c:f>
              <c:strCache>
                <c:ptCount val="1"/>
                <c:pt idx="0">
                  <c:v>Typical miss</c:v>
                </c:pt>
              </c:strCache>
            </c:strRef>
          </c:tx>
          <c:spPr>
            <a:solidFill>
              <a:srgbClr val="7A8699"/>
            </a:solidFill>
            <a:effectLst/>
          </c:spPr>
          <c:invertIfNegative val="0"/>
          <c:dLbls>
            <c:numFmt formatCode="0.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7A8699"/>
              </a:solidFill>
              <a:effectLst/>
            </c:spPr>
          </c:dPt>
          <c:dPt>
            <c:idx val="1"/>
            <c:invertIfNegative val="0"/>
            <c:bubble3D val="0"/>
            <c:spPr>
              <a:solidFill>
                <a:srgbClr val="C2453A"/>
              </a:solidFill>
              <a:effectLst/>
            </c:spPr>
          </c:dPt>
          <c:dPt>
            <c:idx val="2"/>
            <c:invertIfNegative val="0"/>
            <c:bubble3D val="0"/>
            <c:spPr>
              <a:solidFill>
                <a:srgbClr val="D9822B"/>
              </a:solidFill>
              <a:effectLst/>
            </c:spPr>
          </c:dPt>
          <c:dPt>
            <c:idx val="3"/>
            <c:invertIfNegative val="0"/>
            <c:bubble3D val="0"/>
            <c:spPr>
              <a:solidFill>
                <a:srgbClr val="2A7F86"/>
              </a:solidFill>
              <a:effectLst/>
            </c:spPr>
          </c:dPt>
          <c:cat>
            <c:multiLvlStrRef>
              <c:f>Sheet1!$A$2:$A$5</c:f>
              <c:multiLvlStrCache>
                <c:ptCount val="4"/>
                <c:lvl>
                  <c:pt idx="0">
                    <c:v>Economy only</c:v>
                  </c:pt>
                  <c:pt idx="1">
                    <c:v>Economy + news</c:v>
                  </c:pt>
                  <c:pt idx="2">
                    <c:v>Economy + household costs</c:v>
                  </c:pt>
                  <c:pt idx="3">
                    <c:v>Economy + news + household costs</c:v>
                  </c:pt>
                </c:lvl>
              </c:multiLvlStrCache>
            </c:multiLvlStrRef>
          </c:cat>
          <c:val>
            <c:numRef>
              <c:f>Sheet1!$B$2:$B$5</c:f>
              <c:numCache>
                <c:formatCode>General</c:formatCode>
                <c:ptCount val="4"/>
                <c:pt idx="0">
                  <c:v>13.5</c:v>
                </c:pt>
                <c:pt idx="1">
                  <c:v>13.1</c:v>
                </c:pt>
                <c:pt idx="2">
                  <c:v>9.2</c:v>
                </c:pt>
                <c:pt idx="3">
                  <c:v>9</c:v>
                </c:pt>
              </c:numCache>
            </c:numRef>
          </c:val>
        </c:ser>
        <c:dLbls>
          <c:numFmt formatCode="0.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4659"/>
                </a:solidFill>
                <a:latin typeface="+mn-lt"/>
              </a:defRPr>
            </a:pPr>
            <a:endParaRPr lang="en-US"/>
          </a:p>
        </c:txPr>
        <c:crossAx val="2094734552"/>
        <c:crosses val="autoZero"/>
        <c:auto val="1"/>
        <c:lblAlgn val="ctr"/>
        <c:noMultiLvlLbl val="1"/>
      </c:catAx>
      <c:valAx>
        <c:axId val="2094734552"/>
        <c:scaling>
          <c:orientation val="minMax"/>
          <c:max val="16"/>
          <c:min val="0"/>
        </c:scaling>
        <c:delete val="0"/>
        <c:axPos val="b"/>
        <c:majorGridlines>
          <c:spPr>
            <a:ln w="9525" cap="flat">
              <a:solidFill>
                <a:srgbClr val="DDE2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3A46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A4659"/>
                </a:solidFill>
                <a:latin typeface="+mn-lt"/>
              </a:defRPr>
            </a:pPr>
            <a:r>
              <a:rPr sz="1300" b="0" i="0" u="none" strike="noStrike">
                <a:solidFill>
                  <a:srgbClr val="3A4659"/>
                </a:solidFill>
                <a:latin typeface="+mn-lt"/>
              </a:rPr>
              <a:t>Example: forecasts for March 2026 vs actual (index points)</a:t>
            </a:r>
          </a:p>
        </c:rich>
      </c:tx>
      <c:layout/>
      <c:overlay val="0"/>
    </c:title>
    <c:autoTitleDeleted val="0"/>
    <c:plotArea>
      <c:layout/>
      <c:barChart>
        <c:barDir val="bar"/>
        <c:grouping val="clustered"/>
        <c:varyColors val="0"/>
        <c:ser>
          <c:idx val="0"/>
          <c:order val="0"/>
          <c:tx>
            <c:strRef>
              <c:f>Sheet1!$B$1</c:f>
              <c:strCache>
                <c:ptCount val="1"/>
                <c:pt idx="0">
                  <c:v>March 2026</c:v>
                </c:pt>
              </c:strCache>
            </c:strRef>
          </c:tx>
          <c:spPr>
            <a:solidFill>
              <a:srgbClr val="7A8699"/>
            </a:solidFill>
            <a:effectLst/>
          </c:spPr>
          <c:invertIfNegative val="0"/>
          <c:dLbls>
            <c:numFmt formatCode="0.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7A8699"/>
              </a:solidFill>
              <a:effectLst/>
            </c:spPr>
          </c:dPt>
          <c:dPt>
            <c:idx val="1"/>
            <c:invertIfNegative val="0"/>
            <c:bubble3D val="0"/>
            <c:spPr>
              <a:solidFill>
                <a:srgbClr val="7A8699"/>
              </a:solidFill>
              <a:effectLst/>
            </c:spPr>
          </c:dPt>
          <c:dPt>
            <c:idx val="2"/>
            <c:invertIfNegative val="0"/>
            <c:bubble3D val="0"/>
            <c:spPr>
              <a:solidFill>
                <a:srgbClr val="C2453A"/>
              </a:solidFill>
              <a:effectLst/>
            </c:spPr>
          </c:dPt>
          <c:dPt>
            <c:idx val="3"/>
            <c:invertIfNegative val="0"/>
            <c:bubble3D val="0"/>
            <c:spPr>
              <a:solidFill>
                <a:srgbClr val="D9822B"/>
              </a:solidFill>
              <a:effectLst/>
            </c:spPr>
          </c:dPt>
          <c:dPt>
            <c:idx val="4"/>
            <c:invertIfNegative val="0"/>
            <c:bubble3D val="0"/>
            <c:spPr>
              <a:solidFill>
                <a:srgbClr val="2A7F86"/>
              </a:solidFill>
              <a:effectLst/>
            </c:spPr>
          </c:dPt>
          <c:dPt>
            <c:idx val="5"/>
            <c:invertIfNegative val="0"/>
            <c:bubble3D val="0"/>
            <c:spPr>
              <a:solidFill>
                <a:srgbClr val="1B2333"/>
              </a:solidFill>
              <a:effectLst/>
            </c:spPr>
          </c:dPt>
          <c:cat>
            <c:multiLvlStrRef>
              <c:f>Sheet1!$A$2:$A$7</c:f>
              <c:multiLvlStrCache>
                <c:ptCount val="6"/>
                <c:lvl>
                  <c:pt idx="0">
                    <c:v>Fixed 2010-19 model (slide 2)</c:v>
                  </c:pt>
                  <c:pt idx="1">
                    <c:v>Economy only</c:v>
                  </c:pt>
                  <c:pt idx="2">
                    <c:v>Economy + news</c:v>
                  </c:pt>
                  <c:pt idx="3">
                    <c:v>Economy + household costs</c:v>
                  </c:pt>
                  <c:pt idx="4">
                    <c:v>Economy + news + household costs</c:v>
                  </c:pt>
                  <c:pt idx="5">
                    <c:v>Actual sentiment</c:v>
                  </c:pt>
                </c:lvl>
              </c:multiLvlStrCache>
            </c:multiLvlStrRef>
          </c:cat>
          <c:val>
            <c:numRef>
              <c:f>Sheet1!$B$2:$B$7</c:f>
              <c:numCache>
                <c:formatCode>General</c:formatCode>
                <c:ptCount val="6"/>
                <c:pt idx="0">
                  <c:v>90.23</c:v>
                </c:pt>
                <c:pt idx="1">
                  <c:v>76.22</c:v>
                </c:pt>
                <c:pt idx="2">
                  <c:v>73.47</c:v>
                </c:pt>
                <c:pt idx="3">
                  <c:v>71.83</c:v>
                </c:pt>
                <c:pt idx="4">
                  <c:v>70.71</c:v>
                </c:pt>
                <c:pt idx="5">
                  <c:v>53.3</c:v>
                </c:pt>
              </c:numCache>
            </c:numRef>
          </c:val>
        </c:ser>
        <c:dLbls>
          <c:numFmt formatCode="0.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4659"/>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9525" cap="flat">
              <a:solidFill>
                <a:srgbClr val="DDE2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3A4659"/>
                </a:solidFill>
                <a:latin typeface="+mn-lt"/>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A4659"/>
                </a:solidFill>
                <a:latin typeface="+mn-lt"/>
              </a:defRPr>
            </a:pPr>
            <a:r>
              <a:rPr sz="1300" b="0" i="0" u="none" strike="noStrike">
                <a:solidFill>
                  <a:srgbClr val="3A4659"/>
                </a:solidFill>
                <a:latin typeface="+mn-lt"/>
              </a:rPr>
              <a:t>Points of the 28.6 each suspect explains (90% range)</a:t>
            </a:r>
          </a:p>
        </c:rich>
      </c:tx>
      <c:layout/>
      <c:overlay val="0"/>
    </c:title>
    <c:autoTitleDeleted val="0"/>
    <c:plotArea>
      <c:layout/>
      <c:barChart>
        <c:barDir val="bar"/>
        <c:grouping val="clustered"/>
        <c:varyColors val="0"/>
        <c:ser>
          <c:idx val="0"/>
          <c:order val="0"/>
          <c:tx>
            <c:strRef>
              <c:f>Sheet1!$B$1</c:f>
              <c:strCache>
                <c:ptCount val="1"/>
                <c:pt idx="0">
                  <c:v>Points explained</c:v>
                </c:pt>
              </c:strCache>
            </c:strRef>
          </c:tx>
          <c:spPr>
            <a:solidFill>
              <a:srgbClr val="2A7F86"/>
            </a:solidFill>
            <a:effectLst/>
          </c:spPr>
          <c:invertIfNegative val="0"/>
          <c:dLbls>
            <c:numFmt formatCode="+0.0;-0.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2A7F86"/>
              </a:solidFill>
              <a:effectLst/>
            </c:spPr>
          </c:dPt>
          <c:dPt>
            <c:idx val="1"/>
            <c:invertIfNegative val="0"/>
            <c:bubble3D val="0"/>
            <c:spPr>
              <a:solidFill>
                <a:srgbClr val="7A8699"/>
              </a:solidFill>
              <a:effectLst/>
            </c:spPr>
          </c:dPt>
          <c:dPt>
            <c:idx val="2"/>
            <c:invertIfNegative val="0"/>
            <c:bubble3D val="0"/>
            <c:spPr>
              <a:solidFill>
                <a:srgbClr val="2A7F86"/>
              </a:solidFill>
              <a:effectLst/>
            </c:spPr>
          </c:dPt>
          <c:dPt>
            <c:idx val="3"/>
            <c:invertIfNegative val="0"/>
            <c:bubble3D val="0"/>
            <c:spPr>
              <a:solidFill>
                <a:srgbClr val="7A8699"/>
              </a:solidFill>
              <a:effectLst/>
            </c:spPr>
          </c:dPt>
          <c:cat>
            <c:multiLvlStrRef>
              <c:f>Sheet1!$A$2:$A$5</c:f>
              <c:multiLvlStrCache>
                <c:ptCount val="4"/>
                <c:lvl>
                  <c:pt idx="0">
                    <c:v>Borrowing costs (3 to 9)</c:v>
                  </c:pt>
                  <c:pt idx="1">
                    <c:v>Price level (−3 to 1)</c:v>
                  </c:pt>
                  <c:pt idx="2">
                    <c:v>Partisan mood (−1 to 2)</c:v>
                  </c:pt>
                  <c:pt idx="3">
                    <c:v>Inflation memory (−5 to −1)</c:v>
                  </c:pt>
                </c:lvl>
              </c:multiLvlStrCache>
            </c:multiLvlStrRef>
          </c:cat>
          <c:val>
            <c:numRef>
              <c:f>Sheet1!$B$2:$B$5</c:f>
              <c:numCache>
                <c:formatCode>General</c:formatCode>
                <c:ptCount val="4"/>
                <c:pt idx="0">
                  <c:v>5.3</c:v>
                </c:pt>
                <c:pt idx="1">
                  <c:v>-1.4</c:v>
                </c:pt>
                <c:pt idx="2">
                  <c:v>0.3</c:v>
                </c:pt>
                <c:pt idx="3">
                  <c:v>-3.1</c:v>
                </c:pt>
              </c:numCache>
            </c:numRef>
          </c:val>
        </c:ser>
        <c:dLbls>
          <c:numFmt formatCode="+0.0;-0.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659"/>
                </a:solidFill>
                <a:latin typeface="+mn-lt"/>
              </a:defRPr>
            </a:pPr>
            <a:endParaRPr lang="en-US"/>
          </a:p>
        </c:txPr>
        <c:crossAx val="2094734552"/>
        <c:crosses val="autoZero"/>
        <c:auto val="1"/>
        <c:lblAlgn val="ctr"/>
        <c:noMultiLvlLbl val="1"/>
      </c:catAx>
      <c:valAx>
        <c:axId val="2094734552"/>
        <c:scaling>
          <c:orientation val="minMax"/>
          <c:max val="10"/>
          <c:min val="-6"/>
        </c:scaling>
        <c:delete val="0"/>
        <c:axPos val="b"/>
        <c:majorGridlines>
          <c:spPr>
            <a:ln w="9525" cap="flat">
              <a:solidFill>
                <a:srgbClr val="DDE2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3A4659"/>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A4659"/>
                </a:solidFill>
                <a:latin typeface="+mn-lt"/>
              </a:defRPr>
            </a:pPr>
            <a:r>
              <a:rPr sz="1300" b="0" i="0" u="none" strike="noStrike">
                <a:solidFill>
                  <a:srgbClr val="3A4659"/>
                </a:solidFill>
                <a:latin typeface="+mn-lt"/>
              </a:rPr>
              <a:t>Points of the last 10.5 each suspect explains (90% range)</a:t>
            </a:r>
          </a:p>
        </c:rich>
      </c:tx>
      <c:layout/>
      <c:overlay val="0"/>
    </c:title>
    <c:autoTitleDeleted val="0"/>
    <c:plotArea>
      <c:layout/>
      <c:barChart>
        <c:barDir val="bar"/>
        <c:grouping val="clustered"/>
        <c:varyColors val="0"/>
        <c:ser>
          <c:idx val="0"/>
          <c:order val="0"/>
          <c:tx>
            <c:strRef>
              <c:f>Sheet1!$B$1</c:f>
              <c:strCache>
                <c:ptCount val="1"/>
                <c:pt idx="0">
                  <c:v>Points explained</c:v>
                </c:pt>
              </c:strCache>
            </c:strRef>
          </c:tx>
          <c:spPr>
            <a:solidFill>
              <a:srgbClr val="2A7F86"/>
            </a:solidFill>
            <a:effectLst/>
          </c:spPr>
          <c:invertIfNegative val="0"/>
          <c:dLbls>
            <c:numFmt formatCode="+0.0;-0.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2A7F86"/>
              </a:solidFill>
              <a:effectLst/>
            </c:spPr>
          </c:dPt>
          <c:dPt>
            <c:idx val="1"/>
            <c:invertIfNegative val="0"/>
            <c:bubble3D val="0"/>
            <c:spPr>
              <a:solidFill>
                <a:srgbClr val="2A7F86"/>
              </a:solidFill>
              <a:effectLst/>
            </c:spPr>
          </c:dPt>
          <c:dPt>
            <c:idx val="2"/>
            <c:invertIfNegative val="0"/>
            <c:bubble3D val="0"/>
            <c:spPr>
              <a:solidFill>
                <a:srgbClr val="2A7F86"/>
              </a:solidFill>
              <a:effectLst/>
            </c:spPr>
          </c:dPt>
          <c:cat>
            <c:multiLvlStrRef>
              <c:f>Sheet1!$A$2:$A$4</c:f>
              <c:multiLvlStrCache>
                <c:ptCount val="3"/>
                <c:lvl>
                  <c:pt idx="0">
                    <c:v>Inflation memory (1 to 9)</c:v>
                  </c:pt>
                  <c:pt idx="1">
                    <c:v>Price level (−1 to 8)</c:v>
                  </c:pt>
                  <c:pt idx="2">
                    <c:v>Partisan mood (−5 to 2)</c:v>
                  </c:pt>
                </c:lvl>
              </c:multiLvlStrCache>
            </c:multiLvlStrRef>
          </c:cat>
          <c:val>
            <c:numRef>
              <c:f>Sheet1!$B$2:$B$4</c:f>
              <c:numCache>
                <c:formatCode>General</c:formatCode>
                <c:ptCount val="3"/>
                <c:pt idx="0">
                  <c:v>5.6</c:v>
                </c:pt>
                <c:pt idx="1">
                  <c:v>5.3</c:v>
                </c:pt>
                <c:pt idx="2">
                  <c:v>0.9</c:v>
                </c:pt>
              </c:numCache>
            </c:numRef>
          </c:val>
        </c:ser>
        <c:dLbls>
          <c:numFmt formatCode="+0.0;-0.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659"/>
                </a:solidFill>
                <a:latin typeface="+mn-lt"/>
              </a:defRPr>
            </a:pPr>
            <a:endParaRPr lang="en-US"/>
          </a:p>
        </c:txPr>
        <c:crossAx val="2094734552"/>
        <c:crosses val="autoZero"/>
        <c:auto val="1"/>
        <c:lblAlgn val="ctr"/>
        <c:noMultiLvlLbl val="1"/>
      </c:catAx>
      <c:valAx>
        <c:axId val="2094734552"/>
        <c:scaling>
          <c:orientation val="minMax"/>
          <c:max val="10"/>
          <c:min val="-6"/>
        </c:scaling>
        <c:delete val="0"/>
        <c:axPos val="b"/>
        <c:majorGridlines>
          <c:spPr>
            <a:ln w="9525" cap="flat">
              <a:solidFill>
                <a:srgbClr val="DDE2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3A4659"/>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A4659"/>
                </a:solidFill>
                <a:latin typeface="+mn-lt"/>
              </a:defRPr>
            </a:pPr>
            <a:r>
              <a:rPr sz="1300" b="0" i="0" u="none" strike="noStrike">
                <a:solidFill>
                  <a:srgbClr val="3A4659"/>
                </a:solidFill>
                <a:latin typeface="+mn-lt"/>
              </a:rPr>
              <a:t>Share negative minus share positive, quarterly averages</a:t>
            </a:r>
          </a:p>
        </c:rich>
      </c:tx>
      <c:layout/>
      <c:overlay val="0"/>
    </c:title>
    <c:autoTitleDeleted val="0"/>
    <c:plotArea>
      <c:layout/>
      <c:lineChart>
        <c:varyColors val="0"/>
        <c:ser>
          <c:idx val="0"/>
          <c:order val="0"/>
          <c:tx>
            <c:strRef>
              <c:f>Sheet1!$B$1</c:f>
              <c:strCache>
                <c:ptCount val="1"/>
                <c:pt idx="0">
                  <c:v>Reddit net negativity (Tier C)</c:v>
                </c:pt>
              </c:strCache>
            </c:strRef>
          </c:tx>
          <c:spPr>
            <a:solidFill>
              <a:srgbClr val="8C6BB1"/>
            </a:solidFill>
            <a:ln w="25400" cap="flat">
              <a:solidFill>
                <a:srgbClr val="8C6BB1"/>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C6BB1"/>
              </a:solidFill>
              <a:ln w="9525" cap="flat">
                <a:solidFill>
                  <a:srgbClr val="8C6BB1"/>
                </a:solidFill>
                <a:prstDash val="solid"/>
                <a:round/>
              </a:ln>
              <a:effectLst/>
            </c:spPr>
          </c:marker>
          <c:cat>
            <c:multiLvlStrRef>
              <c:f>Sheet1!$A$2:$A$69</c:f>
              <c:multiLvlStrCache>
                <c:ptCount val="68"/>
                <c:lvl>
                  <c:pt idx="0">
                    <c:v>2010</c:v>
                  </c:pt>
                  <c:pt idx="1">
                    <c:v/>
                  </c:pt>
                  <c:pt idx="2">
                    <c:v/>
                  </c:pt>
                  <c:pt idx="3">
                    <c:v/>
                  </c:pt>
                  <c:pt idx="4">
                    <c:v>2011</c:v>
                  </c:pt>
                  <c:pt idx="5">
                    <c:v/>
                  </c:pt>
                  <c:pt idx="6">
                    <c:v/>
                  </c:pt>
                  <c:pt idx="7">
                    <c:v/>
                  </c:pt>
                  <c:pt idx="8">
                    <c:v>2012</c:v>
                  </c:pt>
                  <c:pt idx="9">
                    <c:v/>
                  </c:pt>
                  <c:pt idx="10">
                    <c:v/>
                  </c:pt>
                  <c:pt idx="11">
                    <c:v/>
                  </c:pt>
                  <c:pt idx="12">
                    <c:v>2013</c:v>
                  </c:pt>
                  <c:pt idx="13">
                    <c:v/>
                  </c:pt>
                  <c:pt idx="14">
                    <c:v/>
                  </c:pt>
                  <c:pt idx="15">
                    <c:v/>
                  </c:pt>
                  <c:pt idx="16">
                    <c:v>2014</c:v>
                  </c:pt>
                  <c:pt idx="17">
                    <c:v/>
                  </c:pt>
                  <c:pt idx="18">
                    <c:v/>
                  </c:pt>
                  <c:pt idx="19">
                    <c:v/>
                  </c:pt>
                  <c:pt idx="20">
                    <c:v>2015</c:v>
                  </c:pt>
                  <c:pt idx="21">
                    <c:v/>
                  </c:pt>
                  <c:pt idx="22">
                    <c:v/>
                  </c:pt>
                  <c:pt idx="23">
                    <c:v/>
                  </c:pt>
                  <c:pt idx="24">
                    <c:v>2016</c:v>
                  </c:pt>
                  <c:pt idx="25">
                    <c:v/>
                  </c:pt>
                  <c:pt idx="26">
                    <c:v/>
                  </c:pt>
                  <c:pt idx="27">
                    <c:v/>
                  </c:pt>
                  <c:pt idx="28">
                    <c:v>2017</c:v>
                  </c:pt>
                  <c:pt idx="29">
                    <c:v/>
                  </c:pt>
                  <c:pt idx="30">
                    <c:v/>
                  </c:pt>
                  <c:pt idx="31">
                    <c:v/>
                  </c:pt>
                  <c:pt idx="32">
                    <c:v>2018</c:v>
                  </c:pt>
                  <c:pt idx="33">
                    <c:v/>
                  </c:pt>
                  <c:pt idx="34">
                    <c:v/>
                  </c:pt>
                  <c:pt idx="35">
                    <c:v/>
                  </c:pt>
                  <c:pt idx="36">
                    <c:v>2019</c:v>
                  </c:pt>
                  <c:pt idx="37">
                    <c:v/>
                  </c:pt>
                  <c:pt idx="38">
                    <c:v/>
                  </c:pt>
                  <c:pt idx="39">
                    <c:v/>
                  </c:pt>
                  <c:pt idx="40">
                    <c:v>2020</c:v>
                  </c:pt>
                  <c:pt idx="41">
                    <c:v/>
                  </c:pt>
                  <c:pt idx="42">
                    <c:v/>
                  </c:pt>
                  <c:pt idx="43">
                    <c:v/>
                  </c:pt>
                  <c:pt idx="44">
                    <c:v>2021</c:v>
                  </c:pt>
                  <c:pt idx="45">
                    <c:v/>
                  </c:pt>
                  <c:pt idx="46">
                    <c:v/>
                  </c:pt>
                  <c:pt idx="47">
                    <c:v/>
                  </c:pt>
                  <c:pt idx="48">
                    <c:v>2022</c:v>
                  </c:pt>
                  <c:pt idx="49">
                    <c:v/>
                  </c:pt>
                  <c:pt idx="50">
                    <c:v/>
                  </c:pt>
                  <c:pt idx="51">
                    <c:v/>
                  </c:pt>
                  <c:pt idx="52">
                    <c:v>2023</c:v>
                  </c:pt>
                  <c:pt idx="53">
                    <c:v/>
                  </c:pt>
                  <c:pt idx="54">
                    <c:v/>
                  </c:pt>
                  <c:pt idx="55">
                    <c:v/>
                  </c:pt>
                  <c:pt idx="56">
                    <c:v>2024</c:v>
                  </c:pt>
                  <c:pt idx="57">
                    <c:v/>
                  </c:pt>
                  <c:pt idx="58">
                    <c:v/>
                  </c:pt>
                  <c:pt idx="59">
                    <c:v/>
                  </c:pt>
                  <c:pt idx="60">
                    <c:v>2025</c:v>
                  </c:pt>
                  <c:pt idx="61">
                    <c:v/>
                  </c:pt>
                  <c:pt idx="62">
                    <c:v/>
                  </c:pt>
                  <c:pt idx="63">
                    <c:v/>
                  </c:pt>
                  <c:pt idx="64">
                    <c:v>2026</c:v>
                  </c:pt>
                  <c:pt idx="65">
                    <c:v/>
                  </c:pt>
                  <c:pt idx="66">
                    <c:v/>
                  </c:pt>
                  <c:pt idx="67">
                    <c:v/>
                  </c:pt>
                </c:lvl>
              </c:multiLvlStrCache>
            </c:multiLvlStrRef>
          </c:cat>
          <c:val>
            <c:numRef>
              <c:f>Sheet1!$B$2:$B$69</c:f>
              <c:numCache>
                <c:formatCode>General</c:formatCode>
                <c:ptCount val="68"/>
                <c:pt idx="0">
                  <c:v>0.782</c:v>
                </c:pt>
                <c:pt idx="1">
                  <c:v>0.503</c:v>
                </c:pt>
                <c:pt idx="2">
                  <c:v>0.366</c:v>
                </c:pt>
                <c:pt idx="3">
                  <c:v>0.327</c:v>
                </c:pt>
                <c:pt idx="4">
                  <c:v>0.597</c:v>
                </c:pt>
                <c:pt idx="5">
                  <c:v>0.451</c:v>
                </c:pt>
                <c:pt idx="6">
                  <c:v>0.44</c:v>
                </c:pt>
                <c:pt idx="7">
                  <c:v>0.537</c:v>
                </c:pt>
                <c:pt idx="8">
                  <c:v>0.209</c:v>
                </c:pt>
                <c:pt idx="9">
                  <c:v>0.319</c:v>
                </c:pt>
                <c:pt idx="10">
                  <c:v>0.259</c:v>
                </c:pt>
                <c:pt idx="11">
                  <c:v>0.369</c:v>
                </c:pt>
                <c:pt idx="12">
                  <c:v>0.398</c:v>
                </c:pt>
                <c:pt idx="13">
                  <c:v>0.523</c:v>
                </c:pt>
                <c:pt idx="14">
                  <c:v>0.54</c:v>
                </c:pt>
                <c:pt idx="15">
                  <c:v>0.43</c:v>
                </c:pt>
                <c:pt idx="16">
                  <c:v>0.304</c:v>
                </c:pt>
                <c:pt idx="17">
                  <c:v>0.411</c:v>
                </c:pt>
                <c:pt idx="18">
                  <c:v>0.433</c:v>
                </c:pt>
                <c:pt idx="19">
                  <c:v>0.466</c:v>
                </c:pt>
                <c:pt idx="20">
                  <c:v>0.168</c:v>
                </c:pt>
                <c:pt idx="21">
                  <c:v>0.363</c:v>
                </c:pt>
                <c:pt idx="22">
                  <c:v>0.258</c:v>
                </c:pt>
                <c:pt idx="23">
                  <c:v>0.195</c:v>
                </c:pt>
                <c:pt idx="24">
                  <c:v>0.274</c:v>
                </c:pt>
                <c:pt idx="25">
                  <c:v>0.417</c:v>
                </c:pt>
                <c:pt idx="26">
                  <c:v>0.403</c:v>
                </c:pt>
                <c:pt idx="27">
                  <c:v>0.252</c:v>
                </c:pt>
                <c:pt idx="28">
                  <c:v>0.227</c:v>
                </c:pt>
                <c:pt idx="29">
                  <c:v>0.311</c:v>
                </c:pt>
                <c:pt idx="30">
                  <c:v>0.547</c:v>
                </c:pt>
                <c:pt idx="31">
                  <c:v>0.378</c:v>
                </c:pt>
                <c:pt idx="32">
                  <c:v>0.44</c:v>
                </c:pt>
                <c:pt idx="33">
                  <c:v>0.502</c:v>
                </c:pt>
                <c:pt idx="34">
                  <c:v>0.428</c:v>
                </c:pt>
                <c:pt idx="35">
                  <c:v>0.402</c:v>
                </c:pt>
                <c:pt idx="36">
                  <c:v>0.449</c:v>
                </c:pt>
                <c:pt idx="37">
                  <c:v>0.291</c:v>
                </c:pt>
                <c:pt idx="38">
                  <c:v>0.448</c:v>
                </c:pt>
                <c:pt idx="39">
                  <c:v>0.505</c:v>
                </c:pt>
                <c:pt idx="40">
                  <c:v>0.273</c:v>
                </c:pt>
                <c:pt idx="41">
                  <c:v>0.48</c:v>
                </c:pt>
                <c:pt idx="42">
                  <c:v>0.514</c:v>
                </c:pt>
                <c:pt idx="43">
                  <c:v>0.51</c:v>
                </c:pt>
                <c:pt idx="44">
                  <c:v>0.342</c:v>
                </c:pt>
                <c:pt idx="45">
                  <c:v>0.446</c:v>
                </c:pt>
                <c:pt idx="46">
                  <c:v>0.512</c:v>
                </c:pt>
                <c:pt idx="47">
                  <c:v>0.618</c:v>
                </c:pt>
                <c:pt idx="48">
                  <c:v>0.621</c:v>
                </c:pt>
                <c:pt idx="49">
                  <c:v>0.491</c:v>
                </c:pt>
                <c:pt idx="50">
                  <c:v>0.557</c:v>
                </c:pt>
                <c:pt idx="51">
                  <c:v>0.575</c:v>
                </c:pt>
                <c:pt idx="52">
                  <c:v>0.361</c:v>
                </c:pt>
                <c:pt idx="53">
                  <c:v>0.504</c:v>
                </c:pt>
                <c:pt idx="54">
                  <c:v>0.467</c:v>
                </c:pt>
                <c:pt idx="55">
                  <c:v>0.327</c:v>
                </c:pt>
                <c:pt idx="56">
                  <c:v>0.472</c:v>
                </c:pt>
                <c:pt idx="57">
                  <c:v>0.538</c:v>
                </c:pt>
                <c:pt idx="58">
                  <c:v>0.442</c:v>
                </c:pt>
                <c:pt idx="59">
                  <c:v>0.391</c:v>
                </c:pt>
                <c:pt idx="60">
                  <c:v>0.442</c:v>
                </c:pt>
                <c:pt idx="61">
                  <c:v>0.38</c:v>
                </c:pt>
                <c:pt idx="62">
                  <c:v>0.573</c:v>
                </c:pt>
                <c:pt idx="63">
                  <c:v>0.321</c:v>
                </c:pt>
                <c:pt idx="64">
                  <c:v>0.431</c:v>
                </c:pt>
                <c:pt idx="65">
                  <c:v>0.555</c:v>
                </c:pt>
                <c:pt idx="66">
                  <c:v>0.514</c:v>
                </c:pt>
                <c:pt idx="67">
                  <c:v>0.56</c:v>
                </c:pt>
              </c:numCache>
            </c:numRef>
          </c:val>
          <c:smooth val="0"/>
        </c:ser>
        <c:ser>
          <c:idx val="1"/>
          <c:order val="1"/>
          <c:tx>
            <c:strRef>
              <c:f>Sheet1!$C$1</c:f>
              <c:strCache>
                <c:ptCount val="1"/>
                <c:pt idx="0">
                  <c:v>News net negativity (Tier C)</c:v>
                </c:pt>
              </c:strCache>
            </c:strRef>
          </c:tx>
          <c:spPr>
            <a:solidFill>
              <a:srgbClr val="2A7F86"/>
            </a:solidFill>
            <a:ln w="25400" cap="flat">
              <a:solidFill>
                <a:srgbClr val="2A7F86"/>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2A7F86"/>
              </a:solidFill>
              <a:ln w="9525" cap="flat">
                <a:solidFill>
                  <a:srgbClr val="2A7F86"/>
                </a:solidFill>
                <a:prstDash val="solid"/>
                <a:round/>
              </a:ln>
              <a:effectLst/>
            </c:spPr>
          </c:marker>
          <c:cat>
            <c:multiLvlStrRef>
              <c:f>Sheet1!$A$2:$A$69</c:f>
              <c:multiLvlStrCache>
                <c:ptCount val="68"/>
                <c:lvl>
                  <c:pt idx="0">
                    <c:v>2010</c:v>
                  </c:pt>
                  <c:pt idx="1">
                    <c:v/>
                  </c:pt>
                  <c:pt idx="2">
                    <c:v/>
                  </c:pt>
                  <c:pt idx="3">
                    <c:v/>
                  </c:pt>
                  <c:pt idx="4">
                    <c:v>2011</c:v>
                  </c:pt>
                  <c:pt idx="5">
                    <c:v/>
                  </c:pt>
                  <c:pt idx="6">
                    <c:v/>
                  </c:pt>
                  <c:pt idx="7">
                    <c:v/>
                  </c:pt>
                  <c:pt idx="8">
                    <c:v>2012</c:v>
                  </c:pt>
                  <c:pt idx="9">
                    <c:v/>
                  </c:pt>
                  <c:pt idx="10">
                    <c:v/>
                  </c:pt>
                  <c:pt idx="11">
                    <c:v/>
                  </c:pt>
                  <c:pt idx="12">
                    <c:v>2013</c:v>
                  </c:pt>
                  <c:pt idx="13">
                    <c:v/>
                  </c:pt>
                  <c:pt idx="14">
                    <c:v/>
                  </c:pt>
                  <c:pt idx="15">
                    <c:v/>
                  </c:pt>
                  <c:pt idx="16">
                    <c:v>2014</c:v>
                  </c:pt>
                  <c:pt idx="17">
                    <c:v/>
                  </c:pt>
                  <c:pt idx="18">
                    <c:v/>
                  </c:pt>
                  <c:pt idx="19">
                    <c:v/>
                  </c:pt>
                  <c:pt idx="20">
                    <c:v>2015</c:v>
                  </c:pt>
                  <c:pt idx="21">
                    <c:v/>
                  </c:pt>
                  <c:pt idx="22">
                    <c:v/>
                  </c:pt>
                  <c:pt idx="23">
                    <c:v/>
                  </c:pt>
                  <c:pt idx="24">
                    <c:v>2016</c:v>
                  </c:pt>
                  <c:pt idx="25">
                    <c:v/>
                  </c:pt>
                  <c:pt idx="26">
                    <c:v/>
                  </c:pt>
                  <c:pt idx="27">
                    <c:v/>
                  </c:pt>
                  <c:pt idx="28">
                    <c:v>2017</c:v>
                  </c:pt>
                  <c:pt idx="29">
                    <c:v/>
                  </c:pt>
                  <c:pt idx="30">
                    <c:v/>
                  </c:pt>
                  <c:pt idx="31">
                    <c:v/>
                  </c:pt>
                  <c:pt idx="32">
                    <c:v>2018</c:v>
                  </c:pt>
                  <c:pt idx="33">
                    <c:v/>
                  </c:pt>
                  <c:pt idx="34">
                    <c:v/>
                  </c:pt>
                  <c:pt idx="35">
                    <c:v/>
                  </c:pt>
                  <c:pt idx="36">
                    <c:v>2019</c:v>
                  </c:pt>
                  <c:pt idx="37">
                    <c:v/>
                  </c:pt>
                  <c:pt idx="38">
                    <c:v/>
                  </c:pt>
                  <c:pt idx="39">
                    <c:v/>
                  </c:pt>
                  <c:pt idx="40">
                    <c:v>2020</c:v>
                  </c:pt>
                  <c:pt idx="41">
                    <c:v/>
                  </c:pt>
                  <c:pt idx="42">
                    <c:v/>
                  </c:pt>
                  <c:pt idx="43">
                    <c:v/>
                  </c:pt>
                  <c:pt idx="44">
                    <c:v>2021</c:v>
                  </c:pt>
                  <c:pt idx="45">
                    <c:v/>
                  </c:pt>
                  <c:pt idx="46">
                    <c:v/>
                  </c:pt>
                  <c:pt idx="47">
                    <c:v/>
                  </c:pt>
                  <c:pt idx="48">
                    <c:v>2022</c:v>
                  </c:pt>
                  <c:pt idx="49">
                    <c:v/>
                  </c:pt>
                  <c:pt idx="50">
                    <c:v/>
                  </c:pt>
                  <c:pt idx="51">
                    <c:v/>
                  </c:pt>
                  <c:pt idx="52">
                    <c:v>2023</c:v>
                  </c:pt>
                  <c:pt idx="53">
                    <c:v/>
                  </c:pt>
                  <c:pt idx="54">
                    <c:v/>
                  </c:pt>
                  <c:pt idx="55">
                    <c:v/>
                  </c:pt>
                  <c:pt idx="56">
                    <c:v>2024</c:v>
                  </c:pt>
                  <c:pt idx="57">
                    <c:v/>
                  </c:pt>
                  <c:pt idx="58">
                    <c:v/>
                  </c:pt>
                  <c:pt idx="59">
                    <c:v/>
                  </c:pt>
                  <c:pt idx="60">
                    <c:v>2025</c:v>
                  </c:pt>
                  <c:pt idx="61">
                    <c:v/>
                  </c:pt>
                  <c:pt idx="62">
                    <c:v/>
                  </c:pt>
                  <c:pt idx="63">
                    <c:v/>
                  </c:pt>
                  <c:pt idx="64">
                    <c:v>2026</c:v>
                  </c:pt>
                  <c:pt idx="65">
                    <c:v/>
                  </c:pt>
                  <c:pt idx="66">
                    <c:v/>
                  </c:pt>
                  <c:pt idx="67">
                    <c:v/>
                  </c:pt>
                </c:lvl>
              </c:multiLvlStrCache>
            </c:multiLvlStrRef>
          </c:cat>
          <c:val>
            <c:numRef>
              <c:f>Sheet1!$C$2:$C$69</c:f>
              <c:numCache>
                <c:formatCode>General</c:formatCode>
                <c:ptCount val="68"/>
                <c:pt idx="0">
                  <c:v>0.028</c:v>
                </c:pt>
                <c:pt idx="1">
                  <c:v>0.259</c:v>
                </c:pt>
                <c:pt idx="2">
                  <c:v>-0.027</c:v>
                </c:pt>
                <c:pt idx="3">
                  <c:v>0.151</c:v>
                </c:pt>
                <c:pt idx="4">
                  <c:v>0.07</c:v>
                </c:pt>
                <c:pt idx="5">
                  <c:v>0.374</c:v>
                </c:pt>
                <c:pt idx="6">
                  <c:v>0.09</c:v>
                </c:pt>
                <c:pt idx="7">
                  <c:v>0.006</c:v>
                </c:pt>
                <c:pt idx="8">
                  <c:v>0.187</c:v>
                </c:pt>
                <c:pt idx="9">
                  <c:v>0.04</c:v>
                </c:pt>
                <c:pt idx="10">
                  <c:v>0.172</c:v>
                </c:pt>
                <c:pt idx="11">
                  <c:v>0.273</c:v>
                </c:pt>
                <c:pt idx="12">
                  <c:v>0.077</c:v>
                </c:pt>
                <c:pt idx="13">
                  <c:v>0.066</c:v>
                </c:pt>
                <c:pt idx="14">
                  <c:v>0.194</c:v>
                </c:pt>
                <c:pt idx="15">
                  <c:v>0.068</c:v>
                </c:pt>
                <c:pt idx="16">
                  <c:v>-0.069</c:v>
                </c:pt>
                <c:pt idx="17">
                  <c:v>0.163</c:v>
                </c:pt>
                <c:pt idx="18">
                  <c:v>0.094</c:v>
                </c:pt>
                <c:pt idx="19">
                  <c:v>0.205</c:v>
                </c:pt>
                <c:pt idx="20">
                  <c:v>0.174</c:v>
                </c:pt>
                <c:pt idx="21">
                  <c:v>0.158</c:v>
                </c:pt>
                <c:pt idx="22">
                  <c:v>0.204</c:v>
                </c:pt>
                <c:pt idx="23">
                  <c:v>0.233</c:v>
                </c:pt>
                <c:pt idx="24">
                  <c:v>0.409</c:v>
                </c:pt>
                <c:pt idx="25">
                  <c:v>0.2</c:v>
                </c:pt>
                <c:pt idx="26">
                  <c:v>0.083</c:v>
                </c:pt>
                <c:pt idx="27">
                  <c:v>0.054</c:v>
                </c:pt>
                <c:pt idx="28">
                  <c:v>0.071</c:v>
                </c:pt>
                <c:pt idx="29">
                  <c:v>0.194</c:v>
                </c:pt>
                <c:pt idx="30">
                  <c:v>0.146</c:v>
                </c:pt>
                <c:pt idx="31">
                  <c:v>-0.007</c:v>
                </c:pt>
                <c:pt idx="32">
                  <c:v>0.172</c:v>
                </c:pt>
                <c:pt idx="33">
                  <c:v>0.225</c:v>
                </c:pt>
                <c:pt idx="34">
                  <c:v>0.226</c:v>
                </c:pt>
                <c:pt idx="35">
                  <c:v>0.299</c:v>
                </c:pt>
                <c:pt idx="36">
                  <c:v>0.147</c:v>
                </c:pt>
                <c:pt idx="37">
                  <c:v>0.175</c:v>
                </c:pt>
                <c:pt idx="38">
                  <c:v>0.283</c:v>
                </c:pt>
                <c:pt idx="39">
                  <c:v>0.255</c:v>
                </c:pt>
                <c:pt idx="40">
                  <c:v>0.088</c:v>
                </c:pt>
                <c:pt idx="41">
                  <c:v>0.432</c:v>
                </c:pt>
                <c:pt idx="42">
                  <c:v>0.257</c:v>
                </c:pt>
                <c:pt idx="43">
                  <c:v>0.203</c:v>
                </c:pt>
                <c:pt idx="44">
                  <c:v>0.211</c:v>
                </c:pt>
                <c:pt idx="45">
                  <c:v>0.293</c:v>
                </c:pt>
                <c:pt idx="46">
                  <c:v>0.307</c:v>
                </c:pt>
                <c:pt idx="47">
                  <c:v>0.447</c:v>
                </c:pt>
                <c:pt idx="48">
                  <c:v>0.454</c:v>
                </c:pt>
                <c:pt idx="49">
                  <c:v>0.469</c:v>
                </c:pt>
                <c:pt idx="50">
                  <c:v>0.487</c:v>
                </c:pt>
                <c:pt idx="51">
                  <c:v>0.41</c:v>
                </c:pt>
                <c:pt idx="52">
                  <c:v>0.397</c:v>
                </c:pt>
                <c:pt idx="53">
                  <c:v>0.363</c:v>
                </c:pt>
                <c:pt idx="54">
                  <c:v>0.319</c:v>
                </c:pt>
                <c:pt idx="55">
                  <c:v>0.367</c:v>
                </c:pt>
                <c:pt idx="56">
                  <c:v>0.382</c:v>
                </c:pt>
                <c:pt idx="57">
                  <c:v>0.392</c:v>
                </c:pt>
                <c:pt idx="58">
                  <c:v>0.315</c:v>
                </c:pt>
                <c:pt idx="59">
                  <c:v>0.266</c:v>
                </c:pt>
                <c:pt idx="60">
                  <c:v>0.326</c:v>
                </c:pt>
                <c:pt idx="61">
                  <c:v>0.392</c:v>
                </c:pt>
                <c:pt idx="62">
                  <c:v>0.324</c:v>
                </c:pt>
                <c:pt idx="63">
                  <c:v>0.344</c:v>
                </c:pt>
                <c:pt idx="64">
                  <c:v>0.3</c:v>
                </c:pt>
                <c:pt idx="65">
                  <c:v>0.477</c:v>
                </c:pt>
                <c:pt idx="66">
                  <c:v>0.345</c:v>
                </c:pt>
                <c:pt idx="67">
                  <c:v>0.381</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659"/>
                </a:solidFill>
                <a:latin typeface="+mn-lt"/>
              </a:defRPr>
            </a:pPr>
            <a:endParaRPr lang="en-US"/>
          </a:p>
        </c:txPr>
        <c:crossAx val="2094734552"/>
        <c:crosses val="autoZero"/>
        <c:auto val="1"/>
        <c:lblAlgn val="ctr"/>
        <c:noMultiLvlLbl val="1"/>
        <c:tickLblSkip val="1"/>
      </c:catAx>
      <c:valAx>
        <c:axId val="2094734552"/>
        <c:scaling>
          <c:orientation val="minMax"/>
          <c:max val="0.8"/>
          <c:min val="-0.2"/>
        </c:scaling>
        <c:delete val="0"/>
        <c:axPos val="l"/>
        <c:majorGridlines>
          <c:spPr>
            <a:ln w="9525" cap="flat">
              <a:solidFill>
                <a:srgbClr val="DDE2E8"/>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3A465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gap"/>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A4659"/>
                </a:solidFill>
                <a:latin typeface="+mn-lt"/>
              </a:defRPr>
            </a:pPr>
            <a:r>
              <a:rPr sz="1300" b="0" i="0" u="none" strike="noStrike">
                <a:solidFill>
                  <a:srgbClr val="3A4659"/>
                </a:solidFill>
                <a:latin typeface="+mn-lt"/>
              </a:rPr>
              <a:t>Macro-F1 by classifier (1 = perfect; no gold score for inflation down)</a:t>
            </a:r>
          </a:p>
        </c:rich>
      </c:tx>
      <c:layout/>
      <c:overlay val="0"/>
    </c:title>
    <c:autoTitleDeleted val="0"/>
    <c:plotArea>
      <c:layout/>
      <c:barChart>
        <c:barDir val="col"/>
        <c:grouping val="clustered"/>
        <c:varyColors val="0"/>
        <c:ser>
          <c:idx val="0"/>
          <c:order val="0"/>
          <c:tx>
            <c:strRef>
              <c:f>Sheet1!$B$1</c:f>
              <c:strCache>
                <c:ptCount val="1"/>
                <c:pt idx="0">
                  <c:v>Training labels (fit)</c:v>
                </c:pt>
              </c:strCache>
            </c:strRef>
          </c:tx>
          <c:spPr>
            <a:solidFill>
              <a:srgbClr val="7A8699"/>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Sheet1!$A$2:$A$8</c:f>
              <c:multiLvlStrCache>
                <c:ptCount val="7"/>
                <c:lvl>
                  <c:pt idx="0">
                    <c:v>relevance</c:v>
                  </c:pt>
                  <c:pt idx="1">
                    <c:v>tone</c:v>
                  </c:pt>
                  <c:pt idx="2">
                    <c:v>inflation up</c:v>
                  </c:pt>
                  <c:pt idx="3">
                    <c:v>inflation down</c:v>
                  </c:pt>
                  <c:pt idx="4">
                    <c:v>prices high</c:v>
                  </c:pt>
                  <c:pt idx="5">
                    <c:v>layoffs</c:v>
                  </c:pt>
                  <c:pt idx="6">
                    <c:v>hiring</c:v>
                  </c:pt>
                </c:lvl>
              </c:multiLvlStrCache>
            </c:multiLvlStrRef>
          </c:cat>
          <c:val>
            <c:numRef>
              <c:f>Sheet1!$B$2:$B$8</c:f>
              <c:numCache>
                <c:formatCode>General</c:formatCode>
                <c:ptCount val="7"/>
                <c:pt idx="0">
                  <c:v>0.96</c:v>
                </c:pt>
                <c:pt idx="1">
                  <c:v>0.94</c:v>
                </c:pt>
                <c:pt idx="2">
                  <c:v>0.86</c:v>
                </c:pt>
                <c:pt idx="3">
                  <c:v>0.92</c:v>
                </c:pt>
                <c:pt idx="4">
                  <c:v>0.94</c:v>
                </c:pt>
                <c:pt idx="5">
                  <c:v>0.91</c:v>
                </c:pt>
                <c:pt idx="6">
                  <c:v>0.92</c:v>
                </c:pt>
              </c:numCache>
            </c:numRef>
          </c:val>
        </c:ser>
        <c:ser>
          <c:idx val="1"/>
          <c:order val="1"/>
          <c:tx>
            <c:strRef>
              <c:f>Sheet1!$C$1</c:f>
              <c:strCache>
                <c:ptCount val="1"/>
                <c:pt idx="0">
                  <c:v>Unseen Opus labels (5-fold CV)</c:v>
                </c:pt>
              </c:strCache>
            </c:strRef>
          </c:tx>
          <c:spPr>
            <a:solidFill>
              <a:srgbClr val="3F6FB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Sheet1!$A$2:$A$8</c:f>
              <c:multiLvlStrCache>
                <c:ptCount val="7"/>
                <c:lvl>
                  <c:pt idx="0">
                    <c:v>relevance</c:v>
                  </c:pt>
                  <c:pt idx="1">
                    <c:v>tone</c:v>
                  </c:pt>
                  <c:pt idx="2">
                    <c:v>inflation up</c:v>
                  </c:pt>
                  <c:pt idx="3">
                    <c:v>inflation down</c:v>
                  </c:pt>
                  <c:pt idx="4">
                    <c:v>prices high</c:v>
                  </c:pt>
                  <c:pt idx="5">
                    <c:v>layoffs</c:v>
                  </c:pt>
                  <c:pt idx="6">
                    <c:v>hiring</c:v>
                  </c:pt>
                </c:lvl>
              </c:multiLvlStrCache>
            </c:multiLvlStrRef>
          </c:cat>
          <c:val>
            <c:numRef>
              <c:f>Sheet1!$C$2:$C$8</c:f>
              <c:numCache>
                <c:formatCode>General</c:formatCode>
                <c:ptCount val="7"/>
                <c:pt idx="0">
                  <c:v>0.81</c:v>
                </c:pt>
                <c:pt idx="1">
                  <c:v>0.59</c:v>
                </c:pt>
                <c:pt idx="2">
                  <c:v>0.75</c:v>
                </c:pt>
                <c:pt idx="3">
                  <c:v>0.71</c:v>
                </c:pt>
                <c:pt idx="4">
                  <c:v>0.85</c:v>
                </c:pt>
                <c:pt idx="5">
                  <c:v>0.79</c:v>
                </c:pt>
                <c:pt idx="6">
                  <c:v>0.82</c:v>
                </c:pt>
              </c:numCache>
            </c:numRef>
          </c:val>
        </c:ser>
        <c:ser>
          <c:idx val="2"/>
          <c:order val="2"/>
          <c:tx>
            <c:strRef>
              <c:f>Sheet1!$D$1</c:f>
              <c:strCache>
                <c:ptCount val="1"/>
                <c:pt idx="0">
                  <c:v>Gold labels (never trained on)</c:v>
                </c:pt>
              </c:strCache>
            </c:strRef>
          </c:tx>
          <c:spPr>
            <a:solidFill>
              <a:srgbClr val="D9822B"/>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Sheet1!$A$2:$A$8</c:f>
              <c:multiLvlStrCache>
                <c:ptCount val="7"/>
                <c:lvl>
                  <c:pt idx="0">
                    <c:v>relevance</c:v>
                  </c:pt>
                  <c:pt idx="1">
                    <c:v>tone</c:v>
                  </c:pt>
                  <c:pt idx="2">
                    <c:v>inflation up</c:v>
                  </c:pt>
                  <c:pt idx="3">
                    <c:v>inflation down</c:v>
                  </c:pt>
                  <c:pt idx="4">
                    <c:v>prices high</c:v>
                  </c:pt>
                  <c:pt idx="5">
                    <c:v>layoffs</c:v>
                  </c:pt>
                  <c:pt idx="6">
                    <c:v>hiring</c:v>
                  </c:pt>
                </c:lvl>
              </c:multiLvlStrCache>
            </c:multiLvlStrRef>
          </c:cat>
          <c:val>
            <c:numRef>
              <c:f>Sheet1!$D$2:$D$8</c:f>
              <c:numCache>
                <c:formatCode>General</c:formatCode>
                <c:ptCount val="7"/>
                <c:pt idx="0">
                  <c:v>0.84</c:v>
                </c:pt>
                <c:pt idx="1">
                  <c:v>0.61</c:v>
                </c:pt>
                <c:pt idx="2">
                  <c:v>0.88</c:v>
                </c:pt>
                <c:pt idx="3">
                  <c:v/>
                </c:pt>
                <c:pt idx="4">
                  <c:v>0.88</c:v>
                </c:pt>
                <c:pt idx="5">
                  <c:v>0.82</c:v>
                </c:pt>
                <c:pt idx="6">
                  <c:v>0.81</c:v>
                </c:pt>
              </c:numCache>
            </c:numRef>
          </c:val>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659"/>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DDE2E8"/>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3A465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Michigan consumer sentiment hit a record low of 44.8 in May 2026, lower than in 2008 or 2022, while unemployment sat near 4.2 percent and the economy kept growing. So why the disconnect? The brief gives three explanations: real pressures the headline numbers miss, perceptions shaped by the news, or a measurement problem. My answer: the gap is real and huge, the news explains about one point of it, and most of the rest stays unexplained unless the model learns from 2021 to 2025. I will end with what that means for forecasters.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how big is the gap? I fit sentiment on unemployment, headline PCE inflation and GDP growth over 2010 to 2019, using only data published by mid-month, and predicted forward. In 2026 the model expects about 91; actual sentiment averaged 51. So the gap, actual minus predicted, is minus 39.9 index points, where a normal year stays within about five. Of the 45-point fall since 2019, these three indicators explain only 16 percent, and the gap holds with CPI, core PCE or revised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gives three candidate explanations, and I did not want to pick a favourite after seeing the data. So before any test I wrote down the bar each one had to clear. H1, household pressures: costs must close half the gap. H2, media and perceptions: news must pass a six-gate test and improve forecasts. H3, measurement: survey method or revisions must account for a quarter of the gap, or the 2010s model must prove unstable. By those rules H1 fails, and H2 and H3 are partly supported.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how to measure the news. To turn news into numbers, every headline needs a score: is it about the economy, that is relevance, and does it describe things getting worse or better, that is tone. I compared four ways of scoring against a 450-headline answer key built by two other Claude models plus my corrections. Claude Opus scores 0.89 on tone; a classic finance word list scores 0.40, because it cannot read context. Opus could only score about 9,400 items within the usage limit, so I trained a simple classifier, TF-IDF plus logistic regression, on its labels. That classifier, Tier C, scored all 125,440 economic headlines; it is good on relevance, noisier on 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RQ1: is the coverage biased? Fair coverage reacts to good news as strongly as to bad, so the bars would be mirror images. For inflation they are not: net negativity rises after inflation goes up and rises again after it comes down; p is 0.002. Unemployment and jobs-report days show no detectable gap. By source, against center outlets in the same month, right-leaning outlets run 16 points darker under Democratic presidents and 6 under Republican ones, and Reddit is darker under Republicans. So the bias is specific: news stays dark when inflation cools, and partisan outlets are darkest in opposition.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RQ2: does negative news pull sentiment down? I fitted one model with the economy, six household costs and news tone, then assumed the link is fully causal, the most generous case for the media. Each percentage point darker news then lowers sentiment about 0.06 points. The news got 16 points darker since 2019: about one point of the 40, at most 2.4, and with Reddit at most about 3. Leaving out household costs, which move with the news, gives at most about 5, about 6 with Reddit. Either way it is small, and in the SF Fed news index mood moves first. In the same model, household costs account for about 19 points, mostly housing: they absorb most of the news effect, because the news mostly reports those pressures.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RQ4: which mental shortcuts can the data see? Three. Negativity bias: a 1-point rise in inflation lowers sentiment about 6 points, but a 1-point fall does not lift it. The price level: the share worse off because of higher prices went from 7 percent in 2019 to about half. It follows the teal line, prices about 14 percent above their 2010s path, not the gray line, inflation, which is back near 3 percent. And party: after the 2024 election Democrats fell 22 points and Republicans rose 32 in two months, with the economy flat. What I cannot see is any one reader's bias.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RQ5: does news help forecast sentiment? I re-fit each model every month on past data only and forecast 107 months from 2017. The economy alone misses by 13.5 points on average; adding news tone gets that to 13.1, a borderline gain with p of 0.053. Adding household costs instead gets it to 9.2, a third smaller. March 2026 shows it: actual sentiment was 53.3, the fixed 2010s model said 90, and the updating models said 71 to 76. News moved the forecast 2.8 points the right way and household costs 4.4, but every model was still far too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RQ6: what would sink the media story? I wrote seven falsifiers in advance. One holds clearly: what people recall about bad price news fits the economy better than coverage. Two hold partly, three do not, but those mostly rule out rival explanations, and one cannot be settled. The gap is also broad: every income, age and region group is 33 to 45 points below its model, not just readers of negative outlets.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explains the gap? The economy explains about 7 of the 45-point fall since 2019, which leaves the 40-point gap. The brief asks for an out-of-sample gap, so I subtract only what needs no model: Michigan's switch to web interviews, 6.6 points, and the changing party mix of respondents, about 5. That leaves about 29. I then test the suspects fairly: each is added to a model trained on 1978 to 2019, with credit averaged over every order. Only borrowing costs help, about 5 points; the price level is about zero and inflation memory pulls the other way, because in the 1980s people forgave inflation once it fell. Partisan mood is at most about 10: Republicans, in power both times, still fell 30.5 points. So under the strict rule about 27 points stay unexplained pessimism.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Exploratory: what if the model also learns from 2021 to 2025? It still predicts 2026 out of sample, but now it expects 74.4 instead of 91, so the gap falls from 40 to 23 points. Adding each piece to this model in turn, the web switch fills about 6, the party mix about 5, household costs about 2 and news almost nothing, since inflation and household costs already carry what the news reports. The last 10.5 points are covered by the suspects in the same fair test: inflation memory about 6, the price level about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one practical implication: do not read the record low as a spending signal on its own. In this sample neither sentiment nor the gap predicted real consumer spending one to three months ahead, which fits research showing partisan pessimism does not reach the wallet; it is a null with modest power. In a spending forecast or a consumer-credit model, put household-cost data in before news tone. The main limitations: the answer key is models plus my corrections, I used headlines only, and the media evidence is observational.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one practical implication: do not read the record low as a spending signal on its own. In this sample neither sentiment nor the gap predicted real consumer spending one to three months ahead, which fits research showing partisan pessimism does not reach the wallet; it is a null with modest power. In a spending forecast or a consumer-credit model, put household-cost data in before news tone. The main limitations: the answer key is models plus my corrections, I used headlines only, and the media evidence is observational.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extra question I added after the main results: does Reddit move sentiment the way RQ2 asks of news? Tier C scored all 50,926 Reddit posts I collected. Reddit tone shows no detectable link to sentiment; the sign even flips once household costs are in, and even taken as causal it is at most about 0.4 of the 40 points. The caveat: it was not pre-registered, and Tier C reads Reddit tone poorly, which pulls any link toward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for questions. These checks did not make the main story but support it. Sentiment and the gap do not forecast spending. People's recall of price news tracks coverage, but recall moves first. The coder passed every minimal pair, swapping party names changes tone no more than a meaningless edit, and re-labelling gives the same tone. Jobs-day headlines turn negative only after real rises in unemployment. The survey's web switch, the changing party mix, election timing and six ways of measuring the economy all leave most of the gap in place. The forecast grid's 6 of 6 is weak evidence because shifted news also wins, and fixing a look-ahead in Tier C moved the news forecast p from 0.037 to 0.053.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Tier C is a TF-IDF plus logistic regression classifier. Input: the text of one headline or post. Output: a label. It learned from 8,173 items Opus had labelled; the 450 gold items were never used. On its own training labels it scores 0.86 to 0.96, so the training error is low. On items it has not seen it scores 0.59 to 0.85 in cross-validation and 0.61 to 0.88 on the gold set: good on relevance and topics, weakest on tone. More labels help. And by quarter its net negativity correlates 0.64 with Opus's own series, so it gives the same answer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It shows the order of the work: the brief, a plan that was checked and pre-registered before any data, real-time economic data and the media corpus, the AI measurement and Tier C, the tests behind each research question, the deliverables, a checking round by fresh reviewers whose fixes were logged and rebuilt, and then the answer key that grades the coder: Sonnet and Haiku labelled every item separately, I corrected labels I disagreed with in both, and Fable settled the items where they still differed. The answer key only grades the coder, so it could not shape the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1069848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383280"/>
            <a:ext cx="10698480" cy="18288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HANKS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30936" y="2441448"/>
            <a:ext cx="1069848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indent="0" marL="0">
              <a:buNone/>
              <a:defRPr lang="en-US" sz="2800" b="1" dirty="0">
                <a:solidFill>
                  <a:schemeClr val="tx1"/>
                </a:solidFill>
              </a:defRPr>
            </a:lvl1pPr>
          </a:lstStyle>
          <a:p>
            <a:pPr indent="0" marL="0">
              <a:buNone/>
            </a:pPr>
            <a:endParaRPr lang="en-US" sz="28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FRE-GY 7871 Final Project · Aditya Gupta · data to Oct 12,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chart" Target="/ppt/charts/chart5.xml"/><Relationship Id="rId4" Type="http://schemas.openxmlformats.org/officeDocument/2006/relationships/chart" Target="/ppt/charts/chart6.xml"/><Relationship Id="rId5" Type="http://schemas.openxmlformats.org/officeDocument/2006/relationships/chart" Target="/ppt/charts/chart7.xml"/><Relationship Id="rId6" Type="http://schemas.openxmlformats.org/officeDocument/2006/relationships/slideLayout" Target="../slideLayouts/slideLayout4.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chart" Target="/ppt/charts/chart10.xml"/><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10698480" cy="1737360"/>
          </a:xfrm>
          <a:prstGeom prst="rect">
            <a:avLst/>
          </a:prstGeom>
          <a:noFill/>
          <a:ln/>
        </p:spPr>
        <p:txBody>
          <a:bodyPr wrap="square" lIns="0" tIns="0" rIns="0" bIns="0" rtlCol="0" anchor="b"/>
          <a:lstStyle/>
          <a:p>
            <a:pPr algn="l" indent="0" marL="0">
              <a:buNone/>
            </a:pPr>
            <a:r>
              <a:rPr lang="en-US" sz="4400" b="1" dirty="0">
                <a:solidFill>
                  <a:schemeClr val="bg1"/>
                </a:solidFill>
              </a:rPr>
              <a:t>Deciphering the disconnect</a:t>
            </a:r>
            <a:endParaRPr lang="en-US" sz="4400" dirty="0"/>
          </a:p>
          <a:p>
            <a:pPr algn="l" indent="0" marL="0">
              <a:buNone/>
            </a:pPr>
            <a:r>
              <a:rPr lang="en-US" sz="4400" b="1" dirty="0">
                <a:solidFill>
                  <a:schemeClr val="bg1"/>
                </a:solidFill>
              </a:rPr>
              <a:t>between economic data</a:t>
            </a:r>
            <a:endParaRPr lang="en-US" sz="4400" dirty="0"/>
          </a:p>
          <a:p>
            <a:pPr algn="l" indent="0" marL="0">
              <a:buNone/>
            </a:pPr>
            <a:r>
              <a:rPr lang="en-US" sz="4400" b="1" dirty="0">
                <a:solidFill>
                  <a:schemeClr val="bg1"/>
                </a:solidFill>
              </a:rPr>
              <a:t>and the mood of American Consumers</a:t>
            </a:r>
            <a:endParaRPr lang="en-US" sz="4400" dirty="0"/>
          </a:p>
        </p:txBody>
      </p:sp>
      <p:sp>
        <p:nvSpPr>
          <p:cNvPr id="3" name="Text 0"/>
          <p:cNvSpPr/>
          <p:nvPr>
            <p:ph idx="101" type="body" hasCustomPrompt="1"/>
          </p:nvPr>
        </p:nvSpPr>
        <p:spPr>
          <a:xfrm>
            <a:off x="731520" y="3383280"/>
            <a:ext cx="10698480" cy="1828800"/>
          </a:xfrm>
          <a:prstGeom prst="rect">
            <a:avLst/>
          </a:prstGeom>
          <a:noFill/>
          <a:ln/>
        </p:spPr>
        <p:txBody>
          <a:bodyPr wrap="square" lIns="0" tIns="0" rIns="0" bIns="0" rtlCol="0" anchor="t"/>
          <a:lstStyle/>
          <a:p>
            <a:pPr indent="0" marL="0">
              <a:buNone/>
            </a:pPr>
            <a:r>
              <a:rPr lang="en-US" sz="2000" dirty="0">
                <a:solidFill>
                  <a:schemeClr val="bg2"/>
                </a:solidFill>
              </a:rPr>
              <a:t>AI-measured news, Michigan sentiment and the economy before the 2026 midterms</a:t>
            </a:r>
            <a:endParaRPr lang="en-US" sz="2000" dirty="0"/>
          </a:p>
          <a:p>
            <a:pPr indent="0" marL="0">
              <a:buNone/>
            </a:pPr>
            <a:endParaRPr lang="en-US" sz="2000" dirty="0"/>
          </a:p>
          <a:p>
            <a:pPr indent="0" marL="0">
              <a:buNone/>
            </a:pPr>
            <a:endParaRPr lang="en-US" sz="2000" dirty="0"/>
          </a:p>
          <a:p>
            <a:pPr indent="0" marL="0">
              <a:buNone/>
            </a:pPr>
            <a:endParaRPr lang="en-US" sz="2000" dirty="0"/>
          </a:p>
          <a:p>
            <a:pPr indent="0" marL="0">
              <a:buNone/>
            </a:pPr>
            <a:endParaRPr lang="en-US" sz="2000" dirty="0"/>
          </a:p>
          <a:p>
            <a:pPr indent="0" marL="0">
              <a:buNone/>
            </a:pPr>
            <a:r>
              <a:rPr lang="en-US" sz="1600" dirty="0">
                <a:solidFill>
                  <a:schemeClr val="bg2"/>
                </a:solidFill>
              </a:rPr>
              <a:t>Aditya Gupta</a:t>
            </a:r>
            <a:endParaRPr lang="en-US" sz="2000" dirty="0"/>
          </a:p>
          <a:p>
            <a:pPr indent="0" marL="0">
              <a:buNone/>
            </a:pPr>
            <a:r>
              <a:rPr lang="en-US" sz="1600" dirty="0">
                <a:solidFill>
                  <a:schemeClr val="bg2"/>
                </a:solidFill>
              </a:rPr>
              <a:t>FRE-GY 7871 NLP and the Investment Process</a:t>
            </a:r>
            <a:endParaRPr lang="en-US" sz="2000" dirty="0"/>
          </a:p>
          <a:p>
            <a:pPr indent="0" marL="0">
              <a:buNone/>
            </a:pPr>
            <a:r>
              <a:rPr lang="en-US" sz="1600" dirty="0">
                <a:solidFill>
                  <a:schemeClr val="bg2"/>
                </a:solidFill>
              </a:rPr>
              <a:t>Final Project</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2800" b="1" dirty="0">
                <a:solidFill>
                  <a:schemeClr val="tx1"/>
                </a:solidFill>
              </a:rPr>
              <a:t>The Gap : Sentiment is 40 points below what the economy predicts</a:t>
            </a:r>
            <a:endParaRPr lang="en-US" sz="2800" dirty="0"/>
          </a:p>
        </p:txBody>
      </p:sp>
      <p:graphicFrame>
        <p:nvGraphicFramePr>
          <p:cNvPr id="3" name="gap_chart" descr=""/>
          <p:cNvGraphicFramePr/>
          <p:nvPr/>
        </p:nvGraphicFramePr>
        <p:xfrm>
          <a:off x="548640" y="1325880"/>
          <a:ext cx="7406640" cy="4251960"/>
        </p:xfrm>
        <a:graphic xmlns:a="http://schemas.openxmlformats.org/drawingml/2006/main">
          <a:graphicData uri="http://schemas.openxmlformats.org/drawingml/2006/chart">
            <c:chart xmlns:c="http://schemas.openxmlformats.org/drawingml/2006/chart" r:id="rId1"/>
          </a:graphicData>
        </a:graphic>
      </p:graphicFrame>
      <p:sp>
        <p:nvSpPr>
          <p:cNvPr id="4" name="gap_0_value"/>
          <p:cNvSpPr txBox="1"/>
          <p:nvPr/>
        </p:nvSpPr>
        <p:spPr>
          <a:xfrm>
            <a:off x="8412480" y="1417320"/>
            <a:ext cx="3291840" cy="685800"/>
          </a:xfrm>
          <a:prstGeom prst="rect">
            <a:avLst/>
          </a:prstGeom>
          <a:noFill/>
          <a:ln/>
        </p:spPr>
        <p:txBody>
          <a:bodyPr wrap="square" lIns="0" tIns="0" rIns="0" bIns="0" rtlCol="0" anchor="ctr"/>
          <a:lstStyle/>
          <a:p>
            <a:pPr indent="0" marL="0">
              <a:buNone/>
            </a:pPr>
            <a:r>
              <a:rPr lang="en-US" sz="3600" b="1" dirty="0">
                <a:solidFill>
                  <a:schemeClr val="accent3"/>
                </a:solidFill>
                <a:latin typeface="Cambria" pitchFamily="34" charset="0"/>
                <a:ea typeface="Cambria" pitchFamily="34" charset="-122"/>
                <a:cs typeface="Cambria" pitchFamily="34" charset="-120"/>
              </a:rPr>
              <a:t>−39.9</a:t>
            </a:r>
            <a:endParaRPr lang="en-US" sz="3600" dirty="0"/>
          </a:p>
        </p:txBody>
      </p:sp>
      <p:sp>
        <p:nvSpPr>
          <p:cNvPr id="5" name="gap_0_label"/>
          <p:cNvSpPr txBox="1"/>
          <p:nvPr/>
        </p:nvSpPr>
        <p:spPr>
          <a:xfrm>
            <a:off x="8412480" y="2103120"/>
            <a:ext cx="3291840" cy="685800"/>
          </a:xfrm>
          <a:prstGeom prst="rect">
            <a:avLst/>
          </a:prstGeom>
          <a:noFill/>
          <a:ln/>
        </p:spPr>
        <p:txBody>
          <a:bodyPr wrap="square" lIns="0" tIns="0" rIns="0" bIns="0" rtlCol="0" anchor="t"/>
          <a:lstStyle/>
          <a:p>
            <a:pPr indent="0" marL="0">
              <a:buNone/>
            </a:pPr>
            <a:r>
              <a:rPr lang="en-US" sz="1300" dirty="0">
                <a:solidFill>
                  <a:schemeClr val="tx2"/>
                </a:solidFill>
              </a:rPr>
              <a:t>index points: 2026 average gap, actual ICS minus the model (a normal year: −5.6 to +5.2)</a:t>
            </a:r>
            <a:endParaRPr lang="en-US" sz="1300" dirty="0"/>
          </a:p>
        </p:txBody>
      </p:sp>
      <p:sp>
        <p:nvSpPr>
          <p:cNvPr id="6" name="gap_1_value"/>
          <p:cNvSpPr txBox="1"/>
          <p:nvPr/>
        </p:nvSpPr>
        <p:spPr>
          <a:xfrm>
            <a:off x="8412480" y="2852928"/>
            <a:ext cx="3291840" cy="685800"/>
          </a:xfrm>
          <a:prstGeom prst="rect">
            <a:avLst/>
          </a:prstGeom>
          <a:noFill/>
          <a:ln/>
        </p:spPr>
        <p:txBody>
          <a:bodyPr wrap="square" lIns="0" tIns="0" rIns="0" bIns="0" rtlCol="0" anchor="ctr"/>
          <a:lstStyle/>
          <a:p>
            <a:pPr indent="0" marL="0">
              <a:buNone/>
            </a:pPr>
            <a:r>
              <a:rPr lang="en-US" sz="3600" b="1" dirty="0">
                <a:solidFill>
                  <a:schemeClr val="accent2"/>
                </a:solidFill>
                <a:latin typeface="Cambria" pitchFamily="34" charset="0"/>
                <a:ea typeface="Cambria" pitchFamily="34" charset="-122"/>
                <a:cs typeface="Cambria" pitchFamily="34" charset="-120"/>
              </a:rPr>
              <a:t>16%</a:t>
            </a:r>
            <a:endParaRPr lang="en-US" sz="3600" dirty="0"/>
          </a:p>
        </p:txBody>
      </p:sp>
      <p:sp>
        <p:nvSpPr>
          <p:cNvPr id="7" name="gap_1_label"/>
          <p:cNvSpPr txBox="1"/>
          <p:nvPr/>
        </p:nvSpPr>
        <p:spPr>
          <a:xfrm>
            <a:off x="8412480" y="3538728"/>
            <a:ext cx="3291840" cy="685800"/>
          </a:xfrm>
          <a:prstGeom prst="rect">
            <a:avLst/>
          </a:prstGeom>
          <a:noFill/>
          <a:ln/>
        </p:spPr>
        <p:txBody>
          <a:bodyPr wrap="square" lIns="0" tIns="0" rIns="0" bIns="0" rtlCol="0" anchor="t"/>
          <a:lstStyle/>
          <a:p>
            <a:pPr indent="0" marL="0">
              <a:buNone/>
            </a:pPr>
            <a:r>
              <a:rPr lang="en-US" sz="1300" dirty="0">
                <a:solidFill>
                  <a:schemeClr val="tx2"/>
                </a:solidFill>
              </a:rPr>
              <a:t>of the 44.8-point fall in ICS from 2019 to 2026 is explained by the three indicators</a:t>
            </a:r>
            <a:endParaRPr lang="en-US" sz="1300" dirty="0"/>
          </a:p>
        </p:txBody>
      </p:sp>
      <p:sp>
        <p:nvSpPr>
          <p:cNvPr id="8" name="gap_2_value"/>
          <p:cNvSpPr txBox="1"/>
          <p:nvPr/>
        </p:nvSpPr>
        <p:spPr>
          <a:xfrm>
            <a:off x="8412480" y="4288536"/>
            <a:ext cx="3291840"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44.8</a:t>
            </a:r>
            <a:endParaRPr lang="en-US" sz="3600" dirty="0"/>
          </a:p>
        </p:txBody>
      </p:sp>
      <p:sp>
        <p:nvSpPr>
          <p:cNvPr id="9" name="gap_2_label"/>
          <p:cNvSpPr txBox="1"/>
          <p:nvPr/>
        </p:nvSpPr>
        <p:spPr>
          <a:xfrm>
            <a:off x="8412480" y="4974336"/>
            <a:ext cx="3291840" cy="685800"/>
          </a:xfrm>
          <a:prstGeom prst="rect">
            <a:avLst/>
          </a:prstGeom>
          <a:noFill/>
          <a:ln/>
        </p:spPr>
        <p:txBody>
          <a:bodyPr wrap="square" lIns="0" tIns="0" rIns="0" bIns="0" rtlCol="0" anchor="t"/>
          <a:lstStyle/>
          <a:p>
            <a:pPr indent="0" marL="0">
              <a:buNone/>
            </a:pPr>
            <a:r>
              <a:rPr lang="en-US" sz="1300" dirty="0">
                <a:solidFill>
                  <a:schemeClr val="tx2"/>
                </a:solidFill>
              </a:rPr>
              <a:t>ICS in May 2026, the lowest reading on record</a:t>
            </a:r>
            <a:endParaRPr lang="en-US" sz="1300" dirty="0"/>
          </a:p>
        </p:txBody>
      </p:sp>
      <p:sp>
        <p:nvSpPr>
          <p:cNvPr id="10" name="takeaway_box"/>
          <p:cNvSpPr/>
          <p:nvPr/>
        </p:nvSpPr>
        <p:spPr>
          <a:xfrm>
            <a:off x="548640" y="5742432"/>
            <a:ext cx="11064240" cy="548640"/>
          </a:xfrm>
          <a:prstGeom prst="roundRect">
            <a:avLst>
              <a:gd name="adj" fmla="val 13333"/>
            </a:avLst>
          </a:prstGeom>
          <a:solidFill>
            <a:schemeClr val="bg2"/>
          </a:solidFill>
          <a:ln w="12700">
            <a:solidFill>
              <a:schemeClr val="bg2"/>
            </a:solidFill>
            <a:prstDash val="solid"/>
          </a:ln>
        </p:spPr>
      </p:sp>
      <p:sp>
        <p:nvSpPr>
          <p:cNvPr id="11" name="takeaway"/>
          <p:cNvSpPr txBox="1"/>
          <p:nvPr/>
        </p:nvSpPr>
        <p:spPr>
          <a:xfrm>
            <a:off x="777240" y="5742432"/>
            <a:ext cx="10698480" cy="548640"/>
          </a:xfrm>
          <a:prstGeom prst="rect">
            <a:avLst/>
          </a:prstGeom>
          <a:noFill/>
          <a:ln/>
        </p:spPr>
        <p:txBody>
          <a:bodyPr wrap="square" lIns="0" tIns="0" rIns="0" bIns="0" rtlCol="0" anchor="ctr"/>
          <a:lstStyle/>
          <a:p>
            <a:pPr indent="0" marL="0">
              <a:buNone/>
            </a:pPr>
            <a:r>
              <a:rPr lang="en-US" sz="1500" b="1" dirty="0">
                <a:solidFill>
                  <a:schemeClr val="accent1"/>
                </a:solidFill>
              </a:rPr>
              <a:t>Takeaway   </a:t>
            </a:r>
            <a:pPr indent="0" marL="0">
              <a:buNone/>
            </a:pPr>
            <a:r>
              <a:rPr lang="en-US" sz="1500" dirty="0">
                <a:solidFill>
                  <a:schemeClr val="tx1"/>
                </a:solidFill>
              </a:rPr>
              <a:t>The economy explains about a sixth of the slump; the other five-sixths needs another explanation.</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2800" b="1" dirty="0">
                <a:solidFill>
                  <a:schemeClr val="tx1"/>
                </a:solidFill>
              </a:rPr>
              <a:t>The Approach : Which of three explanations can fill the gap?</a:t>
            </a:r>
            <a:endParaRPr lang="en-US" sz="2800" dirty="0"/>
          </a:p>
        </p:txBody>
      </p:sp>
      <p:sp>
        <p:nvSpPr>
          <p:cNvPr id="3" name="card_H1"/>
          <p:cNvSpPr/>
          <p:nvPr/>
        </p:nvSpPr>
        <p:spPr>
          <a:xfrm>
            <a:off x="548640" y="1371600"/>
            <a:ext cx="3520440" cy="4206240"/>
          </a:xfrm>
          <a:prstGeom prst="roundRect">
            <a:avLst>
              <a:gd name="adj" fmla="val 3117"/>
            </a:avLst>
          </a:prstGeom>
          <a:solidFill>
            <a:schemeClr val="bg2"/>
          </a:solidFill>
          <a:ln w="12700">
            <a:solidFill>
              <a:schemeClr val="bg2"/>
            </a:solidFill>
            <a:prstDash val="solid"/>
          </a:ln>
        </p:spPr>
      </p:sp>
      <p:sp>
        <p:nvSpPr>
          <p:cNvPr id="4" name="card_H1_circle"/>
          <p:cNvSpPr/>
          <p:nvPr/>
        </p:nvSpPr>
        <p:spPr>
          <a:xfrm>
            <a:off x="822960" y="1600200"/>
            <a:ext cx="777240" cy="777240"/>
          </a:xfrm>
          <a:prstGeom prst="ellipse">
            <a:avLst/>
          </a:prstGeom>
          <a:solidFill>
            <a:schemeClr val="accent1"/>
          </a:solidFill>
          <a:ln w="12700">
            <a:solidFill>
              <a:schemeClr val="accent1"/>
            </a:solidFill>
            <a:prstDash val="solid"/>
          </a:ln>
        </p:spPr>
      </p:sp>
      <p:sp>
        <p:nvSpPr>
          <p:cNvPr id="5" name="card_H1_tag"/>
          <p:cNvSpPr txBox="1"/>
          <p:nvPr/>
        </p:nvSpPr>
        <p:spPr>
          <a:xfrm>
            <a:off x="822960" y="1600200"/>
            <a:ext cx="777240" cy="777240"/>
          </a:xfrm>
          <a:prstGeom prst="rect">
            <a:avLst/>
          </a:prstGeom>
          <a:noFill/>
          <a:ln/>
        </p:spPr>
        <p:txBody>
          <a:bodyPr wrap="square" lIns="0" tIns="0" rIns="0" bIns="0" rtlCol="0" anchor="ctr"/>
          <a:lstStyle/>
          <a:p>
            <a:pPr algn="ctr" indent="0" marL="0">
              <a:buNone/>
            </a:pPr>
            <a:r>
              <a:rPr lang="en-US" sz="2000" b="1" dirty="0">
                <a:solidFill>
                  <a:schemeClr val="bg1"/>
                </a:solidFill>
              </a:rPr>
              <a:t>H1</a:t>
            </a:r>
            <a:endParaRPr lang="en-US" sz="2000" dirty="0"/>
          </a:p>
        </p:txBody>
      </p:sp>
      <p:sp>
        <p:nvSpPr>
          <p:cNvPr id="6" name="card_H1_head"/>
          <p:cNvSpPr txBox="1"/>
          <p:nvPr/>
        </p:nvSpPr>
        <p:spPr>
          <a:xfrm>
            <a:off x="1737360" y="1600200"/>
            <a:ext cx="2194560" cy="777240"/>
          </a:xfrm>
          <a:prstGeom prst="rect">
            <a:avLst/>
          </a:prstGeom>
          <a:noFill/>
          <a:ln/>
        </p:spPr>
        <p:txBody>
          <a:bodyPr wrap="square" lIns="0" tIns="0" rIns="0" bIns="0" rtlCol="0" anchor="ctr"/>
          <a:lstStyle/>
          <a:p>
            <a:pPr indent="0" marL="0">
              <a:buNone/>
            </a:pPr>
            <a:r>
              <a:rPr lang="en-US" sz="2000" b="1" dirty="0">
                <a:solidFill>
                  <a:schemeClr val="tx1"/>
                </a:solidFill>
              </a:rPr>
              <a:t>Household pressures</a:t>
            </a:r>
            <a:endParaRPr lang="en-US" sz="2000" dirty="0"/>
          </a:p>
        </p:txBody>
      </p:sp>
      <p:sp>
        <p:nvSpPr>
          <p:cNvPr id="7" name="card_H1_what"/>
          <p:cNvSpPr txBox="1"/>
          <p:nvPr/>
        </p:nvSpPr>
        <p:spPr>
          <a:xfrm>
            <a:off x="822960" y="2560320"/>
            <a:ext cx="3017520" cy="914400"/>
          </a:xfrm>
          <a:prstGeom prst="rect">
            <a:avLst/>
          </a:prstGeom>
          <a:noFill/>
          <a:ln/>
        </p:spPr>
        <p:txBody>
          <a:bodyPr wrap="square" lIns="0" tIns="0" rIns="0" bIns="0" rtlCol="0" anchor="t"/>
          <a:lstStyle/>
          <a:p>
            <a:pPr indent="0" marL="0">
              <a:buNone/>
            </a:pPr>
            <a:r>
              <a:rPr lang="en-US" sz="1500" dirty="0">
                <a:solidFill>
                  <a:schemeClr val="tx2"/>
                </a:solidFill>
              </a:rPr>
              <a:t>Price level, borrowing costs, real income, housing</a:t>
            </a:r>
            <a:endParaRPr lang="en-US" sz="1500" dirty="0"/>
          </a:p>
        </p:txBody>
      </p:sp>
      <p:sp>
        <p:nvSpPr>
          <p:cNvPr id="8" name="card_H1_verdict"/>
          <p:cNvSpPr txBox="1"/>
          <p:nvPr/>
        </p:nvSpPr>
        <p:spPr>
          <a:xfrm>
            <a:off x="822960" y="3566160"/>
            <a:ext cx="3017520" cy="1920240"/>
          </a:xfrm>
          <a:prstGeom prst="rect">
            <a:avLst/>
          </a:prstGeom>
          <a:noFill/>
          <a:ln/>
        </p:spPr>
        <p:txBody>
          <a:bodyPr wrap="square" lIns="0" tIns="0" rIns="0" bIns="0" rtlCol="0" anchor="t"/>
          <a:lstStyle/>
          <a:p>
            <a:pPr indent="0" marL="0">
              <a:buNone/>
            </a:pPr>
            <a:r>
              <a:rPr lang="en-US" sz="1500" b="1" dirty="0">
                <a:solidFill>
                  <a:schemeClr val="tx1"/>
                </a:solidFill>
              </a:rPr>
              <a:t>Household costs close -8% of the 2026 gap in the 2010-19 model (they widen it) and 6% in 1992-2019</a:t>
            </a:r>
            <a:endParaRPr lang="en-US" sz="1500" dirty="0"/>
          </a:p>
        </p:txBody>
      </p:sp>
      <p:sp>
        <p:nvSpPr>
          <p:cNvPr id="9" name="card_H2"/>
          <p:cNvSpPr/>
          <p:nvPr/>
        </p:nvSpPr>
        <p:spPr>
          <a:xfrm>
            <a:off x="4343400" y="1371600"/>
            <a:ext cx="3520440" cy="4206240"/>
          </a:xfrm>
          <a:prstGeom prst="roundRect">
            <a:avLst>
              <a:gd name="adj" fmla="val 3117"/>
            </a:avLst>
          </a:prstGeom>
          <a:solidFill>
            <a:schemeClr val="bg2"/>
          </a:solidFill>
          <a:ln w="12700">
            <a:solidFill>
              <a:schemeClr val="bg2"/>
            </a:solidFill>
            <a:prstDash val="solid"/>
          </a:ln>
        </p:spPr>
      </p:sp>
      <p:sp>
        <p:nvSpPr>
          <p:cNvPr id="10" name="card_H2_circle"/>
          <p:cNvSpPr/>
          <p:nvPr/>
        </p:nvSpPr>
        <p:spPr>
          <a:xfrm>
            <a:off x="4617720" y="1600200"/>
            <a:ext cx="777240" cy="777240"/>
          </a:xfrm>
          <a:prstGeom prst="ellipse">
            <a:avLst/>
          </a:prstGeom>
          <a:solidFill>
            <a:schemeClr val="accent3"/>
          </a:solidFill>
          <a:ln w="12700">
            <a:solidFill>
              <a:schemeClr val="accent3"/>
            </a:solidFill>
            <a:prstDash val="solid"/>
          </a:ln>
        </p:spPr>
      </p:sp>
      <p:sp>
        <p:nvSpPr>
          <p:cNvPr id="11" name="card_H2_tag"/>
          <p:cNvSpPr txBox="1"/>
          <p:nvPr/>
        </p:nvSpPr>
        <p:spPr>
          <a:xfrm>
            <a:off x="4617720" y="1600200"/>
            <a:ext cx="777240" cy="777240"/>
          </a:xfrm>
          <a:prstGeom prst="rect">
            <a:avLst/>
          </a:prstGeom>
          <a:noFill/>
          <a:ln/>
        </p:spPr>
        <p:txBody>
          <a:bodyPr wrap="square" lIns="0" tIns="0" rIns="0" bIns="0" rtlCol="0" anchor="ctr"/>
          <a:lstStyle/>
          <a:p>
            <a:pPr algn="ctr" indent="0" marL="0">
              <a:buNone/>
            </a:pPr>
            <a:r>
              <a:rPr lang="en-US" sz="2000" b="1" dirty="0">
                <a:solidFill>
                  <a:schemeClr val="bg1"/>
                </a:solidFill>
              </a:rPr>
              <a:t>H2</a:t>
            </a:r>
            <a:endParaRPr lang="en-US" sz="2000" dirty="0"/>
          </a:p>
        </p:txBody>
      </p:sp>
      <p:sp>
        <p:nvSpPr>
          <p:cNvPr id="12" name="card_H2_head"/>
          <p:cNvSpPr txBox="1"/>
          <p:nvPr/>
        </p:nvSpPr>
        <p:spPr>
          <a:xfrm>
            <a:off x="5532120" y="1600200"/>
            <a:ext cx="2194560" cy="777240"/>
          </a:xfrm>
          <a:prstGeom prst="rect">
            <a:avLst/>
          </a:prstGeom>
          <a:noFill/>
          <a:ln/>
        </p:spPr>
        <p:txBody>
          <a:bodyPr wrap="square" lIns="0" tIns="0" rIns="0" bIns="0" rtlCol="0" anchor="ctr"/>
          <a:lstStyle/>
          <a:p>
            <a:pPr indent="0" marL="0">
              <a:buNone/>
            </a:pPr>
            <a:r>
              <a:rPr lang="en-US" sz="2000" b="1" dirty="0">
                <a:solidFill>
                  <a:schemeClr val="tx1"/>
                </a:solidFill>
              </a:rPr>
              <a:t>Perceptions and media</a:t>
            </a:r>
            <a:endParaRPr lang="en-US" sz="2000" dirty="0"/>
          </a:p>
        </p:txBody>
      </p:sp>
      <p:sp>
        <p:nvSpPr>
          <p:cNvPr id="13" name="card_H2_what"/>
          <p:cNvSpPr txBox="1"/>
          <p:nvPr/>
        </p:nvSpPr>
        <p:spPr>
          <a:xfrm>
            <a:off x="4617720" y="2560320"/>
            <a:ext cx="3017520" cy="914400"/>
          </a:xfrm>
          <a:prstGeom prst="rect">
            <a:avLst/>
          </a:prstGeom>
          <a:noFill/>
          <a:ln/>
        </p:spPr>
        <p:txBody>
          <a:bodyPr wrap="square" lIns="0" tIns="0" rIns="0" bIns="0" rtlCol="0" anchor="t"/>
          <a:lstStyle/>
          <a:p>
            <a:pPr indent="0" marL="0">
              <a:buNone/>
            </a:pPr>
            <a:r>
              <a:rPr lang="en-US" sz="1500" dirty="0">
                <a:solidFill>
                  <a:schemeClr val="tx2"/>
                </a:solidFill>
              </a:rPr>
              <a:t>Negative, selective or framed coverage; partisan filters</a:t>
            </a:r>
            <a:endParaRPr lang="en-US" sz="1500" dirty="0"/>
          </a:p>
        </p:txBody>
      </p:sp>
      <p:sp>
        <p:nvSpPr>
          <p:cNvPr id="14" name="card_H2_verdict"/>
          <p:cNvSpPr txBox="1"/>
          <p:nvPr/>
        </p:nvSpPr>
        <p:spPr>
          <a:xfrm>
            <a:off x="4617720" y="3566160"/>
            <a:ext cx="3017520" cy="1920240"/>
          </a:xfrm>
          <a:prstGeom prst="rect">
            <a:avLst/>
          </a:prstGeom>
          <a:noFill/>
          <a:ln/>
        </p:spPr>
        <p:txBody>
          <a:bodyPr wrap="square" lIns="0" tIns="0" rIns="0" bIns="0" rtlCol="0" anchor="t"/>
          <a:lstStyle/>
          <a:p>
            <a:pPr indent="0" marL="0">
              <a:buNone/>
            </a:pPr>
            <a:r>
              <a:rPr lang="en-US" sz="1500" b="1" dirty="0">
                <a:solidFill>
                  <a:schemeClr val="tx1"/>
                </a:solidFill>
              </a:rPr>
              <a:t>Partly: a small, borderline forecast gain from news tone; no effect on the gap that survives household costs</a:t>
            </a:r>
            <a:endParaRPr lang="en-US" sz="1500" dirty="0"/>
          </a:p>
        </p:txBody>
      </p:sp>
      <p:sp>
        <p:nvSpPr>
          <p:cNvPr id="15" name="card_H3"/>
          <p:cNvSpPr/>
          <p:nvPr/>
        </p:nvSpPr>
        <p:spPr>
          <a:xfrm>
            <a:off x="8138160" y="1371600"/>
            <a:ext cx="3520440" cy="4206240"/>
          </a:xfrm>
          <a:prstGeom prst="roundRect">
            <a:avLst>
              <a:gd name="adj" fmla="val 3117"/>
            </a:avLst>
          </a:prstGeom>
          <a:solidFill>
            <a:schemeClr val="bg2"/>
          </a:solidFill>
          <a:ln w="12700">
            <a:solidFill>
              <a:schemeClr val="bg2"/>
            </a:solidFill>
            <a:prstDash val="solid"/>
          </a:ln>
        </p:spPr>
      </p:sp>
      <p:sp>
        <p:nvSpPr>
          <p:cNvPr id="16" name="card_H3_circle"/>
          <p:cNvSpPr/>
          <p:nvPr/>
        </p:nvSpPr>
        <p:spPr>
          <a:xfrm>
            <a:off x="8412480" y="1600200"/>
            <a:ext cx="777240" cy="777240"/>
          </a:xfrm>
          <a:prstGeom prst="ellipse">
            <a:avLst/>
          </a:prstGeom>
          <a:solidFill>
            <a:schemeClr val="accent2"/>
          </a:solidFill>
          <a:ln w="12700">
            <a:solidFill>
              <a:schemeClr val="accent2"/>
            </a:solidFill>
            <a:prstDash val="solid"/>
          </a:ln>
        </p:spPr>
      </p:sp>
      <p:sp>
        <p:nvSpPr>
          <p:cNvPr id="17" name="card_H3_tag"/>
          <p:cNvSpPr txBox="1"/>
          <p:nvPr/>
        </p:nvSpPr>
        <p:spPr>
          <a:xfrm>
            <a:off x="8412480" y="1600200"/>
            <a:ext cx="777240" cy="777240"/>
          </a:xfrm>
          <a:prstGeom prst="rect">
            <a:avLst/>
          </a:prstGeom>
          <a:noFill/>
          <a:ln/>
        </p:spPr>
        <p:txBody>
          <a:bodyPr wrap="square" lIns="0" tIns="0" rIns="0" bIns="0" rtlCol="0" anchor="ctr"/>
          <a:lstStyle/>
          <a:p>
            <a:pPr algn="ctr" indent="0" marL="0">
              <a:buNone/>
            </a:pPr>
            <a:r>
              <a:rPr lang="en-US" sz="2000" b="1" dirty="0">
                <a:solidFill>
                  <a:schemeClr val="bg1"/>
                </a:solidFill>
              </a:rPr>
              <a:t>H3</a:t>
            </a:r>
            <a:endParaRPr lang="en-US" sz="2000" dirty="0"/>
          </a:p>
        </p:txBody>
      </p:sp>
      <p:sp>
        <p:nvSpPr>
          <p:cNvPr id="18" name="card_H3_head"/>
          <p:cNvSpPr txBox="1"/>
          <p:nvPr/>
        </p:nvSpPr>
        <p:spPr>
          <a:xfrm>
            <a:off x="9326880" y="1600200"/>
            <a:ext cx="2194560" cy="777240"/>
          </a:xfrm>
          <a:prstGeom prst="rect">
            <a:avLst/>
          </a:prstGeom>
          <a:noFill/>
          <a:ln/>
        </p:spPr>
        <p:txBody>
          <a:bodyPr wrap="square" lIns="0" tIns="0" rIns="0" bIns="0" rtlCol="0" anchor="ctr"/>
          <a:lstStyle/>
          <a:p>
            <a:pPr indent="0" marL="0">
              <a:buNone/>
            </a:pPr>
            <a:r>
              <a:rPr lang="en-US" sz="2000" b="1" dirty="0">
                <a:solidFill>
                  <a:schemeClr val="tx1"/>
                </a:solidFill>
              </a:rPr>
              <a:t>Measurement and model</a:t>
            </a:r>
            <a:endParaRPr lang="en-US" sz="2000" dirty="0"/>
          </a:p>
        </p:txBody>
      </p:sp>
      <p:sp>
        <p:nvSpPr>
          <p:cNvPr id="19" name="card_H3_what"/>
          <p:cNvSpPr txBox="1"/>
          <p:nvPr/>
        </p:nvSpPr>
        <p:spPr>
          <a:xfrm>
            <a:off x="8412480" y="2560320"/>
            <a:ext cx="3017520" cy="914400"/>
          </a:xfrm>
          <a:prstGeom prst="rect">
            <a:avLst/>
          </a:prstGeom>
          <a:noFill/>
          <a:ln/>
        </p:spPr>
        <p:txBody>
          <a:bodyPr wrap="square" lIns="0" tIns="0" rIns="0" bIns="0" rtlCol="0" anchor="t"/>
          <a:lstStyle/>
          <a:p>
            <a:pPr indent="0" marL="0">
              <a:buNone/>
            </a:pPr>
            <a:r>
              <a:rPr lang="en-US" sz="1500" dirty="0">
                <a:solidFill>
                  <a:schemeClr val="tx2"/>
                </a:solidFill>
              </a:rPr>
              <a:t>Survey method, data timing and revisions, an unstable model</a:t>
            </a:r>
            <a:endParaRPr lang="en-US" sz="1500" dirty="0"/>
          </a:p>
        </p:txBody>
      </p:sp>
      <p:sp>
        <p:nvSpPr>
          <p:cNvPr id="20" name="card_H3_verdict"/>
          <p:cNvSpPr txBox="1"/>
          <p:nvPr/>
        </p:nvSpPr>
        <p:spPr>
          <a:xfrm>
            <a:off x="8412480" y="3566160"/>
            <a:ext cx="3017520" cy="1920240"/>
          </a:xfrm>
          <a:prstGeom prst="rect">
            <a:avLst/>
          </a:prstGeom>
          <a:noFill/>
          <a:ln/>
        </p:spPr>
        <p:txBody>
          <a:bodyPr wrap="square" lIns="0" tIns="0" rIns="0" bIns="0" rtlCol="0" anchor="t"/>
          <a:lstStyle/>
          <a:p>
            <a:pPr indent="0" marL="0">
              <a:buNone/>
            </a:pPr>
            <a:r>
              <a:rPr lang="en-US" sz="1500" b="1" dirty="0">
                <a:solidFill>
                  <a:schemeClr val="tx1"/>
                </a:solidFill>
              </a:rPr>
              <a:t>Partly: the 2010s model is unstable; the web-interview switch is 17% of the 39.9-point gap; data revisions none</a:t>
            </a:r>
            <a:endParaRPr lang="en-US" sz="1500" dirty="0"/>
          </a:p>
        </p:txBody>
      </p:sp>
      <p:sp>
        <p:nvSpPr>
          <p:cNvPr id="21" name="takeaway_box"/>
          <p:cNvSpPr/>
          <p:nvPr/>
        </p:nvSpPr>
        <p:spPr>
          <a:xfrm>
            <a:off x="548640" y="5742432"/>
            <a:ext cx="11064240" cy="548640"/>
          </a:xfrm>
          <a:prstGeom prst="roundRect">
            <a:avLst>
              <a:gd name="adj" fmla="val 13333"/>
            </a:avLst>
          </a:prstGeom>
          <a:solidFill>
            <a:schemeClr val="bg2"/>
          </a:solidFill>
          <a:ln w="12700">
            <a:solidFill>
              <a:schemeClr val="bg2"/>
            </a:solidFill>
            <a:prstDash val="solid"/>
          </a:ln>
        </p:spPr>
      </p:sp>
      <p:sp>
        <p:nvSpPr>
          <p:cNvPr id="22" name="takeaway"/>
          <p:cNvSpPr txBox="1"/>
          <p:nvPr/>
        </p:nvSpPr>
        <p:spPr>
          <a:xfrm>
            <a:off x="777240" y="5742432"/>
            <a:ext cx="10698480" cy="548640"/>
          </a:xfrm>
          <a:prstGeom prst="rect">
            <a:avLst/>
          </a:prstGeom>
          <a:noFill/>
          <a:ln/>
        </p:spPr>
        <p:txBody>
          <a:bodyPr wrap="square" lIns="0" tIns="0" rIns="0" bIns="0" rtlCol="0" anchor="ctr"/>
          <a:lstStyle/>
          <a:p>
            <a:pPr indent="0" marL="0">
              <a:buNone/>
            </a:pPr>
            <a:r>
              <a:rPr lang="en-US" sz="1500" b="1" dirty="0">
                <a:solidFill>
                  <a:schemeClr val="accent1"/>
                </a:solidFill>
              </a:rPr>
              <a:t>Takeaway   </a:t>
            </a:r>
            <a:pPr indent="0" marL="0">
              <a:buNone/>
            </a:pPr>
            <a:r>
              <a:rPr lang="en-US" sz="1500" dirty="0">
                <a:solidFill>
                  <a:schemeClr val="tx1"/>
                </a:solidFill>
              </a:rPr>
              <a:t>No single explanation wins on its own; each was held to a bar set before seeing any result.</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2800" b="1" dirty="0">
                <a:solidFill>
                  <a:schemeClr val="tx1"/>
                </a:solidFill>
              </a:rPr>
              <a:t>Measuring the News : Turning headlines into scores</a:t>
            </a:r>
            <a:endParaRPr lang="en-US" sz="2800" dirty="0"/>
          </a:p>
        </p:txBody>
      </p:sp>
      <p:sp>
        <p:nvSpPr>
          <p:cNvPr id="3" name="score_lead"/>
          <p:cNvSpPr txBox="1"/>
          <p:nvPr/>
        </p:nvSpPr>
        <p:spPr>
          <a:xfrm>
            <a:off x="548640" y="1216152"/>
            <a:ext cx="11064240" cy="384048"/>
          </a:xfrm>
          <a:prstGeom prst="rect">
            <a:avLst/>
          </a:prstGeom>
          <a:noFill/>
          <a:ln/>
        </p:spPr>
        <p:txBody>
          <a:bodyPr wrap="square" lIns="0" tIns="0" rIns="0" bIns="0" rtlCol="0" anchor="ctr"/>
          <a:lstStyle/>
          <a:p>
            <a:pPr indent="0" marL="0">
              <a:buNone/>
            </a:pPr>
            <a:r>
              <a:rPr lang="en-US" sz="1550" dirty="0">
                <a:solidFill>
                  <a:schemeClr val="tx1"/>
                </a:solidFill>
              </a:rPr>
              <a:t>To turn news into numbers, every headline needs a score. We compared four ways of scoring on a 450-item answer key.</a:t>
            </a:r>
            <a:endParaRPr lang="en-US" sz="1550" dirty="0"/>
          </a:p>
        </p:txBody>
      </p:sp>
      <p:sp>
        <p:nvSpPr>
          <p:cNvPr id="4" name="score_defs"/>
          <p:cNvSpPr txBox="1"/>
          <p:nvPr/>
        </p:nvSpPr>
        <p:spPr>
          <a:xfrm>
            <a:off x="548640" y="1709928"/>
            <a:ext cx="7223760" cy="566928"/>
          </a:xfrm>
          <a:prstGeom prst="rect">
            <a:avLst/>
          </a:prstGeom>
          <a:noFill/>
          <a:ln/>
        </p:spPr>
        <p:txBody>
          <a:bodyPr wrap="square" lIns="0" tIns="0" rIns="0" bIns="0" rtlCol="0" anchor="t"/>
          <a:lstStyle/>
          <a:p>
            <a:pPr indent="0" marL="0">
              <a:buNone/>
            </a:pPr>
            <a:r>
              <a:rPr lang="en-US" sz="1350" b="1" dirty="0">
                <a:solidFill>
                  <a:schemeClr val="accent4"/>
                </a:solidFill>
              </a:rPr>
              <a:t>Relevance: </a:t>
            </a:r>
            <a:pPr indent="0" marL="0">
              <a:buNone/>
            </a:pPr>
            <a:r>
              <a:rPr lang="en-US" sz="1350" dirty="0">
                <a:solidFill>
                  <a:schemeClr val="tx2"/>
                </a:solidFill>
              </a:rPr>
              <a:t>is the headline about the US economy (prices, jobs, interest rates, growth)? Yes or no.</a:t>
            </a:r>
            <a:endParaRPr lang="en-US" sz="1350" dirty="0"/>
          </a:p>
          <a:p>
            <a:pPr indent="0" marL="0">
              <a:buNone/>
            </a:pPr>
            <a:r>
              <a:rPr lang="en-US" sz="1350" b="1" dirty="0">
                <a:solidFill>
                  <a:schemeClr val="accent2"/>
                </a:solidFill>
              </a:rPr>
              <a:t>Tone: </a:t>
            </a:r>
            <a:pPr indent="0" marL="0">
              <a:buNone/>
            </a:pPr>
            <a:r>
              <a:rPr lang="en-US" sz="1350" dirty="0">
                <a:solidFill>
                  <a:schemeClr val="tx2"/>
                </a:solidFill>
              </a:rPr>
              <a:t>does it describe the economy getting worse (negative), better (positive) or neither (neutral)?</a:t>
            </a:r>
            <a:endParaRPr lang="en-US" sz="1350" dirty="0"/>
          </a:p>
        </p:txBody>
      </p:sp>
      <p:graphicFrame>
        <p:nvGraphicFramePr>
          <p:cNvPr id="5" name="f1_chart" descr=""/>
          <p:cNvGraphicFramePr/>
          <p:nvPr/>
        </p:nvGraphicFramePr>
        <p:xfrm>
          <a:off x="548640" y="2331720"/>
          <a:ext cx="7223760" cy="3246120"/>
        </p:xfrm>
        <a:graphic xmlns:a="http://schemas.openxmlformats.org/drawingml/2006/main">
          <a:graphicData uri="http://schemas.openxmlformats.org/drawingml/2006/chart">
            <c:chart xmlns:c="http://schemas.openxmlformats.org/drawingml/2006/chart" r:id="rId1"/>
          </a:graphicData>
        </a:graphic>
      </p:graphicFrame>
      <p:sp>
        <p:nvSpPr>
          <p:cNvPr id="6" name="scale_head"/>
          <p:cNvSpPr txBox="1"/>
          <p:nvPr/>
        </p:nvSpPr>
        <p:spPr>
          <a:xfrm>
            <a:off x="8092440" y="1709928"/>
            <a:ext cx="3520440" cy="320040"/>
          </a:xfrm>
          <a:prstGeom prst="rect">
            <a:avLst/>
          </a:prstGeom>
          <a:noFill/>
          <a:ln/>
        </p:spPr>
        <p:txBody>
          <a:bodyPr wrap="square" lIns="0" tIns="0" rIns="0" bIns="0" rtlCol="0" anchor="ctr"/>
          <a:lstStyle/>
          <a:p>
            <a:pPr indent="0" marL="0">
              <a:buNone/>
            </a:pPr>
            <a:r>
              <a:rPr lang="en-US" sz="1400" b="1" dirty="0">
                <a:solidFill>
                  <a:schemeClr val="tx2"/>
                </a:solidFill>
              </a:rPr>
              <a:t>How we scaled it</a:t>
            </a:r>
            <a:endParaRPr lang="en-US" sz="1400" dirty="0"/>
          </a:p>
        </p:txBody>
      </p:sp>
      <p:sp>
        <p:nvSpPr>
          <p:cNvPr id="7" name="scale_1_circle"/>
          <p:cNvSpPr/>
          <p:nvPr/>
        </p:nvSpPr>
        <p:spPr>
          <a:xfrm>
            <a:off x="8092440" y="2148840"/>
            <a:ext cx="411480" cy="411480"/>
          </a:xfrm>
          <a:prstGeom prst="ellipse">
            <a:avLst/>
          </a:prstGeom>
          <a:solidFill>
            <a:schemeClr val="accent2"/>
          </a:solidFill>
          <a:ln w="12700">
            <a:solidFill>
              <a:schemeClr val="accent2"/>
            </a:solidFill>
            <a:prstDash val="solid"/>
          </a:ln>
        </p:spPr>
      </p:sp>
      <p:sp>
        <p:nvSpPr>
          <p:cNvPr id="8" name="scale_1_tag"/>
          <p:cNvSpPr txBox="1"/>
          <p:nvPr/>
        </p:nvSpPr>
        <p:spPr>
          <a:xfrm>
            <a:off x="8092440" y="214884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scale_1_head"/>
          <p:cNvSpPr txBox="1"/>
          <p:nvPr/>
        </p:nvSpPr>
        <p:spPr>
          <a:xfrm>
            <a:off x="8641080" y="2130552"/>
            <a:ext cx="2971800" cy="310896"/>
          </a:xfrm>
          <a:prstGeom prst="rect">
            <a:avLst/>
          </a:prstGeom>
          <a:noFill/>
          <a:ln/>
        </p:spPr>
        <p:txBody>
          <a:bodyPr wrap="square" lIns="0" tIns="0" rIns="0" bIns="0" rtlCol="0" anchor="ctr"/>
          <a:lstStyle/>
          <a:p>
            <a:pPr indent="0" marL="0">
              <a:buNone/>
            </a:pPr>
            <a:r>
              <a:rPr lang="en-US" sz="1400" b="1" dirty="0">
                <a:solidFill>
                  <a:schemeClr val="tx1"/>
                </a:solidFill>
              </a:rPr>
              <a:t>Claude Opus scores a sample</a:t>
            </a:r>
            <a:endParaRPr lang="en-US" sz="1400" dirty="0"/>
          </a:p>
        </p:txBody>
      </p:sp>
      <p:sp>
        <p:nvSpPr>
          <p:cNvPr id="10" name="scale_1_body"/>
          <p:cNvSpPr txBox="1"/>
          <p:nvPr/>
        </p:nvSpPr>
        <p:spPr>
          <a:xfrm>
            <a:off x="8641080" y="2450592"/>
            <a:ext cx="2971800" cy="566928"/>
          </a:xfrm>
          <a:prstGeom prst="rect">
            <a:avLst/>
          </a:prstGeom>
          <a:noFill/>
          <a:ln/>
        </p:spPr>
        <p:txBody>
          <a:bodyPr wrap="square" lIns="0" tIns="0" rIns="0" bIns="0" rtlCol="0" anchor="t"/>
          <a:lstStyle/>
          <a:p>
            <a:pPr indent="0" marL="0">
              <a:buNone/>
            </a:pPr>
            <a:r>
              <a:rPr lang="en-US" sz="1200" dirty="0">
                <a:solidFill>
                  <a:schemeClr val="tx2"/>
                </a:solidFill>
              </a:rPr>
              <a:t>about 9,400 headlines and posts, as many as the usage limit allowed</a:t>
            </a:r>
            <a:endParaRPr lang="en-US" sz="1200" dirty="0"/>
          </a:p>
        </p:txBody>
      </p:sp>
      <p:sp>
        <p:nvSpPr>
          <p:cNvPr id="11" name="scale_arrow_1"/>
          <p:cNvSpPr/>
          <p:nvPr/>
        </p:nvSpPr>
        <p:spPr>
          <a:xfrm>
            <a:off x="8298180" y="2606040"/>
            <a:ext cx="0" cy="521208"/>
          </a:xfrm>
          <a:prstGeom prst="line">
            <a:avLst/>
          </a:prstGeom>
          <a:noFill/>
          <a:ln w="19050">
            <a:solidFill>
              <a:srgbClr val="7A8699"/>
            </a:solidFill>
            <a:prstDash val="solid"/>
            <a:tailEnd type="triangle"/>
          </a:ln>
        </p:spPr>
      </p:sp>
      <p:sp>
        <p:nvSpPr>
          <p:cNvPr id="12" name="scale_2_circle"/>
          <p:cNvSpPr/>
          <p:nvPr/>
        </p:nvSpPr>
        <p:spPr>
          <a:xfrm>
            <a:off x="8092440" y="3172968"/>
            <a:ext cx="411480" cy="411480"/>
          </a:xfrm>
          <a:prstGeom prst="ellipse">
            <a:avLst/>
          </a:prstGeom>
          <a:solidFill>
            <a:schemeClr val="accent2"/>
          </a:solidFill>
          <a:ln w="12700">
            <a:solidFill>
              <a:schemeClr val="accent2"/>
            </a:solidFill>
            <a:prstDash val="solid"/>
          </a:ln>
        </p:spPr>
      </p:sp>
      <p:sp>
        <p:nvSpPr>
          <p:cNvPr id="13" name="scale_2_tag"/>
          <p:cNvSpPr txBox="1"/>
          <p:nvPr/>
        </p:nvSpPr>
        <p:spPr>
          <a:xfrm>
            <a:off x="8092440" y="3172968"/>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4" name="scale_2_head"/>
          <p:cNvSpPr txBox="1"/>
          <p:nvPr/>
        </p:nvSpPr>
        <p:spPr>
          <a:xfrm>
            <a:off x="8641080" y="3154680"/>
            <a:ext cx="2971800" cy="310896"/>
          </a:xfrm>
          <a:prstGeom prst="rect">
            <a:avLst/>
          </a:prstGeom>
          <a:noFill/>
          <a:ln/>
        </p:spPr>
        <p:txBody>
          <a:bodyPr wrap="square" lIns="0" tIns="0" rIns="0" bIns="0" rtlCol="0" anchor="ctr"/>
          <a:lstStyle/>
          <a:p>
            <a:pPr indent="0" marL="0">
              <a:buNone/>
            </a:pPr>
            <a:r>
              <a:rPr lang="en-US" sz="1400" b="1" dirty="0">
                <a:solidFill>
                  <a:schemeClr val="tx1"/>
                </a:solidFill>
              </a:rPr>
              <a:t>A classifier learns from Opus</a:t>
            </a:r>
            <a:endParaRPr lang="en-US" sz="1400" dirty="0"/>
          </a:p>
        </p:txBody>
      </p:sp>
      <p:sp>
        <p:nvSpPr>
          <p:cNvPr id="15" name="scale_2_body"/>
          <p:cNvSpPr txBox="1"/>
          <p:nvPr/>
        </p:nvSpPr>
        <p:spPr>
          <a:xfrm>
            <a:off x="8641080" y="3474720"/>
            <a:ext cx="2971800" cy="566928"/>
          </a:xfrm>
          <a:prstGeom prst="rect">
            <a:avLst/>
          </a:prstGeom>
          <a:noFill/>
          <a:ln/>
        </p:spPr>
        <p:txBody>
          <a:bodyPr wrap="square" lIns="0" tIns="0" rIns="0" bIns="0" rtlCol="0" anchor="t"/>
          <a:lstStyle/>
          <a:p>
            <a:pPr indent="0" marL="0">
              <a:buNone/>
            </a:pPr>
            <a:r>
              <a:rPr lang="en-US" sz="1200" dirty="0">
                <a:solidFill>
                  <a:schemeClr val="tx2"/>
                </a:solidFill>
              </a:rPr>
              <a:t>TF-IDF + logistic regression ("Tier C"), trained on 8,173 Opus labels</a:t>
            </a:r>
            <a:endParaRPr lang="en-US" sz="1200" dirty="0"/>
          </a:p>
        </p:txBody>
      </p:sp>
      <p:sp>
        <p:nvSpPr>
          <p:cNvPr id="16" name="scale_arrow_2"/>
          <p:cNvSpPr/>
          <p:nvPr/>
        </p:nvSpPr>
        <p:spPr>
          <a:xfrm>
            <a:off x="8298180" y="3630168"/>
            <a:ext cx="0" cy="521208"/>
          </a:xfrm>
          <a:prstGeom prst="line">
            <a:avLst/>
          </a:prstGeom>
          <a:noFill/>
          <a:ln w="19050">
            <a:solidFill>
              <a:srgbClr val="7A8699"/>
            </a:solidFill>
            <a:prstDash val="solid"/>
            <a:tailEnd type="triangle"/>
          </a:ln>
        </p:spPr>
      </p:sp>
      <p:sp>
        <p:nvSpPr>
          <p:cNvPr id="17" name="scale_3_circle"/>
          <p:cNvSpPr/>
          <p:nvPr/>
        </p:nvSpPr>
        <p:spPr>
          <a:xfrm>
            <a:off x="8092440" y="4197096"/>
            <a:ext cx="411480" cy="411480"/>
          </a:xfrm>
          <a:prstGeom prst="ellipse">
            <a:avLst/>
          </a:prstGeom>
          <a:solidFill>
            <a:schemeClr val="accent2"/>
          </a:solidFill>
          <a:ln w="12700">
            <a:solidFill>
              <a:schemeClr val="accent2"/>
            </a:solidFill>
            <a:prstDash val="solid"/>
          </a:ln>
        </p:spPr>
      </p:sp>
      <p:sp>
        <p:nvSpPr>
          <p:cNvPr id="18" name="scale_3_tag"/>
          <p:cNvSpPr txBox="1"/>
          <p:nvPr/>
        </p:nvSpPr>
        <p:spPr>
          <a:xfrm>
            <a:off x="8092440" y="4197096"/>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scale_3_head"/>
          <p:cNvSpPr txBox="1"/>
          <p:nvPr/>
        </p:nvSpPr>
        <p:spPr>
          <a:xfrm>
            <a:off x="8641080" y="4178808"/>
            <a:ext cx="2971800" cy="310896"/>
          </a:xfrm>
          <a:prstGeom prst="rect">
            <a:avLst/>
          </a:prstGeom>
          <a:noFill/>
          <a:ln/>
        </p:spPr>
        <p:txBody>
          <a:bodyPr wrap="square" lIns="0" tIns="0" rIns="0" bIns="0" rtlCol="0" anchor="ctr"/>
          <a:lstStyle/>
          <a:p>
            <a:pPr indent="0" marL="0">
              <a:buNone/>
            </a:pPr>
            <a:r>
              <a:rPr lang="en-US" sz="1400" b="1" dirty="0">
                <a:solidFill>
                  <a:schemeClr val="tx1"/>
                </a:solidFill>
              </a:rPr>
              <a:t>Tier C scores every headline</a:t>
            </a:r>
            <a:endParaRPr lang="en-US" sz="1400" dirty="0"/>
          </a:p>
        </p:txBody>
      </p:sp>
      <p:sp>
        <p:nvSpPr>
          <p:cNvPr id="20" name="scale_count"/>
          <p:cNvSpPr txBox="1"/>
          <p:nvPr/>
        </p:nvSpPr>
        <p:spPr>
          <a:xfrm>
            <a:off x="8641080" y="4526280"/>
            <a:ext cx="2971800" cy="64008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125,440</a:t>
            </a:r>
            <a:endParaRPr lang="en-US" sz="3600" dirty="0"/>
          </a:p>
        </p:txBody>
      </p:sp>
      <p:sp>
        <p:nvSpPr>
          <p:cNvPr id="21" name="scale_count_label"/>
          <p:cNvSpPr txBox="1"/>
          <p:nvPr/>
        </p:nvSpPr>
        <p:spPr>
          <a:xfrm>
            <a:off x="8641080" y="5157216"/>
            <a:ext cx="2971800" cy="502920"/>
          </a:xfrm>
          <a:prstGeom prst="rect">
            <a:avLst/>
          </a:prstGeom>
          <a:noFill/>
          <a:ln/>
        </p:spPr>
        <p:txBody>
          <a:bodyPr wrap="square" lIns="0" tIns="0" rIns="0" bIns="0" rtlCol="0" anchor="t"/>
          <a:lstStyle/>
          <a:p>
            <a:pPr indent="0" marL="0">
              <a:buNone/>
            </a:pPr>
            <a:r>
              <a:rPr lang="en-US" sz="1200" dirty="0">
                <a:solidFill>
                  <a:schemeClr val="tx2"/>
                </a:solidFill>
              </a:rPr>
              <a:t>economic headlines scored, 2010 to 2026, for the monthly news series</a:t>
            </a:r>
            <a:endParaRPr lang="en-US" sz="1200" dirty="0"/>
          </a:p>
        </p:txBody>
      </p:sp>
      <p:sp>
        <p:nvSpPr>
          <p:cNvPr id="22" name="takeaway_box"/>
          <p:cNvSpPr/>
          <p:nvPr/>
        </p:nvSpPr>
        <p:spPr>
          <a:xfrm>
            <a:off x="548640" y="5742432"/>
            <a:ext cx="11064240" cy="548640"/>
          </a:xfrm>
          <a:prstGeom prst="roundRect">
            <a:avLst>
              <a:gd name="adj" fmla="val 13333"/>
            </a:avLst>
          </a:prstGeom>
          <a:solidFill>
            <a:schemeClr val="bg2"/>
          </a:solidFill>
          <a:ln w="12700">
            <a:solidFill>
              <a:schemeClr val="bg2"/>
            </a:solidFill>
            <a:prstDash val="solid"/>
          </a:ln>
        </p:spPr>
      </p:sp>
      <p:sp>
        <p:nvSpPr>
          <p:cNvPr id="23" name="takeaway"/>
          <p:cNvSpPr txBox="1"/>
          <p:nvPr/>
        </p:nvSpPr>
        <p:spPr>
          <a:xfrm>
            <a:off x="777240" y="5742432"/>
            <a:ext cx="10698480" cy="548640"/>
          </a:xfrm>
          <a:prstGeom prst="rect">
            <a:avLst/>
          </a:prstGeom>
          <a:noFill/>
          <a:ln/>
        </p:spPr>
        <p:txBody>
          <a:bodyPr wrap="square" lIns="0" tIns="0" rIns="0" bIns="0" rtlCol="0" anchor="ctr"/>
          <a:lstStyle/>
          <a:p>
            <a:pPr indent="0" marL="0">
              <a:buNone/>
            </a:pPr>
            <a:r>
              <a:rPr lang="en-US" sz="1500" b="1" dirty="0">
                <a:solidFill>
                  <a:schemeClr val="accent1"/>
                </a:solidFill>
              </a:rPr>
              <a:t>Takeaway   </a:t>
            </a:r>
            <a:pPr indent="0" marL="0">
              <a:buNone/>
            </a:pPr>
            <a:r>
              <a:rPr lang="en-US" sz="1500" dirty="0">
                <a:solidFill>
                  <a:schemeClr val="tx1"/>
                </a:solidFill>
              </a:rPr>
              <a:t>Opus is the measuring tool; Tier C copies it at scale, with noisier tone (F1 0.61 vs 0.89).</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2800" b="1" dirty="0">
                <a:solidFill>
                  <a:schemeClr val="tx1"/>
                </a:solidFill>
              </a:rPr>
              <a:t>News Bias : Is economic coverage biased against the facts?</a:t>
            </a:r>
            <a:endParaRPr lang="en-US" sz="2800" dirty="0"/>
          </a:p>
        </p:txBody>
      </p:sp>
      <p:sp>
        <p:nvSpPr>
          <p:cNvPr id="3" name="asym_head"/>
          <p:cNvSpPr txBox="1"/>
          <p:nvPr/>
        </p:nvSpPr>
        <p:spPr>
          <a:xfrm>
            <a:off x="548640" y="1252728"/>
            <a:ext cx="7086600" cy="365760"/>
          </a:xfrm>
          <a:prstGeom prst="rect">
            <a:avLst/>
          </a:prstGeom>
          <a:noFill/>
          <a:ln/>
        </p:spPr>
        <p:txBody>
          <a:bodyPr wrap="square" lIns="0" tIns="0" rIns="0" bIns="0" rtlCol="0" anchor="ctr"/>
          <a:lstStyle/>
          <a:p>
            <a:pPr indent="0" marL="0">
              <a:buNone/>
            </a:pPr>
            <a:r>
              <a:rPr lang="en-US" sz="1400" b="1" dirty="0">
                <a:solidFill>
                  <a:schemeClr val="tx1"/>
                </a:solidFill>
              </a:rPr>
              <a:t>How news negativity reacts to bad and good news. Fair coverage gives mirror-image bars.</a:t>
            </a:r>
            <a:endParaRPr lang="en-US" sz="1400" dirty="0"/>
          </a:p>
        </p:txBody>
      </p:sp>
      <p:graphicFrame>
        <p:nvGraphicFramePr>
          <p:cNvPr id="4" name="asym_chart_0" descr=""/>
          <p:cNvGraphicFramePr/>
          <p:nvPr/>
        </p:nvGraphicFramePr>
        <p:xfrm>
          <a:off x="548640" y="1673352"/>
          <a:ext cx="2286000" cy="3246120"/>
        </p:xfrm>
        <a:graphic xmlns:a="http://schemas.openxmlformats.org/drawingml/2006/main">
          <a:graphicData uri="http://schemas.openxmlformats.org/drawingml/2006/chart">
            <c:chart xmlns:c="http://schemas.openxmlformats.org/drawingml/2006/chart" r:id="rId1"/>
          </a:graphicData>
        </a:graphic>
      </p:graphicFrame>
      <p:sp>
        <p:nvSpPr>
          <p:cNvPr id="5" name="asym_p_0"/>
          <p:cNvSpPr txBox="1"/>
          <p:nvPr/>
        </p:nvSpPr>
        <p:spPr>
          <a:xfrm>
            <a:off x="548640" y="4946904"/>
            <a:ext cx="2286000" cy="274320"/>
          </a:xfrm>
          <a:prstGeom prst="rect">
            <a:avLst/>
          </a:prstGeom>
          <a:noFill/>
          <a:ln/>
        </p:spPr>
        <p:txBody>
          <a:bodyPr wrap="square" lIns="0" tIns="0" rIns="0" bIns="0" rtlCol="0" anchor="ctr"/>
          <a:lstStyle/>
          <a:p>
            <a:pPr algn="ctr" indent="0" marL="0">
              <a:buNone/>
            </a:pPr>
            <a:r>
              <a:rPr lang="en-US" sz="1200" b="1" dirty="0">
                <a:solidFill>
                  <a:schemeClr val="accent3"/>
                </a:solidFill>
              </a:rPr>
              <a:t>p = 0.002: lopsided</a:t>
            </a:r>
            <a:endParaRPr lang="en-US" sz="1200" dirty="0"/>
          </a:p>
        </p:txBody>
      </p:sp>
      <p:graphicFrame>
        <p:nvGraphicFramePr>
          <p:cNvPr id="6" name="asym_chart_1" descr=""/>
          <p:cNvGraphicFramePr/>
          <p:nvPr/>
        </p:nvGraphicFramePr>
        <p:xfrm>
          <a:off x="2944368" y="1673352"/>
          <a:ext cx="2286000" cy="3246120"/>
        </p:xfrm>
        <a:graphic xmlns:a="http://schemas.openxmlformats.org/drawingml/2006/main">
          <a:graphicData uri="http://schemas.openxmlformats.org/drawingml/2006/chart">
            <c:chart xmlns:c="http://schemas.openxmlformats.org/drawingml/2006/chart" r:id="rId2"/>
          </a:graphicData>
        </a:graphic>
      </p:graphicFrame>
      <p:sp>
        <p:nvSpPr>
          <p:cNvPr id="7" name="asym_p_1"/>
          <p:cNvSpPr txBox="1"/>
          <p:nvPr/>
        </p:nvSpPr>
        <p:spPr>
          <a:xfrm>
            <a:off x="2944368" y="4946904"/>
            <a:ext cx="2286000" cy="274320"/>
          </a:xfrm>
          <a:prstGeom prst="rect">
            <a:avLst/>
          </a:prstGeom>
          <a:noFill/>
          <a:ln/>
        </p:spPr>
        <p:txBody>
          <a:bodyPr wrap="square" lIns="0" tIns="0" rIns="0" bIns="0" rtlCol="0" anchor="ctr"/>
          <a:lstStyle/>
          <a:p>
            <a:pPr algn="ctr" indent="0" marL="0">
              <a:buNone/>
            </a:pPr>
            <a:r>
              <a:rPr lang="en-US" sz="1200" dirty="0">
                <a:solidFill>
                  <a:schemeClr val="tx2"/>
                </a:solidFill>
              </a:rPr>
              <a:t>p = 0.20: no detectable gap</a:t>
            </a:r>
            <a:endParaRPr lang="en-US" sz="1200" dirty="0"/>
          </a:p>
        </p:txBody>
      </p:sp>
      <p:graphicFrame>
        <p:nvGraphicFramePr>
          <p:cNvPr id="8" name="asym_chart_2" descr=""/>
          <p:cNvGraphicFramePr/>
          <p:nvPr/>
        </p:nvGraphicFramePr>
        <p:xfrm>
          <a:off x="5340096" y="1673352"/>
          <a:ext cx="2286000" cy="3246120"/>
        </p:xfrm>
        <a:graphic xmlns:a="http://schemas.openxmlformats.org/drawingml/2006/main">
          <a:graphicData uri="http://schemas.openxmlformats.org/drawingml/2006/chart">
            <c:chart xmlns:c="http://schemas.openxmlformats.org/drawingml/2006/chart" r:id="rId3"/>
          </a:graphicData>
        </a:graphic>
      </p:graphicFrame>
      <p:sp>
        <p:nvSpPr>
          <p:cNvPr id="9" name="asym_p_2"/>
          <p:cNvSpPr txBox="1"/>
          <p:nvPr/>
        </p:nvSpPr>
        <p:spPr>
          <a:xfrm>
            <a:off x="5340096" y="4946904"/>
            <a:ext cx="2286000" cy="274320"/>
          </a:xfrm>
          <a:prstGeom prst="rect">
            <a:avLst/>
          </a:prstGeom>
          <a:noFill/>
          <a:ln/>
        </p:spPr>
        <p:txBody>
          <a:bodyPr wrap="square" lIns="0" tIns="0" rIns="0" bIns="0" rtlCol="0" anchor="ctr"/>
          <a:lstStyle/>
          <a:p>
            <a:pPr algn="ctr" indent="0" marL="0">
              <a:buNone/>
            </a:pPr>
            <a:r>
              <a:rPr lang="en-US" sz="1200" dirty="0">
                <a:solidFill>
                  <a:schemeClr val="tx2"/>
                </a:solidFill>
              </a:rPr>
              <a:t>p = 0.35: no detectable gap</a:t>
            </a:r>
            <a:endParaRPr lang="en-US" sz="1200" dirty="0"/>
          </a:p>
        </p:txBody>
      </p:sp>
      <p:sp>
        <p:nvSpPr>
          <p:cNvPr id="10" name="asym_note"/>
          <p:cNvSpPr txBox="1"/>
          <p:nvPr/>
        </p:nvSpPr>
        <p:spPr>
          <a:xfrm>
            <a:off x="548640" y="5257800"/>
            <a:ext cx="7086600" cy="411480"/>
          </a:xfrm>
          <a:prstGeom prst="rect">
            <a:avLst/>
          </a:prstGeom>
          <a:noFill/>
          <a:ln/>
        </p:spPr>
        <p:txBody>
          <a:bodyPr wrap="square" lIns="0" tIns="0" rIns="0" bIns="0" rtlCol="0" anchor="t"/>
          <a:lstStyle/>
          <a:p>
            <a:pPr indent="0" marL="0">
              <a:buNone/>
            </a:pPr>
            <a:r>
              <a:rPr lang="en-US" sz="1050" dirty="0">
                <a:solidFill>
                  <a:schemeClr val="tx2"/>
                </a:solidFill>
              </a:rPr>
              <a:t>Bad news: inflation or unemployment rises. Inflation and unemployment: monthly change in net negativity of all economic headlines. Jobs days: change in the share of a jobs-report day's headlines that are negative, against an unchanged report.</a:t>
            </a:r>
            <a:endParaRPr lang="en-US" sz="1050" dirty="0"/>
          </a:p>
        </p:txBody>
      </p:sp>
      <p:graphicFrame>
        <p:nvGraphicFramePr>
          <p:cNvPr id="11" name="source_chart_D" descr=""/>
          <p:cNvGraphicFramePr/>
          <p:nvPr/>
        </p:nvGraphicFramePr>
        <p:xfrm>
          <a:off x="7863840" y="1252728"/>
          <a:ext cx="3749040" cy="1901952"/>
        </p:xfrm>
        <a:graphic xmlns:a="http://schemas.openxmlformats.org/drawingml/2006/main">
          <a:graphicData uri="http://schemas.openxmlformats.org/drawingml/2006/chart">
            <c:chart xmlns:c="http://schemas.openxmlformats.org/drawingml/2006/chart" r:id="rId4"/>
          </a:graphicData>
        </a:graphic>
      </p:graphicFrame>
      <p:graphicFrame>
        <p:nvGraphicFramePr>
          <p:cNvPr id="12" name="source_chart_R" descr=""/>
          <p:cNvGraphicFramePr/>
          <p:nvPr/>
        </p:nvGraphicFramePr>
        <p:xfrm>
          <a:off x="7863840" y="3191256"/>
          <a:ext cx="3749040" cy="1901952"/>
        </p:xfrm>
        <a:graphic xmlns:a="http://schemas.openxmlformats.org/drawingml/2006/main">
          <a:graphicData uri="http://schemas.openxmlformats.org/drawingml/2006/chart">
            <c:chart xmlns:c="http://schemas.openxmlformats.org/drawingml/2006/chart" r:id="rId5"/>
          </a:graphicData>
        </a:graphic>
      </p:graphicFrame>
      <p:sp>
        <p:nvSpPr>
          <p:cNvPr id="13" name="takeaway_box"/>
          <p:cNvSpPr/>
          <p:nvPr/>
        </p:nvSpPr>
        <p:spPr>
          <a:xfrm>
            <a:off x="548640" y="5742432"/>
            <a:ext cx="11064240" cy="548640"/>
          </a:xfrm>
          <a:prstGeom prst="roundRect">
            <a:avLst>
              <a:gd name="adj" fmla="val 13333"/>
            </a:avLst>
          </a:prstGeom>
          <a:solidFill>
            <a:schemeClr val="bg2"/>
          </a:solidFill>
          <a:ln w="12700">
            <a:solidFill>
              <a:schemeClr val="bg2"/>
            </a:solidFill>
            <a:prstDash val="solid"/>
          </a:ln>
        </p:spPr>
      </p:sp>
      <p:sp>
        <p:nvSpPr>
          <p:cNvPr id="14" name="takeaway"/>
          <p:cNvSpPr txBox="1"/>
          <p:nvPr/>
        </p:nvSpPr>
        <p:spPr>
          <a:xfrm>
            <a:off x="777240" y="5742432"/>
            <a:ext cx="10698480" cy="548640"/>
          </a:xfrm>
          <a:prstGeom prst="rect">
            <a:avLst/>
          </a:prstGeom>
          <a:noFill/>
          <a:ln/>
        </p:spPr>
        <p:txBody>
          <a:bodyPr wrap="square" lIns="0" tIns="0" rIns="0" bIns="0" rtlCol="0" anchor="ctr"/>
          <a:lstStyle/>
          <a:p>
            <a:pPr indent="0" marL="0">
              <a:buNone/>
            </a:pPr>
            <a:r>
              <a:rPr lang="en-US" sz="1500" b="1" dirty="0">
                <a:solidFill>
                  <a:schemeClr val="accent1"/>
                </a:solidFill>
              </a:rPr>
              <a:t>Takeaway   </a:t>
            </a:r>
            <a:pPr indent="0" marL="0">
              <a:buNone/>
            </a:pPr>
            <a:r>
              <a:rPr lang="en-US" sz="1500" dirty="0">
                <a:solidFill>
                  <a:schemeClr val="tx1"/>
                </a:solidFill>
              </a:rPr>
              <a:t>Inflation coverage is lopsided. Also, right-leaning outlets run darkest when Democrats hold the White House.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2800" b="1" dirty="0">
                <a:solidFill>
                  <a:schemeClr val="tx1"/>
                </a:solidFill>
              </a:rPr>
              <a:t>Impact : Does negative news pull sentiment down?</a:t>
            </a:r>
            <a:endParaRPr lang="en-US" sz="2800" dirty="0"/>
          </a:p>
        </p:txBody>
      </p:sp>
      <p:sp>
        <p:nvSpPr>
          <p:cNvPr id="3" name="impact_head"/>
          <p:cNvSpPr txBox="1"/>
          <p:nvPr/>
        </p:nvSpPr>
        <p:spPr>
          <a:xfrm>
            <a:off x="548640" y="1252728"/>
            <a:ext cx="7223760" cy="292608"/>
          </a:xfrm>
          <a:prstGeom prst="rect">
            <a:avLst/>
          </a:prstGeom>
          <a:noFill/>
          <a:ln/>
        </p:spPr>
        <p:txBody>
          <a:bodyPr wrap="square" lIns="0" tIns="0" rIns="0" bIns="0" rtlCol="0" anchor="ctr"/>
          <a:lstStyle/>
          <a:p>
            <a:pPr indent="0" marL="0">
              <a:buNone/>
            </a:pPr>
            <a:r>
              <a:rPr lang="en-US" sz="1300" dirty="0">
                <a:solidFill>
                  <a:schemeClr val="tx2"/>
                </a:solidFill>
              </a:rPr>
              <a:t>Index points of sentiment below the economy-only model, 2026</a:t>
            </a:r>
            <a:endParaRPr lang="en-US" sz="1300" dirty="0"/>
          </a:p>
        </p:txBody>
      </p:sp>
      <p:sp>
        <p:nvSpPr>
          <p:cNvPr id="4" name="impact_grid_0"/>
          <p:cNvSpPr/>
          <p:nvPr/>
        </p:nvSpPr>
        <p:spPr>
          <a:xfrm>
            <a:off x="548640" y="1828800"/>
            <a:ext cx="0" cy="3108960"/>
          </a:xfrm>
          <a:prstGeom prst="line">
            <a:avLst/>
          </a:prstGeom>
          <a:noFill/>
          <a:ln w="9525">
            <a:solidFill>
              <a:srgbClr val="DDE2E8"/>
            </a:solidFill>
            <a:prstDash val="solid"/>
          </a:ln>
        </p:spPr>
      </p:sp>
      <p:sp>
        <p:nvSpPr>
          <p:cNvPr id="5" name="impact_tick_0"/>
          <p:cNvSpPr txBox="1"/>
          <p:nvPr/>
        </p:nvSpPr>
        <p:spPr>
          <a:xfrm>
            <a:off x="274320" y="1572768"/>
            <a:ext cx="548640" cy="256032"/>
          </a:xfrm>
          <a:prstGeom prst="rect">
            <a:avLst/>
          </a:prstGeom>
          <a:noFill/>
          <a:ln/>
        </p:spPr>
        <p:txBody>
          <a:bodyPr wrap="square" lIns="0" tIns="0" rIns="0" bIns="0" rtlCol="0" anchor="ctr"/>
          <a:lstStyle/>
          <a:p>
            <a:pPr algn="ctr" indent="0" marL="0">
              <a:buNone/>
            </a:pPr>
            <a:r>
              <a:rPr lang="en-US" sz="1000" dirty="0">
                <a:solidFill>
                  <a:schemeClr val="tx2"/>
                </a:solidFill>
              </a:rPr>
              <a:t>0</a:t>
            </a:r>
            <a:endParaRPr lang="en-US" sz="1000" dirty="0"/>
          </a:p>
        </p:txBody>
      </p:sp>
      <p:sp>
        <p:nvSpPr>
          <p:cNvPr id="6" name="impact_grid_10"/>
          <p:cNvSpPr/>
          <p:nvPr/>
        </p:nvSpPr>
        <p:spPr>
          <a:xfrm>
            <a:off x="1971040" y="1828800"/>
            <a:ext cx="0" cy="3108960"/>
          </a:xfrm>
          <a:prstGeom prst="line">
            <a:avLst/>
          </a:prstGeom>
          <a:noFill/>
          <a:ln w="9525">
            <a:solidFill>
              <a:srgbClr val="DDE2E8"/>
            </a:solidFill>
            <a:prstDash val="solid"/>
          </a:ln>
        </p:spPr>
      </p:sp>
      <p:sp>
        <p:nvSpPr>
          <p:cNvPr id="7" name="impact_tick_10"/>
          <p:cNvSpPr txBox="1"/>
          <p:nvPr/>
        </p:nvSpPr>
        <p:spPr>
          <a:xfrm>
            <a:off x="1696720" y="1572768"/>
            <a:ext cx="548640" cy="256032"/>
          </a:xfrm>
          <a:prstGeom prst="rect">
            <a:avLst/>
          </a:prstGeom>
          <a:noFill/>
          <a:ln/>
        </p:spPr>
        <p:txBody>
          <a:bodyPr wrap="square" lIns="0" tIns="0" rIns="0" bIns="0" rtlCol="0" anchor="ctr"/>
          <a:lstStyle/>
          <a:p>
            <a:pPr algn="ctr" indent="0" marL="0">
              <a:buNone/>
            </a:pPr>
            <a:r>
              <a:rPr lang="en-US" sz="1000" dirty="0">
                <a:solidFill>
                  <a:schemeClr val="tx2"/>
                </a:solidFill>
              </a:rPr>
              <a:t>10</a:t>
            </a:r>
            <a:endParaRPr lang="en-US" sz="1000" dirty="0"/>
          </a:p>
        </p:txBody>
      </p:sp>
      <p:sp>
        <p:nvSpPr>
          <p:cNvPr id="8" name="impact_grid_20"/>
          <p:cNvSpPr/>
          <p:nvPr/>
        </p:nvSpPr>
        <p:spPr>
          <a:xfrm>
            <a:off x="3393440" y="1828800"/>
            <a:ext cx="0" cy="3108960"/>
          </a:xfrm>
          <a:prstGeom prst="line">
            <a:avLst/>
          </a:prstGeom>
          <a:noFill/>
          <a:ln w="9525">
            <a:solidFill>
              <a:srgbClr val="DDE2E8"/>
            </a:solidFill>
            <a:prstDash val="solid"/>
          </a:ln>
        </p:spPr>
      </p:sp>
      <p:sp>
        <p:nvSpPr>
          <p:cNvPr id="9" name="impact_tick_20"/>
          <p:cNvSpPr txBox="1"/>
          <p:nvPr/>
        </p:nvSpPr>
        <p:spPr>
          <a:xfrm>
            <a:off x="3119120" y="1572768"/>
            <a:ext cx="548640" cy="256032"/>
          </a:xfrm>
          <a:prstGeom prst="rect">
            <a:avLst/>
          </a:prstGeom>
          <a:noFill/>
          <a:ln/>
        </p:spPr>
        <p:txBody>
          <a:bodyPr wrap="square" lIns="0" tIns="0" rIns="0" bIns="0" rtlCol="0" anchor="ctr"/>
          <a:lstStyle/>
          <a:p>
            <a:pPr algn="ctr" indent="0" marL="0">
              <a:buNone/>
            </a:pPr>
            <a:r>
              <a:rPr lang="en-US" sz="1000" dirty="0">
                <a:solidFill>
                  <a:schemeClr val="tx2"/>
                </a:solidFill>
              </a:rPr>
              <a:t>20</a:t>
            </a:r>
            <a:endParaRPr lang="en-US" sz="1000" dirty="0"/>
          </a:p>
        </p:txBody>
      </p:sp>
      <p:sp>
        <p:nvSpPr>
          <p:cNvPr id="10" name="impact_grid_30"/>
          <p:cNvSpPr/>
          <p:nvPr/>
        </p:nvSpPr>
        <p:spPr>
          <a:xfrm>
            <a:off x="4815840" y="1828800"/>
            <a:ext cx="0" cy="3108960"/>
          </a:xfrm>
          <a:prstGeom prst="line">
            <a:avLst/>
          </a:prstGeom>
          <a:noFill/>
          <a:ln w="9525">
            <a:solidFill>
              <a:srgbClr val="DDE2E8"/>
            </a:solidFill>
            <a:prstDash val="solid"/>
          </a:ln>
        </p:spPr>
      </p:sp>
      <p:sp>
        <p:nvSpPr>
          <p:cNvPr id="11" name="impact_tick_30"/>
          <p:cNvSpPr txBox="1"/>
          <p:nvPr/>
        </p:nvSpPr>
        <p:spPr>
          <a:xfrm>
            <a:off x="4541520" y="1572768"/>
            <a:ext cx="548640" cy="256032"/>
          </a:xfrm>
          <a:prstGeom prst="rect">
            <a:avLst/>
          </a:prstGeom>
          <a:noFill/>
          <a:ln/>
        </p:spPr>
        <p:txBody>
          <a:bodyPr wrap="square" lIns="0" tIns="0" rIns="0" bIns="0" rtlCol="0" anchor="ctr"/>
          <a:lstStyle/>
          <a:p>
            <a:pPr algn="ctr" indent="0" marL="0">
              <a:buNone/>
            </a:pPr>
            <a:r>
              <a:rPr lang="en-US" sz="1000" dirty="0">
                <a:solidFill>
                  <a:schemeClr val="tx2"/>
                </a:solidFill>
              </a:rPr>
              <a:t>30</a:t>
            </a:r>
            <a:endParaRPr lang="en-US" sz="1000" dirty="0"/>
          </a:p>
        </p:txBody>
      </p:sp>
      <p:sp>
        <p:nvSpPr>
          <p:cNvPr id="12" name="impact_grid_40"/>
          <p:cNvSpPr/>
          <p:nvPr/>
        </p:nvSpPr>
        <p:spPr>
          <a:xfrm>
            <a:off x="6238240" y="1828800"/>
            <a:ext cx="0" cy="3108960"/>
          </a:xfrm>
          <a:prstGeom prst="line">
            <a:avLst/>
          </a:prstGeom>
          <a:noFill/>
          <a:ln w="9525">
            <a:solidFill>
              <a:srgbClr val="DDE2E8"/>
            </a:solidFill>
            <a:prstDash val="solid"/>
          </a:ln>
        </p:spPr>
      </p:sp>
      <p:sp>
        <p:nvSpPr>
          <p:cNvPr id="13" name="impact_tick_40"/>
          <p:cNvSpPr txBox="1"/>
          <p:nvPr/>
        </p:nvSpPr>
        <p:spPr>
          <a:xfrm>
            <a:off x="5963920" y="1572768"/>
            <a:ext cx="548640" cy="256032"/>
          </a:xfrm>
          <a:prstGeom prst="rect">
            <a:avLst/>
          </a:prstGeom>
          <a:noFill/>
          <a:ln/>
        </p:spPr>
        <p:txBody>
          <a:bodyPr wrap="square" lIns="0" tIns="0" rIns="0" bIns="0" rtlCol="0" anchor="ctr"/>
          <a:lstStyle/>
          <a:p>
            <a:pPr algn="ctr" indent="0" marL="0">
              <a:buNone/>
            </a:pPr>
            <a:r>
              <a:rPr lang="en-US" sz="1000" dirty="0">
                <a:solidFill>
                  <a:schemeClr val="tx2"/>
                </a:solidFill>
              </a:rPr>
              <a:t>40</a:t>
            </a:r>
            <a:endParaRPr lang="en-US" sz="1000" dirty="0"/>
          </a:p>
        </p:txBody>
      </p:sp>
      <p:sp>
        <p:nvSpPr>
          <p:cNvPr id="14" name="impact_row_0_label"/>
          <p:cNvSpPr txBox="1"/>
          <p:nvPr/>
        </p:nvSpPr>
        <p:spPr>
          <a:xfrm>
            <a:off x="548640" y="1856232"/>
            <a:ext cx="7040880" cy="237744"/>
          </a:xfrm>
          <a:prstGeom prst="rect">
            <a:avLst/>
          </a:prstGeom>
          <a:noFill/>
          <a:ln/>
        </p:spPr>
        <p:txBody>
          <a:bodyPr wrap="square" lIns="0" tIns="0" rIns="0" bIns="0" rtlCol="0" anchor="ctr"/>
          <a:lstStyle/>
          <a:p>
            <a:pPr indent="0" marL="0">
              <a:buNone/>
            </a:pPr>
            <a:r>
              <a:rPr lang="en-US" sz="1250" b="1" dirty="0">
                <a:solidFill>
                  <a:schemeClr val="tx1"/>
                </a:solidFill>
              </a:rPr>
              <a:t>2026 sentiment gap</a:t>
            </a:r>
            <a:endParaRPr lang="en-US" sz="1250" dirty="0"/>
          </a:p>
        </p:txBody>
      </p:sp>
      <p:sp>
        <p:nvSpPr>
          <p:cNvPr id="15" name="impact_row_0_seg_0"/>
          <p:cNvSpPr/>
          <p:nvPr/>
        </p:nvSpPr>
        <p:spPr>
          <a:xfrm>
            <a:off x="548640" y="2103120"/>
            <a:ext cx="5675376" cy="310896"/>
          </a:xfrm>
          <a:prstGeom prst="rect">
            <a:avLst/>
          </a:prstGeom>
          <a:solidFill>
            <a:schemeClr val="accent3"/>
          </a:solidFill>
          <a:ln w="9525">
            <a:solidFill>
              <a:srgbClr val="FFFFFF"/>
            </a:solidFill>
            <a:prstDash val="solid"/>
          </a:ln>
        </p:spPr>
      </p:sp>
      <p:sp>
        <p:nvSpPr>
          <p:cNvPr id="16" name="impact_row_0_value"/>
          <p:cNvSpPr txBox="1"/>
          <p:nvPr/>
        </p:nvSpPr>
        <p:spPr>
          <a:xfrm>
            <a:off x="6315456" y="2103120"/>
            <a:ext cx="2011680" cy="310896"/>
          </a:xfrm>
          <a:prstGeom prst="rect">
            <a:avLst/>
          </a:prstGeom>
          <a:noFill/>
          <a:ln/>
        </p:spPr>
        <p:txBody>
          <a:bodyPr wrap="square" lIns="0" tIns="0" rIns="0" bIns="0" rtlCol="0" anchor="ctr"/>
          <a:lstStyle/>
          <a:p>
            <a:pPr indent="0" marL="0">
              <a:buNone/>
            </a:pPr>
            <a:r>
              <a:rPr lang="en-US" sz="1400" b="1" dirty="0">
                <a:solidFill>
                  <a:schemeClr val="tx1"/>
                </a:solidFill>
              </a:rPr>
              <a:t>39.9</a:t>
            </a:r>
            <a:endParaRPr lang="en-US" sz="1400" dirty="0"/>
          </a:p>
        </p:txBody>
      </p:sp>
      <p:sp>
        <p:nvSpPr>
          <p:cNvPr id="17" name="impact_row_1_label"/>
          <p:cNvSpPr txBox="1"/>
          <p:nvPr/>
        </p:nvSpPr>
        <p:spPr>
          <a:xfrm>
            <a:off x="548640" y="2478024"/>
            <a:ext cx="7040880" cy="237744"/>
          </a:xfrm>
          <a:prstGeom prst="rect">
            <a:avLst/>
          </a:prstGeom>
          <a:noFill/>
          <a:ln/>
        </p:spPr>
        <p:txBody>
          <a:bodyPr wrap="square" lIns="0" tIns="0" rIns="0" bIns="0" rtlCol="0" anchor="ctr"/>
          <a:lstStyle/>
          <a:p>
            <a:pPr indent="0" marL="0">
              <a:buNone/>
            </a:pPr>
            <a:r>
              <a:rPr lang="en-US" sz="1250" b="1" dirty="0">
                <a:solidFill>
                  <a:schemeClr val="tx1"/>
                </a:solidFill>
              </a:rPr>
              <a:t>Survey switch to web interviews (a measurement change, not media)</a:t>
            </a:r>
            <a:endParaRPr lang="en-US" sz="1250" dirty="0"/>
          </a:p>
        </p:txBody>
      </p:sp>
      <p:sp>
        <p:nvSpPr>
          <p:cNvPr id="18" name="impact_row_1_seg_0"/>
          <p:cNvSpPr/>
          <p:nvPr/>
        </p:nvSpPr>
        <p:spPr>
          <a:xfrm>
            <a:off x="548640" y="2724912"/>
            <a:ext cx="938784" cy="310896"/>
          </a:xfrm>
          <a:prstGeom prst="rect">
            <a:avLst/>
          </a:prstGeom>
          <a:solidFill>
            <a:schemeClr val="accent4"/>
          </a:solidFill>
          <a:ln w="9525">
            <a:solidFill>
              <a:srgbClr val="FFFFFF"/>
            </a:solidFill>
            <a:prstDash val="solid"/>
          </a:ln>
        </p:spPr>
      </p:sp>
      <p:sp>
        <p:nvSpPr>
          <p:cNvPr id="19" name="impact_row_1_value"/>
          <p:cNvSpPr txBox="1"/>
          <p:nvPr/>
        </p:nvSpPr>
        <p:spPr>
          <a:xfrm>
            <a:off x="1578864" y="2724912"/>
            <a:ext cx="2011680" cy="310896"/>
          </a:xfrm>
          <a:prstGeom prst="rect">
            <a:avLst/>
          </a:prstGeom>
          <a:noFill/>
          <a:ln/>
        </p:spPr>
        <p:txBody>
          <a:bodyPr wrap="square" lIns="0" tIns="0" rIns="0" bIns="0" rtlCol="0" anchor="ctr"/>
          <a:lstStyle/>
          <a:p>
            <a:pPr indent="0" marL="0">
              <a:buNone/>
            </a:pPr>
            <a:r>
              <a:rPr lang="en-US" sz="1400" b="1" dirty="0">
                <a:solidFill>
                  <a:schemeClr val="tx1"/>
                </a:solidFill>
              </a:rPr>
              <a:t>6.6</a:t>
            </a:r>
            <a:endParaRPr lang="en-US" sz="1400" dirty="0"/>
          </a:p>
        </p:txBody>
      </p:sp>
      <p:sp>
        <p:nvSpPr>
          <p:cNvPr id="20" name="impact_row_2_label"/>
          <p:cNvSpPr txBox="1"/>
          <p:nvPr/>
        </p:nvSpPr>
        <p:spPr>
          <a:xfrm>
            <a:off x="548640" y="3099816"/>
            <a:ext cx="7040880" cy="237744"/>
          </a:xfrm>
          <a:prstGeom prst="rect">
            <a:avLst/>
          </a:prstGeom>
          <a:noFill/>
          <a:ln/>
        </p:spPr>
        <p:txBody>
          <a:bodyPr wrap="square" lIns="0" tIns="0" rIns="0" bIns="0" rtlCol="0" anchor="ctr"/>
          <a:lstStyle/>
          <a:p>
            <a:pPr indent="0" marL="0">
              <a:buNone/>
            </a:pPr>
            <a:r>
              <a:rPr lang="en-US" sz="1250" b="1" dirty="0">
                <a:solidFill>
                  <a:schemeClr val="tx1"/>
                </a:solidFill>
              </a:rPr>
              <a:t>Media tone, household costs in the model (90% upper bound)</a:t>
            </a:r>
            <a:endParaRPr lang="en-US" sz="1250" dirty="0"/>
          </a:p>
        </p:txBody>
      </p:sp>
      <p:sp>
        <p:nvSpPr>
          <p:cNvPr id="21" name="impact_row_2_seg_0"/>
          <p:cNvSpPr/>
          <p:nvPr/>
        </p:nvSpPr>
        <p:spPr>
          <a:xfrm>
            <a:off x="548640" y="3346704"/>
            <a:ext cx="341376" cy="310896"/>
          </a:xfrm>
          <a:prstGeom prst="rect">
            <a:avLst/>
          </a:prstGeom>
          <a:solidFill>
            <a:schemeClr val="accent1"/>
          </a:solidFill>
          <a:ln w="9525">
            <a:solidFill>
              <a:srgbClr val="FFFFFF"/>
            </a:solidFill>
            <a:prstDash val="solid"/>
          </a:ln>
        </p:spPr>
      </p:sp>
      <p:sp>
        <p:nvSpPr>
          <p:cNvPr id="22" name="impact_row_2_seg_1"/>
          <p:cNvSpPr/>
          <p:nvPr/>
        </p:nvSpPr>
        <p:spPr>
          <a:xfrm>
            <a:off x="890016" y="3346704"/>
            <a:ext cx="56896" cy="310896"/>
          </a:xfrm>
          <a:prstGeom prst="rect">
            <a:avLst/>
          </a:prstGeom>
          <a:solidFill>
            <a:schemeClr val="accent6"/>
          </a:solidFill>
          <a:ln w="9525">
            <a:solidFill>
              <a:srgbClr val="FFFFFF"/>
            </a:solidFill>
            <a:prstDash val="solid"/>
          </a:ln>
        </p:spPr>
      </p:sp>
      <p:sp>
        <p:nvSpPr>
          <p:cNvPr id="23" name="impact_row_2_value"/>
          <p:cNvSpPr txBox="1"/>
          <p:nvPr/>
        </p:nvSpPr>
        <p:spPr>
          <a:xfrm>
            <a:off x="1038352" y="3346704"/>
            <a:ext cx="2011680" cy="310896"/>
          </a:xfrm>
          <a:prstGeom prst="rect">
            <a:avLst/>
          </a:prstGeom>
          <a:noFill/>
          <a:ln/>
        </p:spPr>
        <p:txBody>
          <a:bodyPr wrap="square" lIns="0" tIns="0" rIns="0" bIns="0" rtlCol="0" anchor="ctr"/>
          <a:lstStyle/>
          <a:p>
            <a:pPr indent="0" marL="0">
              <a:buNone/>
            </a:pPr>
            <a:r>
              <a:rPr lang="en-US" sz="1400" b="1" dirty="0">
                <a:solidFill>
                  <a:schemeClr val="tx1"/>
                </a:solidFill>
              </a:rPr>
              <a:t>at most 2.8</a:t>
            </a:r>
            <a:endParaRPr lang="en-US" sz="1400" dirty="0"/>
          </a:p>
        </p:txBody>
      </p:sp>
      <p:sp>
        <p:nvSpPr>
          <p:cNvPr id="24" name="impact_row_3_label"/>
          <p:cNvSpPr txBox="1"/>
          <p:nvPr/>
        </p:nvSpPr>
        <p:spPr>
          <a:xfrm>
            <a:off x="548640" y="3721608"/>
            <a:ext cx="7040880" cy="237744"/>
          </a:xfrm>
          <a:prstGeom prst="rect">
            <a:avLst/>
          </a:prstGeom>
          <a:noFill/>
          <a:ln/>
        </p:spPr>
        <p:txBody>
          <a:bodyPr wrap="square" lIns="0" tIns="0" rIns="0" bIns="0" rtlCol="0" anchor="ctr"/>
          <a:lstStyle/>
          <a:p>
            <a:pPr indent="0" marL="0">
              <a:buNone/>
            </a:pPr>
            <a:r>
              <a:rPr lang="en-US" sz="1250" b="1" dirty="0">
                <a:solidFill>
                  <a:schemeClr val="tx1"/>
                </a:solidFill>
              </a:rPr>
              <a:t>Media tone, household costs left out (90% upper bound)</a:t>
            </a:r>
            <a:endParaRPr lang="en-US" sz="1250" dirty="0"/>
          </a:p>
        </p:txBody>
      </p:sp>
      <p:sp>
        <p:nvSpPr>
          <p:cNvPr id="25" name="impact_row_3_seg_0"/>
          <p:cNvSpPr/>
          <p:nvPr/>
        </p:nvSpPr>
        <p:spPr>
          <a:xfrm>
            <a:off x="548640" y="3968496"/>
            <a:ext cx="696976" cy="310896"/>
          </a:xfrm>
          <a:prstGeom prst="rect">
            <a:avLst/>
          </a:prstGeom>
          <a:solidFill>
            <a:schemeClr val="accent1"/>
          </a:solidFill>
          <a:ln w="9525">
            <a:solidFill>
              <a:srgbClr val="FFFFFF"/>
            </a:solidFill>
            <a:prstDash val="solid"/>
          </a:ln>
        </p:spPr>
      </p:sp>
      <p:sp>
        <p:nvSpPr>
          <p:cNvPr id="26" name="impact_row_3_seg_1"/>
          <p:cNvSpPr/>
          <p:nvPr/>
        </p:nvSpPr>
        <p:spPr>
          <a:xfrm>
            <a:off x="1245616" y="3968496"/>
            <a:ext cx="113792" cy="310896"/>
          </a:xfrm>
          <a:prstGeom prst="rect">
            <a:avLst/>
          </a:prstGeom>
          <a:solidFill>
            <a:schemeClr val="accent6"/>
          </a:solidFill>
          <a:ln w="9525">
            <a:solidFill>
              <a:srgbClr val="FFFFFF"/>
            </a:solidFill>
            <a:prstDash val="solid"/>
          </a:ln>
        </p:spPr>
      </p:sp>
      <p:sp>
        <p:nvSpPr>
          <p:cNvPr id="27" name="impact_row_3_value"/>
          <p:cNvSpPr txBox="1"/>
          <p:nvPr/>
        </p:nvSpPr>
        <p:spPr>
          <a:xfrm>
            <a:off x="1450848" y="3968496"/>
            <a:ext cx="2011680" cy="310896"/>
          </a:xfrm>
          <a:prstGeom prst="rect">
            <a:avLst/>
          </a:prstGeom>
          <a:noFill/>
          <a:ln/>
        </p:spPr>
        <p:txBody>
          <a:bodyPr wrap="square" lIns="0" tIns="0" rIns="0" bIns="0" rtlCol="0" anchor="ctr"/>
          <a:lstStyle/>
          <a:p>
            <a:pPr indent="0" marL="0">
              <a:buNone/>
            </a:pPr>
            <a:r>
              <a:rPr lang="en-US" sz="1400" b="1" dirty="0">
                <a:solidFill>
                  <a:schemeClr val="tx1"/>
                </a:solidFill>
              </a:rPr>
              <a:t>at most 5.7</a:t>
            </a:r>
            <a:endParaRPr lang="en-US" sz="1400" dirty="0"/>
          </a:p>
        </p:txBody>
      </p:sp>
      <p:sp>
        <p:nvSpPr>
          <p:cNvPr id="28" name="impact_row_4_label"/>
          <p:cNvSpPr txBox="1"/>
          <p:nvPr/>
        </p:nvSpPr>
        <p:spPr>
          <a:xfrm>
            <a:off x="548640" y="4343400"/>
            <a:ext cx="7040880" cy="237744"/>
          </a:xfrm>
          <a:prstGeom prst="rect">
            <a:avLst/>
          </a:prstGeom>
          <a:noFill/>
          <a:ln/>
        </p:spPr>
        <p:txBody>
          <a:bodyPr wrap="square" lIns="0" tIns="0" rIns="0" bIns="0" rtlCol="0" anchor="ctr"/>
          <a:lstStyle/>
          <a:p>
            <a:pPr indent="0" marL="0">
              <a:buNone/>
            </a:pPr>
            <a:r>
              <a:rPr lang="en-US" sz="1250" b="1" dirty="0">
                <a:solidFill>
                  <a:schemeClr val="tx1"/>
                </a:solidFill>
              </a:rPr>
              <a:t>Household costs, same model (points of the 2019-26 fall, best estimate)</a:t>
            </a:r>
            <a:endParaRPr lang="en-US" sz="1250" dirty="0"/>
          </a:p>
        </p:txBody>
      </p:sp>
      <p:sp>
        <p:nvSpPr>
          <p:cNvPr id="29" name="impact_row_4_seg_0"/>
          <p:cNvSpPr/>
          <p:nvPr/>
        </p:nvSpPr>
        <p:spPr>
          <a:xfrm>
            <a:off x="548640" y="4590288"/>
            <a:ext cx="2702560" cy="310896"/>
          </a:xfrm>
          <a:prstGeom prst="rect">
            <a:avLst/>
          </a:prstGeom>
          <a:solidFill>
            <a:schemeClr val="accent2"/>
          </a:solidFill>
          <a:ln w="9525">
            <a:solidFill>
              <a:srgbClr val="FFFFFF"/>
            </a:solidFill>
            <a:prstDash val="solid"/>
          </a:ln>
        </p:spPr>
      </p:sp>
      <p:sp>
        <p:nvSpPr>
          <p:cNvPr id="30" name="impact_row_4_value"/>
          <p:cNvSpPr txBox="1"/>
          <p:nvPr/>
        </p:nvSpPr>
        <p:spPr>
          <a:xfrm>
            <a:off x="3342640" y="4590288"/>
            <a:ext cx="2011680" cy="310896"/>
          </a:xfrm>
          <a:prstGeom prst="rect">
            <a:avLst/>
          </a:prstGeom>
          <a:noFill/>
          <a:ln/>
        </p:spPr>
        <p:txBody>
          <a:bodyPr wrap="square" lIns="0" tIns="0" rIns="0" bIns="0" rtlCol="0" anchor="ctr"/>
          <a:lstStyle/>
          <a:p>
            <a:pPr indent="0" marL="0">
              <a:buNone/>
            </a:pPr>
            <a:r>
              <a:rPr lang="en-US" sz="1400" b="1" dirty="0">
                <a:solidFill>
                  <a:schemeClr val="tx1"/>
                </a:solidFill>
              </a:rPr>
              <a:t>about 19 (10 to 28)</a:t>
            </a:r>
            <a:endParaRPr lang="en-US" sz="1400" dirty="0"/>
          </a:p>
        </p:txBody>
      </p:sp>
      <p:sp>
        <p:nvSpPr>
          <p:cNvPr id="31" name="impact_key_0"/>
          <p:cNvSpPr/>
          <p:nvPr/>
        </p:nvSpPr>
        <p:spPr>
          <a:xfrm>
            <a:off x="548640" y="5010912"/>
            <a:ext cx="182880" cy="182880"/>
          </a:xfrm>
          <a:prstGeom prst="rect">
            <a:avLst/>
          </a:prstGeom>
          <a:solidFill>
            <a:schemeClr val="accent1"/>
          </a:solidFill>
          <a:ln w="12700">
            <a:solidFill>
              <a:schemeClr val="accent1"/>
            </a:solidFill>
            <a:prstDash val="solid"/>
          </a:ln>
        </p:spPr>
      </p:sp>
      <p:sp>
        <p:nvSpPr>
          <p:cNvPr id="32" name="impact_key_0_text"/>
          <p:cNvSpPr txBox="1"/>
          <p:nvPr/>
        </p:nvSpPr>
        <p:spPr>
          <a:xfrm>
            <a:off x="822960" y="4965192"/>
            <a:ext cx="2926080" cy="274320"/>
          </a:xfrm>
          <a:prstGeom prst="rect">
            <a:avLst/>
          </a:prstGeom>
          <a:noFill/>
          <a:ln/>
        </p:spPr>
        <p:txBody>
          <a:bodyPr wrap="square" lIns="0" tIns="0" rIns="0" bIns="0" rtlCol="0" anchor="ctr"/>
          <a:lstStyle/>
          <a:p>
            <a:pPr indent="0" marL="0">
              <a:buNone/>
            </a:pPr>
            <a:r>
              <a:rPr lang="en-US" sz="1200" dirty="0">
                <a:solidFill>
                  <a:schemeClr val="tx1"/>
                </a:solidFill>
              </a:rPr>
              <a:t>News tone (Tier C, news headlines)</a:t>
            </a:r>
            <a:endParaRPr lang="en-US" sz="1200" dirty="0"/>
          </a:p>
        </p:txBody>
      </p:sp>
      <p:sp>
        <p:nvSpPr>
          <p:cNvPr id="33" name="impact_key_1"/>
          <p:cNvSpPr/>
          <p:nvPr/>
        </p:nvSpPr>
        <p:spPr>
          <a:xfrm>
            <a:off x="3840480" y="5010912"/>
            <a:ext cx="182880" cy="182880"/>
          </a:xfrm>
          <a:prstGeom prst="rect">
            <a:avLst/>
          </a:prstGeom>
          <a:solidFill>
            <a:schemeClr val="accent6"/>
          </a:solidFill>
          <a:ln w="12700">
            <a:solidFill>
              <a:schemeClr val="accent6"/>
            </a:solidFill>
            <a:prstDash val="solid"/>
          </a:ln>
        </p:spPr>
      </p:sp>
      <p:sp>
        <p:nvSpPr>
          <p:cNvPr id="34" name="impact_key_1_text"/>
          <p:cNvSpPr txBox="1"/>
          <p:nvPr/>
        </p:nvSpPr>
        <p:spPr>
          <a:xfrm>
            <a:off x="4114800" y="4965192"/>
            <a:ext cx="2926080" cy="274320"/>
          </a:xfrm>
          <a:prstGeom prst="rect">
            <a:avLst/>
          </a:prstGeom>
          <a:noFill/>
          <a:ln/>
        </p:spPr>
        <p:txBody>
          <a:bodyPr wrap="square" lIns="0" tIns="0" rIns="0" bIns="0" rtlCol="0" anchor="ctr"/>
          <a:lstStyle/>
          <a:p>
            <a:pPr indent="0" marL="0">
              <a:buNone/>
            </a:pPr>
            <a:r>
              <a:rPr lang="en-US" sz="1200" dirty="0">
                <a:solidFill>
                  <a:schemeClr val="tx1"/>
                </a:solidFill>
              </a:rPr>
              <a:t>Reddit tone (exploratory)</a:t>
            </a:r>
            <a:endParaRPr lang="en-US" sz="1200" dirty="0"/>
          </a:p>
        </p:txBody>
      </p:sp>
      <p:sp>
        <p:nvSpPr>
          <p:cNvPr id="35" name="impact_note"/>
          <p:cNvSpPr txBox="1"/>
          <p:nvPr/>
        </p:nvSpPr>
        <p:spPr>
          <a:xfrm>
            <a:off x="548640" y="5266944"/>
            <a:ext cx="7223760" cy="365760"/>
          </a:xfrm>
          <a:prstGeom prst="rect">
            <a:avLst/>
          </a:prstGeom>
          <a:noFill/>
          <a:ln/>
        </p:spPr>
        <p:txBody>
          <a:bodyPr wrap="square" lIns="0" tIns="0" rIns="0" bIns="0" rtlCol="0" anchor="t"/>
          <a:lstStyle/>
          <a:p>
            <a:pPr indent="0" marL="0">
              <a:buNone/>
            </a:pPr>
            <a:r>
              <a:rPr lang="en-US" sz="1050" dirty="0">
                <a:solidFill>
                  <a:schemeClr val="tx2"/>
                </a:solidFill>
              </a:rPr>
              <a:t>Bars 3 to 5 come from models fit on 2010 to 2026 (in sample), so slide 10 does not subtract them. Media best estimates: news about 1.0 (2.4 without household costs), Reddit about 0.</a:t>
            </a:r>
            <a:endParaRPr lang="en-US" sz="1050" dirty="0"/>
          </a:p>
        </p:txBody>
      </p:sp>
      <p:sp>
        <p:nvSpPr>
          <p:cNvPr id="36" name="impact_steps_head"/>
          <p:cNvSpPr txBox="1"/>
          <p:nvPr/>
        </p:nvSpPr>
        <p:spPr>
          <a:xfrm>
            <a:off x="8001000" y="1252728"/>
            <a:ext cx="3611880" cy="292608"/>
          </a:xfrm>
          <a:prstGeom prst="rect">
            <a:avLst/>
          </a:prstGeom>
          <a:noFill/>
          <a:ln/>
        </p:spPr>
        <p:txBody>
          <a:bodyPr wrap="square" lIns="0" tIns="0" rIns="0" bIns="0" rtlCol="0" anchor="ctr"/>
          <a:lstStyle/>
          <a:p>
            <a:pPr indent="0" marL="0">
              <a:buNone/>
            </a:pPr>
            <a:r>
              <a:rPr lang="en-US" sz="1400" b="1" dirty="0">
                <a:solidFill>
                  <a:schemeClr val="tx2"/>
                </a:solidFill>
              </a:rPr>
              <a:t>How we got the media number</a:t>
            </a:r>
            <a:endParaRPr lang="en-US" sz="1400" dirty="0"/>
          </a:p>
        </p:txBody>
      </p:sp>
      <p:sp>
        <p:nvSpPr>
          <p:cNvPr id="37" name="impact_step_1_circle"/>
          <p:cNvSpPr/>
          <p:nvPr/>
        </p:nvSpPr>
        <p:spPr>
          <a:xfrm>
            <a:off x="8001000" y="1691640"/>
            <a:ext cx="384048" cy="384048"/>
          </a:xfrm>
          <a:prstGeom prst="ellipse">
            <a:avLst/>
          </a:prstGeom>
          <a:solidFill>
            <a:schemeClr val="accent2"/>
          </a:solidFill>
          <a:ln w="12700">
            <a:solidFill>
              <a:schemeClr val="accent2"/>
            </a:solidFill>
            <a:prstDash val="solid"/>
          </a:ln>
        </p:spPr>
      </p:sp>
      <p:sp>
        <p:nvSpPr>
          <p:cNvPr id="38" name="impact_step_1_tag"/>
          <p:cNvSpPr txBox="1"/>
          <p:nvPr/>
        </p:nvSpPr>
        <p:spPr>
          <a:xfrm>
            <a:off x="8001000" y="16916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9" name="impact_step_1_head"/>
          <p:cNvSpPr txBox="1"/>
          <p:nvPr/>
        </p:nvSpPr>
        <p:spPr>
          <a:xfrm>
            <a:off x="8503920" y="1673352"/>
            <a:ext cx="3108960" cy="292608"/>
          </a:xfrm>
          <a:prstGeom prst="rect">
            <a:avLst/>
          </a:prstGeom>
          <a:noFill/>
          <a:ln/>
        </p:spPr>
        <p:txBody>
          <a:bodyPr wrap="square" lIns="0" tIns="0" rIns="0" bIns="0" rtlCol="0" anchor="ctr"/>
          <a:lstStyle/>
          <a:p>
            <a:pPr indent="0" marL="0">
              <a:buNone/>
            </a:pPr>
            <a:r>
              <a:rPr lang="en-US" sz="1350" b="1" dirty="0">
                <a:solidFill>
                  <a:schemeClr val="tx1"/>
                </a:solidFill>
              </a:rPr>
              <a:t>One model, three blocks</a:t>
            </a:r>
            <a:endParaRPr lang="en-US" sz="1350" dirty="0"/>
          </a:p>
        </p:txBody>
      </p:sp>
      <p:sp>
        <p:nvSpPr>
          <p:cNvPr id="40" name="impact_step_1_body"/>
          <p:cNvSpPr txBox="1"/>
          <p:nvPr/>
        </p:nvSpPr>
        <p:spPr>
          <a:xfrm>
            <a:off x="8503920" y="1975104"/>
            <a:ext cx="3108960" cy="548640"/>
          </a:xfrm>
          <a:prstGeom prst="rect">
            <a:avLst/>
          </a:prstGeom>
          <a:noFill/>
          <a:ln/>
        </p:spPr>
        <p:txBody>
          <a:bodyPr wrap="square" lIns="0" tIns="0" rIns="0" bIns="0" rtlCol="0" anchor="t"/>
          <a:lstStyle/>
          <a:p>
            <a:pPr indent="0" marL="0">
              <a:buNone/>
            </a:pPr>
            <a:r>
              <a:rPr lang="en-US" sz="1150" dirty="0">
                <a:solidFill>
                  <a:schemeClr val="tx2"/>
                </a:solidFill>
              </a:rPr>
              <a:t>Sentiment on the economy, six household costs and news tone, 191 months from 2010 to 2026</a:t>
            </a:r>
            <a:endParaRPr lang="en-US" sz="1150" dirty="0"/>
          </a:p>
        </p:txBody>
      </p:sp>
      <p:sp>
        <p:nvSpPr>
          <p:cNvPr id="41" name="impact_step_2_circle"/>
          <p:cNvSpPr/>
          <p:nvPr/>
        </p:nvSpPr>
        <p:spPr>
          <a:xfrm>
            <a:off x="8001000" y="2606040"/>
            <a:ext cx="384048" cy="384048"/>
          </a:xfrm>
          <a:prstGeom prst="ellipse">
            <a:avLst/>
          </a:prstGeom>
          <a:solidFill>
            <a:schemeClr val="accent2"/>
          </a:solidFill>
          <a:ln w="12700">
            <a:solidFill>
              <a:schemeClr val="accent2"/>
            </a:solidFill>
            <a:prstDash val="solid"/>
          </a:ln>
        </p:spPr>
      </p:sp>
      <p:sp>
        <p:nvSpPr>
          <p:cNvPr id="42" name="impact_step_2_tag"/>
          <p:cNvSpPr txBox="1"/>
          <p:nvPr/>
        </p:nvSpPr>
        <p:spPr>
          <a:xfrm>
            <a:off x="8001000" y="26060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43" name="impact_step_2_head"/>
          <p:cNvSpPr txBox="1"/>
          <p:nvPr/>
        </p:nvSpPr>
        <p:spPr>
          <a:xfrm>
            <a:off x="8503920" y="2587752"/>
            <a:ext cx="3108960" cy="292608"/>
          </a:xfrm>
          <a:prstGeom prst="rect">
            <a:avLst/>
          </a:prstGeom>
          <a:noFill/>
          <a:ln/>
        </p:spPr>
        <p:txBody>
          <a:bodyPr wrap="square" lIns="0" tIns="0" rIns="0" bIns="0" rtlCol="0" anchor="ctr"/>
          <a:lstStyle/>
          <a:p>
            <a:pPr indent="0" marL="0">
              <a:buNone/>
            </a:pPr>
            <a:r>
              <a:rPr lang="en-US" sz="1350" b="1" dirty="0">
                <a:solidFill>
                  <a:schemeClr val="tx1"/>
                </a:solidFill>
              </a:rPr>
              <a:t>Assume the link is causal</a:t>
            </a:r>
            <a:endParaRPr lang="en-US" sz="1350" dirty="0"/>
          </a:p>
        </p:txBody>
      </p:sp>
      <p:sp>
        <p:nvSpPr>
          <p:cNvPr id="44" name="impact_step_2_body"/>
          <p:cNvSpPr txBox="1"/>
          <p:nvPr/>
        </p:nvSpPr>
        <p:spPr>
          <a:xfrm>
            <a:off x="8503920" y="2889504"/>
            <a:ext cx="3108960" cy="548640"/>
          </a:xfrm>
          <a:prstGeom prst="rect">
            <a:avLst/>
          </a:prstGeom>
          <a:noFill/>
          <a:ln/>
        </p:spPr>
        <p:txBody>
          <a:bodyPr wrap="square" lIns="0" tIns="0" rIns="0" bIns="0" rtlCol="0" anchor="t"/>
          <a:lstStyle/>
          <a:p>
            <a:pPr indent="0" marL="0">
              <a:buNone/>
            </a:pPr>
            <a:r>
              <a:rPr lang="en-US" sz="1150" dirty="0">
                <a:solidFill>
                  <a:schemeClr val="tx2"/>
                </a:solidFill>
              </a:rPr>
              <a:t>That is, all of it runs from the news to people's mood, none from shared causes such as gas prices</a:t>
            </a:r>
            <a:endParaRPr lang="en-US" sz="1150" dirty="0"/>
          </a:p>
        </p:txBody>
      </p:sp>
      <p:sp>
        <p:nvSpPr>
          <p:cNvPr id="45" name="impact_step_3_circle"/>
          <p:cNvSpPr/>
          <p:nvPr/>
        </p:nvSpPr>
        <p:spPr>
          <a:xfrm>
            <a:off x="8001000" y="3520440"/>
            <a:ext cx="384048" cy="384048"/>
          </a:xfrm>
          <a:prstGeom prst="ellipse">
            <a:avLst/>
          </a:prstGeom>
          <a:solidFill>
            <a:schemeClr val="accent2"/>
          </a:solidFill>
          <a:ln w="12700">
            <a:solidFill>
              <a:schemeClr val="accent2"/>
            </a:solidFill>
            <a:prstDash val="solid"/>
          </a:ln>
        </p:spPr>
      </p:sp>
      <p:sp>
        <p:nvSpPr>
          <p:cNvPr id="46" name="impact_step_3_tag"/>
          <p:cNvSpPr txBox="1"/>
          <p:nvPr/>
        </p:nvSpPr>
        <p:spPr>
          <a:xfrm>
            <a:off x="8001000" y="3520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7" name="impact_step_3_head"/>
          <p:cNvSpPr txBox="1"/>
          <p:nvPr/>
        </p:nvSpPr>
        <p:spPr>
          <a:xfrm>
            <a:off x="8503920" y="3502152"/>
            <a:ext cx="3108960" cy="292608"/>
          </a:xfrm>
          <a:prstGeom prst="rect">
            <a:avLst/>
          </a:prstGeom>
          <a:noFill/>
          <a:ln/>
        </p:spPr>
        <p:txBody>
          <a:bodyPr wrap="square" lIns="0" tIns="0" rIns="0" bIns="0" rtlCol="0" anchor="ctr"/>
          <a:lstStyle/>
          <a:p>
            <a:pPr indent="0" marL="0">
              <a:buNone/>
            </a:pPr>
            <a:r>
              <a:rPr lang="en-US" sz="1350" b="1" dirty="0">
                <a:solidFill>
                  <a:schemeClr val="tx1"/>
                </a:solidFill>
              </a:rPr>
              <a:t>1 pp darker news → 0.06 points lower</a:t>
            </a:r>
            <a:endParaRPr lang="en-US" sz="1350" dirty="0"/>
          </a:p>
        </p:txBody>
      </p:sp>
      <p:sp>
        <p:nvSpPr>
          <p:cNvPr id="48" name="impact_step_3_body"/>
          <p:cNvSpPr txBox="1"/>
          <p:nvPr/>
        </p:nvSpPr>
        <p:spPr>
          <a:xfrm>
            <a:off x="8503920" y="3803904"/>
            <a:ext cx="3108960" cy="548640"/>
          </a:xfrm>
          <a:prstGeom prst="rect">
            <a:avLst/>
          </a:prstGeom>
          <a:noFill/>
          <a:ln/>
        </p:spPr>
        <p:txBody>
          <a:bodyPr wrap="square" lIns="0" tIns="0" rIns="0" bIns="0" rtlCol="0" anchor="t"/>
          <a:lstStyle/>
          <a:p>
            <a:pPr indent="0" marL="0">
              <a:buNone/>
            </a:pPr>
            <a:r>
              <a:rPr lang="en-US" sz="1150" dirty="0">
                <a:solidFill>
                  <a:schemeClr val="tx2"/>
                </a:solidFill>
              </a:rPr>
              <a:t>News got 16 pp darker from 2019 to 2026: about 1.0 point, at most 2.4</a:t>
            </a:r>
            <a:endParaRPr lang="en-US" sz="1150" dirty="0"/>
          </a:p>
        </p:txBody>
      </p:sp>
      <p:sp>
        <p:nvSpPr>
          <p:cNvPr id="49" name="impact_why_box"/>
          <p:cNvSpPr/>
          <p:nvPr/>
        </p:nvSpPr>
        <p:spPr>
          <a:xfrm>
            <a:off x="8001000" y="4480560"/>
            <a:ext cx="3611880" cy="1143000"/>
          </a:xfrm>
          <a:prstGeom prst="roundRect">
            <a:avLst>
              <a:gd name="adj" fmla="val 6400"/>
            </a:avLst>
          </a:prstGeom>
          <a:solidFill>
            <a:schemeClr val="bg2"/>
          </a:solidFill>
          <a:ln w="12700">
            <a:solidFill>
              <a:schemeClr val="bg2"/>
            </a:solidFill>
            <a:prstDash val="solid"/>
          </a:ln>
        </p:spPr>
      </p:sp>
      <p:sp>
        <p:nvSpPr>
          <p:cNvPr id="50" name="impact_why"/>
          <p:cNvSpPr txBox="1"/>
          <p:nvPr/>
        </p:nvSpPr>
        <p:spPr>
          <a:xfrm>
            <a:off x="8138160" y="4526280"/>
            <a:ext cx="3337560" cy="1051560"/>
          </a:xfrm>
          <a:prstGeom prst="rect">
            <a:avLst/>
          </a:prstGeom>
          <a:noFill/>
          <a:ln/>
        </p:spPr>
        <p:txBody>
          <a:bodyPr wrap="square" lIns="0" tIns="0" rIns="0" bIns="0" rtlCol="0" anchor="ctr"/>
          <a:lstStyle/>
          <a:p>
            <a:pPr indent="0" marL="0">
              <a:buNone/>
            </a:pPr>
            <a:r>
              <a:rPr lang="en-US" sz="1150" b="1" dirty="0">
                <a:solidFill>
                  <a:schemeClr val="tx1"/>
                </a:solidFill>
              </a:rPr>
              <a:t>Why the news number is small: </a:t>
            </a:r>
            <a:pPr indent="0" marL="0">
              <a:buNone/>
            </a:pPr>
            <a:r>
              <a:rPr lang="en-US" sz="1150" dirty="0">
                <a:solidFill>
                  <a:schemeClr val="tx2"/>
                </a:solidFill>
              </a:rPr>
              <a:t>news mostly reports pressures people already feel (prices, gas, rates), and mood moves first. Household costs carry those pressures, so they absorb most of the news effect: 2.4 without them, 1.0 with them.</a:t>
            </a:r>
            <a:endParaRPr lang="en-US" sz="1150" dirty="0"/>
          </a:p>
        </p:txBody>
      </p:sp>
      <p:sp>
        <p:nvSpPr>
          <p:cNvPr id="51" name="takeaway_box"/>
          <p:cNvSpPr/>
          <p:nvPr/>
        </p:nvSpPr>
        <p:spPr>
          <a:xfrm>
            <a:off x="548640" y="5742432"/>
            <a:ext cx="11064240" cy="548640"/>
          </a:xfrm>
          <a:prstGeom prst="roundRect">
            <a:avLst>
              <a:gd name="adj" fmla="val 13333"/>
            </a:avLst>
          </a:prstGeom>
          <a:solidFill>
            <a:schemeClr val="bg2"/>
          </a:solidFill>
          <a:ln w="12700">
            <a:solidFill>
              <a:schemeClr val="bg2"/>
            </a:solidFill>
            <a:prstDash val="solid"/>
          </a:ln>
        </p:spPr>
      </p:sp>
      <p:sp>
        <p:nvSpPr>
          <p:cNvPr id="52" name="takeaway"/>
          <p:cNvSpPr txBox="1"/>
          <p:nvPr/>
        </p:nvSpPr>
        <p:spPr>
          <a:xfrm>
            <a:off x="777240" y="5742432"/>
            <a:ext cx="10698480" cy="548640"/>
          </a:xfrm>
          <a:prstGeom prst="rect">
            <a:avLst/>
          </a:prstGeom>
          <a:noFill/>
          <a:ln/>
        </p:spPr>
        <p:txBody>
          <a:bodyPr wrap="square" lIns="0" tIns="0" rIns="0" bIns="0" rtlCol="0" anchor="ctr"/>
          <a:lstStyle/>
          <a:p>
            <a:pPr indent="0" marL="0">
              <a:buNone/>
            </a:pPr>
            <a:r>
              <a:rPr lang="en-US" sz="1500" b="1" dirty="0">
                <a:solidFill>
                  <a:schemeClr val="accent1"/>
                </a:solidFill>
              </a:rPr>
              <a:t>Takeaway   </a:t>
            </a:r>
            <a:pPr indent="0" marL="0">
              <a:buNone/>
            </a:pPr>
            <a:r>
              <a:rPr lang="en-US" sz="1500" dirty="0">
                <a:solidFill>
                  <a:schemeClr val="tx1"/>
                </a:solidFill>
              </a:rPr>
              <a:t>There is an effect of negative news, but it still leaves a good part of the gap</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2800" b="1" dirty="0">
                <a:solidFill>
                  <a:schemeClr val="tx1"/>
                </a:solidFill>
              </a:rPr>
              <a:t>Mechanisms : Which mental shortcuts can the data see?</a:t>
            </a:r>
            <a:endParaRPr lang="en-US" sz="2800" dirty="0"/>
          </a:p>
        </p:txBody>
      </p:sp>
      <p:graphicFrame>
        <p:nvGraphicFramePr>
          <p:cNvPr id="3" name="neg_chart" descr=""/>
          <p:cNvGraphicFramePr/>
          <p:nvPr/>
        </p:nvGraphicFramePr>
        <p:xfrm>
          <a:off x="548640" y="1325880"/>
          <a:ext cx="3566160" cy="34290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prices_chart" descr=""/>
          <p:cNvGraphicFramePr/>
          <p:nvPr/>
        </p:nvGraphicFramePr>
        <p:xfrm>
          <a:off x="4297680" y="1325880"/>
          <a:ext cx="3566160" cy="342900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party_chart" descr=""/>
          <p:cNvGraphicFramePr/>
          <p:nvPr/>
        </p:nvGraphicFramePr>
        <p:xfrm>
          <a:off x="8046720" y="1325880"/>
          <a:ext cx="3566160" cy="3429000"/>
        </p:xfrm>
        <a:graphic xmlns:a="http://schemas.openxmlformats.org/drawingml/2006/main">
          <a:graphicData uri="http://schemas.openxmlformats.org/drawingml/2006/chart">
            <c:chart xmlns:c="http://schemas.openxmlformats.org/drawingml/2006/chart" r:id="rId3"/>
          </a:graphicData>
        </a:graphic>
      </p:graphicFrame>
      <p:sp>
        <p:nvSpPr>
          <p:cNvPr id="6" name="mech_note_0"/>
          <p:cNvSpPr txBox="1"/>
          <p:nvPr/>
        </p:nvSpPr>
        <p:spPr>
          <a:xfrm>
            <a:off x="548640" y="4846320"/>
            <a:ext cx="3566160" cy="777240"/>
          </a:xfrm>
          <a:prstGeom prst="rect">
            <a:avLst/>
          </a:prstGeom>
          <a:noFill/>
          <a:ln/>
        </p:spPr>
        <p:txBody>
          <a:bodyPr wrap="square" lIns="0" tIns="0" rIns="0" bIns="0" rtlCol="0" anchor="t"/>
          <a:lstStyle/>
          <a:p>
            <a:pPr indent="0" marL="0">
              <a:buNone/>
            </a:pPr>
            <a:r>
              <a:rPr lang="en-US" sz="1300" dirty="0">
                <a:solidFill>
                  <a:schemeClr val="tx2"/>
                </a:solidFill>
              </a:rPr>
              <a:t>Asymmetry : A fall in inflation does not lift sentiment</a:t>
            </a:r>
            <a:endParaRPr lang="en-US" sz="1300" dirty="0"/>
          </a:p>
        </p:txBody>
      </p:sp>
      <p:sp>
        <p:nvSpPr>
          <p:cNvPr id="7" name="mech_note_1"/>
          <p:cNvSpPr txBox="1"/>
          <p:nvPr/>
        </p:nvSpPr>
        <p:spPr>
          <a:xfrm>
            <a:off x="4297680" y="4846320"/>
            <a:ext cx="3566160" cy="777240"/>
          </a:xfrm>
          <a:prstGeom prst="rect">
            <a:avLst/>
          </a:prstGeom>
          <a:noFill/>
          <a:ln/>
        </p:spPr>
        <p:txBody>
          <a:bodyPr wrap="square" lIns="0" tIns="0" rIns="0" bIns="0" rtlCol="0" anchor="t"/>
          <a:lstStyle/>
          <a:p>
            <a:pPr indent="0" marL="0">
              <a:buNone/>
            </a:pPr>
            <a:r>
              <a:rPr lang="en-US" sz="1300" dirty="0">
                <a:solidFill>
                  <a:schemeClr val="tx2"/>
                </a:solidFill>
              </a:rPr>
              <a:t>Feeling worse off follows how high prices are (R² 0.81), not how fast they rise (R² 0.41).</a:t>
            </a:r>
            <a:endParaRPr lang="en-US" sz="1300" dirty="0"/>
          </a:p>
        </p:txBody>
      </p:sp>
      <p:sp>
        <p:nvSpPr>
          <p:cNvPr id="8" name="mech_note_2"/>
          <p:cNvSpPr txBox="1"/>
          <p:nvPr/>
        </p:nvSpPr>
        <p:spPr>
          <a:xfrm>
            <a:off x="8046720" y="4846320"/>
            <a:ext cx="3566160" cy="777240"/>
          </a:xfrm>
          <a:prstGeom prst="rect">
            <a:avLst/>
          </a:prstGeom>
          <a:noFill/>
          <a:ln/>
        </p:spPr>
        <p:txBody>
          <a:bodyPr wrap="square" lIns="0" tIns="0" rIns="0" bIns="0" rtlCol="0" anchor="t"/>
          <a:lstStyle/>
          <a:p>
            <a:pPr indent="0" marL="0">
              <a:buNone/>
            </a:pPr>
            <a:r>
              <a:rPr lang="en-US" sz="1300" dirty="0">
                <a:solidFill>
                  <a:schemeClr val="tx2"/>
                </a:solidFill>
              </a:rPr>
              <a:t>Democrats -21.8, Republicans +31.8 points in two months, with unemployment and inflation flat.</a:t>
            </a:r>
            <a:endParaRPr lang="en-US" sz="1300" dirty="0"/>
          </a:p>
        </p:txBody>
      </p:sp>
      <p:sp>
        <p:nvSpPr>
          <p:cNvPr id="9" name="takeaway_box"/>
          <p:cNvSpPr/>
          <p:nvPr/>
        </p:nvSpPr>
        <p:spPr>
          <a:xfrm>
            <a:off x="548640" y="5742432"/>
            <a:ext cx="11064240" cy="548640"/>
          </a:xfrm>
          <a:prstGeom prst="roundRect">
            <a:avLst>
              <a:gd name="adj" fmla="val 13333"/>
            </a:avLst>
          </a:prstGeom>
          <a:solidFill>
            <a:schemeClr val="bg2"/>
          </a:solidFill>
          <a:ln w="12700">
            <a:solidFill>
              <a:schemeClr val="bg2"/>
            </a:solidFill>
            <a:prstDash val="solid"/>
          </a:ln>
        </p:spPr>
      </p:sp>
      <p:sp>
        <p:nvSpPr>
          <p:cNvPr id="10" name="takeaway"/>
          <p:cNvSpPr txBox="1"/>
          <p:nvPr/>
        </p:nvSpPr>
        <p:spPr>
          <a:xfrm>
            <a:off x="777240" y="5742432"/>
            <a:ext cx="10698480" cy="548640"/>
          </a:xfrm>
          <a:prstGeom prst="rect">
            <a:avLst/>
          </a:prstGeom>
          <a:noFill/>
          <a:ln/>
        </p:spPr>
        <p:txBody>
          <a:bodyPr wrap="square" lIns="0" tIns="0" rIns="0" bIns="0" rtlCol="0" anchor="ctr"/>
          <a:lstStyle/>
          <a:p>
            <a:pPr indent="0" marL="0">
              <a:buNone/>
            </a:pPr>
            <a:r>
              <a:rPr lang="en-US" sz="1500" b="1" dirty="0">
                <a:solidFill>
                  <a:schemeClr val="accent1"/>
                </a:solidFill>
              </a:rPr>
              <a:t>Takeaway   </a:t>
            </a:r>
            <a:pPr indent="0" marL="0">
              <a:buNone/>
            </a:pPr>
            <a:r>
              <a:rPr lang="en-US" sz="1500" dirty="0">
                <a:solidFill>
                  <a:schemeClr val="tx1"/>
                </a:solidFill>
              </a:rPr>
              <a:t>The data can see inflation negativity, anchoring on the price level and party switching; none of it points to what people read.</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2800" b="1" dirty="0">
                <a:solidFill>
                  <a:schemeClr val="tx1"/>
                </a:solidFill>
              </a:rPr>
              <a:t>Forecasting : Does the news help predict sentiment?</a:t>
            </a:r>
            <a:endParaRPr lang="en-US" sz="2800" dirty="0"/>
          </a:p>
        </p:txBody>
      </p:sp>
      <p:sp>
        <p:nvSpPr>
          <p:cNvPr id="3" name="fc_how"/>
          <p:cNvSpPr txBox="1"/>
          <p:nvPr/>
        </p:nvSpPr>
        <p:spPr>
          <a:xfrm>
            <a:off x="548640" y="1252728"/>
            <a:ext cx="11064240" cy="457200"/>
          </a:xfrm>
          <a:prstGeom prst="rect">
            <a:avLst/>
          </a:prstGeom>
          <a:noFill/>
          <a:ln/>
        </p:spPr>
        <p:txBody>
          <a:bodyPr wrap="square" lIns="0" tIns="0" rIns="0" bIns="0" rtlCol="0" anchor="t"/>
          <a:lstStyle/>
          <a:p>
            <a:pPr indent="0" marL="0">
              <a:buNone/>
            </a:pPr>
            <a:r>
              <a:rPr lang="en-US" sz="1200" b="1" dirty="0">
                <a:solidFill>
                  <a:schemeClr val="tx1"/>
                </a:solidFill>
              </a:rPr>
              <a:t>How: </a:t>
            </a:r>
            <a:pPr indent="0" marL="0">
              <a:buNone/>
            </a:pPr>
            <a:r>
              <a:rPr lang="en-US" sz="1200" dirty="0">
                <a:solidFill>
                  <a:schemeClr val="tx2"/>
                </a:solidFill>
              </a:rPr>
              <a:t>each model is refit every month on past data only, then forecasts that month: 107 forecasts, Jan 2017 to Oct 2026, all out of sample. Household costs: 3-year inflation, real income growth, mortgage rate, mortgage payment vs income, U-6 minus U-3, debt payments.</a:t>
            </a:r>
            <a:endParaRPr lang="en-US" sz="1200" dirty="0"/>
          </a:p>
        </p:txBody>
      </p:sp>
      <p:graphicFrame>
        <p:nvGraphicFramePr>
          <p:cNvPr id="4" name="rmse_chart" descr=""/>
          <p:cNvGraphicFramePr/>
          <p:nvPr/>
        </p:nvGraphicFramePr>
        <p:xfrm>
          <a:off x="548640" y="1783080"/>
          <a:ext cx="5394960" cy="310896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mar26_chart" descr=""/>
          <p:cNvGraphicFramePr/>
          <p:nvPr/>
        </p:nvGraphicFramePr>
        <p:xfrm>
          <a:off x="6217920" y="1783080"/>
          <a:ext cx="5394960" cy="3108960"/>
        </p:xfrm>
        <a:graphic xmlns:a="http://schemas.openxmlformats.org/drawingml/2006/main">
          <a:graphicData uri="http://schemas.openxmlformats.org/drawingml/2006/chart">
            <c:chart xmlns:c="http://schemas.openxmlformats.org/drawingml/2006/chart" r:id="rId2"/>
          </a:graphicData>
        </a:graphic>
      </p:graphicFrame>
      <p:sp>
        <p:nvSpPr>
          <p:cNvPr id="6" name="fc_note"/>
          <p:cNvSpPr txBox="1"/>
          <p:nvPr/>
        </p:nvSpPr>
        <p:spPr>
          <a:xfrm>
            <a:off x="548640" y="4983480"/>
            <a:ext cx="5394960" cy="685800"/>
          </a:xfrm>
          <a:prstGeom prst="rect">
            <a:avLst/>
          </a:prstGeom>
          <a:noFill/>
          <a:ln/>
        </p:spPr>
        <p:txBody>
          <a:bodyPr wrap="square" lIns="0" tIns="0" rIns="0" bIns="0" rtlCol="0" anchor="t"/>
          <a:lstStyle/>
          <a:p>
            <a:pPr indent="0" marL="0">
              <a:buNone/>
            </a:pPr>
            <a:r>
              <a:rPr lang="en-US" sz="1300" dirty="0">
                <a:solidFill>
                  <a:schemeClr val="tx2"/>
                </a:solidFill>
              </a:rPr>
              <a:t>Adding news: misses 3% smaller. Adding household costs: 32% smaller</a:t>
            </a:r>
            <a:endParaRPr lang="en-US" sz="1300" dirty="0"/>
          </a:p>
        </p:txBody>
      </p:sp>
      <p:sp>
        <p:nvSpPr>
          <p:cNvPr id="7" name="mar26_note"/>
          <p:cNvSpPr txBox="1"/>
          <p:nvPr/>
        </p:nvSpPr>
        <p:spPr>
          <a:xfrm>
            <a:off x="6217920" y="4983480"/>
            <a:ext cx="5394960" cy="685800"/>
          </a:xfrm>
          <a:prstGeom prst="rect">
            <a:avLst/>
          </a:prstGeom>
          <a:noFill/>
          <a:ln/>
        </p:spPr>
        <p:txBody>
          <a:bodyPr wrap="square" lIns="0" tIns="0" rIns="0" bIns="0" rtlCol="0" anchor="t"/>
          <a:lstStyle/>
          <a:p>
            <a:pPr indent="0" marL="0">
              <a:buNone/>
            </a:pPr>
            <a:r>
              <a:rPr lang="en-US" sz="1300" dirty="0">
                <a:solidFill>
                  <a:schemeClr val="tx2"/>
                </a:solidFill>
              </a:rPr>
              <a:t>Refitting every month gets 14 to 20 points closer than the fixed 2010s model</a:t>
            </a:r>
            <a:endParaRPr lang="en-US" sz="1300" dirty="0"/>
          </a:p>
        </p:txBody>
      </p:sp>
      <p:sp>
        <p:nvSpPr>
          <p:cNvPr id="8" name="takeaway_box"/>
          <p:cNvSpPr/>
          <p:nvPr/>
        </p:nvSpPr>
        <p:spPr>
          <a:xfrm>
            <a:off x="548640" y="5742432"/>
            <a:ext cx="11064240" cy="548640"/>
          </a:xfrm>
          <a:prstGeom prst="roundRect">
            <a:avLst>
              <a:gd name="adj" fmla="val 13333"/>
            </a:avLst>
          </a:prstGeom>
          <a:solidFill>
            <a:schemeClr val="bg2"/>
          </a:solidFill>
          <a:ln w="12700">
            <a:solidFill>
              <a:schemeClr val="bg2"/>
            </a:solidFill>
            <a:prstDash val="solid"/>
          </a:ln>
        </p:spPr>
      </p:sp>
      <p:sp>
        <p:nvSpPr>
          <p:cNvPr id="9" name="takeaway"/>
          <p:cNvSpPr txBox="1"/>
          <p:nvPr/>
        </p:nvSpPr>
        <p:spPr>
          <a:xfrm>
            <a:off x="777240" y="5742432"/>
            <a:ext cx="10698480" cy="548640"/>
          </a:xfrm>
          <a:prstGeom prst="rect">
            <a:avLst/>
          </a:prstGeom>
          <a:noFill/>
          <a:ln/>
        </p:spPr>
        <p:txBody>
          <a:bodyPr wrap="square" lIns="0" tIns="0" rIns="0" bIns="0" rtlCol="0" anchor="ctr"/>
          <a:lstStyle/>
          <a:p>
            <a:pPr indent="0" marL="0">
              <a:buNone/>
            </a:pPr>
            <a:r>
              <a:rPr lang="en-US" sz="1500" b="1" dirty="0">
                <a:solidFill>
                  <a:schemeClr val="accent1"/>
                </a:solidFill>
              </a:rPr>
              <a:t>Takeaway   </a:t>
            </a:r>
            <a:pPr indent="0" marL="0">
              <a:buNone/>
            </a:pPr>
            <a:r>
              <a:rPr lang="en-US" sz="1500" dirty="0">
                <a:solidFill>
                  <a:schemeClr val="tx1"/>
                </a:solidFill>
              </a:rPr>
              <a:t>Only a little: news tone gives a small, borderline gain, while household costs cut forecast misses by a third.</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2800" b="1" dirty="0">
                <a:solidFill>
                  <a:schemeClr val="tx1"/>
                </a:solidFill>
              </a:rPr>
              <a:t>Falsifiers : What evidence would sink the media story?</a:t>
            </a:r>
            <a:endParaRPr lang="en-US" sz="2800" dirty="0"/>
          </a:p>
        </p:txBody>
      </p:sp>
      <p:sp>
        <p:nvSpPr>
          <p:cNvPr id="3" name="fals_head"/>
          <p:cNvSpPr txBox="1"/>
          <p:nvPr/>
        </p:nvSpPr>
        <p:spPr>
          <a:xfrm>
            <a:off x="548640" y="1280160"/>
            <a:ext cx="7315200" cy="365760"/>
          </a:xfrm>
          <a:prstGeom prst="rect">
            <a:avLst/>
          </a:prstGeom>
          <a:noFill/>
          <a:ln/>
        </p:spPr>
        <p:txBody>
          <a:bodyPr wrap="square" lIns="0" tIns="0" rIns="0" bIns="0" rtlCol="0" anchor="ctr"/>
          <a:lstStyle/>
          <a:p>
            <a:pPr indent="0" marL="0">
              <a:buNone/>
            </a:pPr>
            <a:r>
              <a:rPr lang="en-US" sz="1500" b="1" dirty="0">
                <a:solidFill>
                  <a:schemeClr val="tx1"/>
                </a:solidFill>
              </a:rPr>
              <a:t>Seven tests set in advance: </a:t>
            </a:r>
            <a:pPr indent="0" marL="0">
              <a:buNone/>
            </a:pPr>
            <a:r>
              <a:rPr lang="en-US" sz="1500" dirty="0">
                <a:solidFill>
                  <a:schemeClr val="tx2"/>
                </a:solidFill>
              </a:rPr>
              <a:t>if one is true, the media story weakens.</a:t>
            </a:r>
            <a:endParaRPr lang="en-US" sz="1500" dirty="0"/>
          </a:p>
        </p:txBody>
      </p:sp>
      <p:sp>
        <p:nvSpPr>
          <p:cNvPr id="4" name="fals_tally"/>
          <p:cNvSpPr txBox="1"/>
          <p:nvPr/>
        </p:nvSpPr>
        <p:spPr>
          <a:xfrm>
            <a:off x="7955280" y="1280160"/>
            <a:ext cx="3657600" cy="365760"/>
          </a:xfrm>
          <a:prstGeom prst="rect">
            <a:avLst/>
          </a:prstGeom>
          <a:noFill/>
          <a:ln/>
        </p:spPr>
        <p:txBody>
          <a:bodyPr wrap="square" lIns="0" tIns="0" rIns="0" bIns="0" rtlCol="0" anchor="ctr"/>
          <a:lstStyle/>
          <a:p>
            <a:pPr algn="r" indent="0" marL="0">
              <a:buNone/>
            </a:pPr>
            <a:r>
              <a:rPr lang="en-US" sz="1300" b="1" dirty="0">
                <a:solidFill>
                  <a:schemeClr val="tx2"/>
                </a:solidFill>
              </a:rPr>
              <a:t>1 true · 2 partly · 3 not true · 1 cannot tell</a:t>
            </a:r>
            <a:endParaRPr lang="en-US" sz="1300" dirty="0"/>
          </a:p>
        </p:txBody>
      </p:sp>
      <p:sp>
        <p:nvSpPr>
          <p:cNvPr id="5" name="fals_F1_row"/>
          <p:cNvSpPr/>
          <p:nvPr/>
        </p:nvSpPr>
        <p:spPr>
          <a:xfrm>
            <a:off x="548640" y="1783080"/>
            <a:ext cx="11064240" cy="475488"/>
          </a:xfrm>
          <a:prstGeom prst="roundRect">
            <a:avLst>
              <a:gd name="adj" fmla="val 11538"/>
            </a:avLst>
          </a:prstGeom>
          <a:solidFill>
            <a:schemeClr val="bg2"/>
          </a:solidFill>
          <a:ln w="12700">
            <a:solidFill>
              <a:schemeClr val="bg2"/>
            </a:solidFill>
            <a:prstDash val="solid"/>
          </a:ln>
        </p:spPr>
      </p:sp>
      <p:sp>
        <p:nvSpPr>
          <p:cNvPr id="6" name="fals_F1_id"/>
          <p:cNvSpPr txBox="1"/>
          <p:nvPr/>
        </p:nvSpPr>
        <p:spPr>
          <a:xfrm>
            <a:off x="685800" y="1783080"/>
            <a:ext cx="548640" cy="475488"/>
          </a:xfrm>
          <a:prstGeom prst="rect">
            <a:avLst/>
          </a:prstGeom>
          <a:noFill/>
          <a:ln/>
        </p:spPr>
        <p:txBody>
          <a:bodyPr wrap="square" lIns="0" tIns="0" rIns="0" bIns="0" rtlCol="0" anchor="ctr"/>
          <a:lstStyle/>
          <a:p>
            <a:pPr indent="0" marL="0">
              <a:buNone/>
            </a:pPr>
            <a:r>
              <a:rPr lang="en-US" sz="1500" b="1" dirty="0">
                <a:solidFill>
                  <a:schemeClr val="tx1"/>
                </a:solidFill>
              </a:rPr>
              <a:t>F1</a:t>
            </a:r>
            <a:endParaRPr lang="en-US" sz="1500" dirty="0"/>
          </a:p>
        </p:txBody>
      </p:sp>
      <p:sp>
        <p:nvSpPr>
          <p:cNvPr id="7" name="fals_F1_rule"/>
          <p:cNvSpPr txBox="1"/>
          <p:nvPr/>
        </p:nvSpPr>
        <p:spPr>
          <a:xfrm>
            <a:off x="1280160" y="1783080"/>
            <a:ext cx="5120640" cy="475488"/>
          </a:xfrm>
          <a:prstGeom prst="rect">
            <a:avLst/>
          </a:prstGeom>
          <a:noFill/>
          <a:ln/>
        </p:spPr>
        <p:txBody>
          <a:bodyPr wrap="square" lIns="0" tIns="0" rIns="0" bIns="0" rtlCol="0" anchor="ctr"/>
          <a:lstStyle/>
          <a:p>
            <a:pPr indent="0" marL="0">
              <a:buNone/>
            </a:pPr>
            <a:r>
              <a:rPr lang="en-US" sz="1500" dirty="0">
                <a:solidFill>
                  <a:schemeClr val="tx1"/>
                </a:solidFill>
              </a:rPr>
              <a:t>News adds nothing to forecasts</a:t>
            </a:r>
            <a:endParaRPr lang="en-US" sz="1500" dirty="0"/>
          </a:p>
        </p:txBody>
      </p:sp>
      <p:sp>
        <p:nvSpPr>
          <p:cNvPr id="8" name="fals_F1_chip"/>
          <p:cNvSpPr/>
          <p:nvPr/>
        </p:nvSpPr>
        <p:spPr>
          <a:xfrm>
            <a:off x="6537960" y="1865376"/>
            <a:ext cx="1371600" cy="310896"/>
          </a:xfrm>
          <a:prstGeom prst="roundRect">
            <a:avLst>
              <a:gd name="adj" fmla="val 23529"/>
            </a:avLst>
          </a:prstGeom>
          <a:solidFill>
            <a:schemeClr val="accent4"/>
          </a:solidFill>
          <a:ln w="12700">
            <a:solidFill>
              <a:schemeClr val="accent4"/>
            </a:solidFill>
            <a:prstDash val="solid"/>
          </a:ln>
        </p:spPr>
      </p:sp>
      <p:sp>
        <p:nvSpPr>
          <p:cNvPr id="9" name="fals_F1_verdict"/>
          <p:cNvSpPr txBox="1"/>
          <p:nvPr/>
        </p:nvSpPr>
        <p:spPr>
          <a:xfrm>
            <a:off x="6537960" y="1865376"/>
            <a:ext cx="1371600" cy="310896"/>
          </a:xfrm>
          <a:prstGeom prst="rect">
            <a:avLst/>
          </a:prstGeom>
          <a:noFill/>
          <a:ln/>
        </p:spPr>
        <p:txBody>
          <a:bodyPr wrap="square" lIns="0" tIns="0" rIns="0" bIns="0" rtlCol="0" anchor="ctr"/>
          <a:lstStyle/>
          <a:p>
            <a:pPr algn="ctr" indent="0" marL="0">
              <a:buNone/>
            </a:pPr>
            <a:r>
              <a:rPr lang="en-US" sz="1200" b="1" dirty="0">
                <a:solidFill>
                  <a:schemeClr val="bg1"/>
                </a:solidFill>
              </a:rPr>
              <a:t>Not true</a:t>
            </a:r>
            <a:endParaRPr lang="en-US" sz="1200" dirty="0"/>
          </a:p>
        </p:txBody>
      </p:sp>
      <p:sp>
        <p:nvSpPr>
          <p:cNvPr id="10" name="fals_F1_res"/>
          <p:cNvSpPr txBox="1"/>
          <p:nvPr/>
        </p:nvSpPr>
        <p:spPr>
          <a:xfrm>
            <a:off x="8092440" y="1783080"/>
            <a:ext cx="3429000" cy="475488"/>
          </a:xfrm>
          <a:prstGeom prst="rect">
            <a:avLst/>
          </a:prstGeom>
          <a:noFill/>
          <a:ln/>
        </p:spPr>
        <p:txBody>
          <a:bodyPr wrap="square" lIns="0" tIns="0" rIns="0" bIns="0" rtlCol="0" anchor="ctr"/>
          <a:lstStyle/>
          <a:p>
            <a:pPr indent="0" marL="0">
              <a:buNone/>
            </a:pPr>
            <a:r>
              <a:rPr lang="en-US" sz="1300" dirty="0">
                <a:solidFill>
                  <a:schemeClr val="tx2"/>
                </a:solidFill>
              </a:rPr>
              <a:t>News trims misses 3% (p = 0.053)</a:t>
            </a:r>
            <a:endParaRPr lang="en-US" sz="1300" dirty="0"/>
          </a:p>
        </p:txBody>
      </p:sp>
      <p:sp>
        <p:nvSpPr>
          <p:cNvPr id="11" name="fals_F2_row"/>
          <p:cNvSpPr/>
          <p:nvPr/>
        </p:nvSpPr>
        <p:spPr>
          <a:xfrm>
            <a:off x="548640" y="2331720"/>
            <a:ext cx="11064240" cy="475488"/>
          </a:xfrm>
          <a:prstGeom prst="roundRect">
            <a:avLst>
              <a:gd name="adj" fmla="val 11538"/>
            </a:avLst>
          </a:prstGeom>
          <a:solidFill>
            <a:schemeClr val="bg2"/>
          </a:solidFill>
          <a:ln w="12700">
            <a:solidFill>
              <a:schemeClr val="bg2"/>
            </a:solidFill>
            <a:prstDash val="solid"/>
          </a:ln>
        </p:spPr>
      </p:sp>
      <p:sp>
        <p:nvSpPr>
          <p:cNvPr id="12" name="fals_F2_id"/>
          <p:cNvSpPr txBox="1"/>
          <p:nvPr/>
        </p:nvSpPr>
        <p:spPr>
          <a:xfrm>
            <a:off x="685800" y="2331720"/>
            <a:ext cx="548640" cy="475488"/>
          </a:xfrm>
          <a:prstGeom prst="rect">
            <a:avLst/>
          </a:prstGeom>
          <a:noFill/>
          <a:ln/>
        </p:spPr>
        <p:txBody>
          <a:bodyPr wrap="square" lIns="0" tIns="0" rIns="0" bIns="0" rtlCol="0" anchor="ctr"/>
          <a:lstStyle/>
          <a:p>
            <a:pPr indent="0" marL="0">
              <a:buNone/>
            </a:pPr>
            <a:r>
              <a:rPr lang="en-US" sz="1500" b="1" dirty="0">
                <a:solidFill>
                  <a:schemeClr val="tx1"/>
                </a:solidFill>
              </a:rPr>
              <a:t>F2</a:t>
            </a:r>
            <a:endParaRPr lang="en-US" sz="1500" dirty="0"/>
          </a:p>
        </p:txBody>
      </p:sp>
      <p:sp>
        <p:nvSpPr>
          <p:cNvPr id="13" name="fals_F2_rule"/>
          <p:cNvSpPr txBox="1"/>
          <p:nvPr/>
        </p:nvSpPr>
        <p:spPr>
          <a:xfrm>
            <a:off x="1280160" y="2331720"/>
            <a:ext cx="5120640" cy="475488"/>
          </a:xfrm>
          <a:prstGeom prst="rect">
            <a:avLst/>
          </a:prstGeom>
          <a:noFill/>
          <a:ln/>
        </p:spPr>
        <p:txBody>
          <a:bodyPr wrap="square" lIns="0" tIns="0" rIns="0" bIns="0" rtlCol="0" anchor="ctr"/>
          <a:lstStyle/>
          <a:p>
            <a:pPr indent="0" marL="0">
              <a:buNone/>
            </a:pPr>
            <a:r>
              <a:rPr lang="en-US" sz="1500" dirty="0">
                <a:solidFill>
                  <a:schemeClr val="tx1"/>
                </a:solidFill>
              </a:rPr>
              <a:t>Sentiment moves before the news</a:t>
            </a:r>
            <a:endParaRPr lang="en-US" sz="1500" dirty="0"/>
          </a:p>
        </p:txBody>
      </p:sp>
      <p:sp>
        <p:nvSpPr>
          <p:cNvPr id="14" name="fals_F2_chip"/>
          <p:cNvSpPr/>
          <p:nvPr/>
        </p:nvSpPr>
        <p:spPr>
          <a:xfrm>
            <a:off x="6537960" y="2414016"/>
            <a:ext cx="1371600" cy="310896"/>
          </a:xfrm>
          <a:prstGeom prst="roundRect">
            <a:avLst>
              <a:gd name="adj" fmla="val 23529"/>
            </a:avLst>
          </a:prstGeom>
          <a:solidFill>
            <a:schemeClr val="accent1"/>
          </a:solidFill>
          <a:ln w="12700">
            <a:solidFill>
              <a:schemeClr val="accent1"/>
            </a:solidFill>
            <a:prstDash val="solid"/>
          </a:ln>
        </p:spPr>
      </p:sp>
      <p:sp>
        <p:nvSpPr>
          <p:cNvPr id="15" name="fals_F2_verdict"/>
          <p:cNvSpPr txBox="1"/>
          <p:nvPr/>
        </p:nvSpPr>
        <p:spPr>
          <a:xfrm>
            <a:off x="6537960" y="2414016"/>
            <a:ext cx="1371600" cy="310896"/>
          </a:xfrm>
          <a:prstGeom prst="rect">
            <a:avLst/>
          </a:prstGeom>
          <a:noFill/>
          <a:ln/>
        </p:spPr>
        <p:txBody>
          <a:bodyPr wrap="square" lIns="0" tIns="0" rIns="0" bIns="0" rtlCol="0" anchor="ctr"/>
          <a:lstStyle/>
          <a:p>
            <a:pPr algn="ctr" indent="0" marL="0">
              <a:buNone/>
            </a:pPr>
            <a:r>
              <a:rPr lang="en-US" sz="1200" b="1" dirty="0">
                <a:solidFill>
                  <a:schemeClr val="bg1"/>
                </a:solidFill>
              </a:rPr>
              <a:t>Partly</a:t>
            </a:r>
            <a:endParaRPr lang="en-US" sz="1200" dirty="0"/>
          </a:p>
        </p:txBody>
      </p:sp>
      <p:sp>
        <p:nvSpPr>
          <p:cNvPr id="16" name="fals_F2_res"/>
          <p:cNvSpPr txBox="1"/>
          <p:nvPr/>
        </p:nvSpPr>
        <p:spPr>
          <a:xfrm>
            <a:off x="8092440" y="2331720"/>
            <a:ext cx="3429000" cy="475488"/>
          </a:xfrm>
          <a:prstGeom prst="rect">
            <a:avLst/>
          </a:prstGeom>
          <a:noFill/>
          <a:ln/>
        </p:spPr>
        <p:txBody>
          <a:bodyPr wrap="square" lIns="0" tIns="0" rIns="0" bIns="0" rtlCol="0" anchor="ctr"/>
          <a:lstStyle/>
          <a:p>
            <a:pPr indent="0" marL="0">
              <a:buNone/>
            </a:pPr>
            <a:r>
              <a:rPr lang="en-US" sz="1300" dirty="0">
                <a:solidFill>
                  <a:schemeClr val="tx2"/>
                </a:solidFill>
              </a:rPr>
              <a:t>Yes for the SF Fed index, not for ours</a:t>
            </a:r>
            <a:endParaRPr lang="en-US" sz="1300" dirty="0"/>
          </a:p>
        </p:txBody>
      </p:sp>
      <p:sp>
        <p:nvSpPr>
          <p:cNvPr id="17" name="fals_F3_row"/>
          <p:cNvSpPr/>
          <p:nvPr/>
        </p:nvSpPr>
        <p:spPr>
          <a:xfrm>
            <a:off x="548640" y="2880360"/>
            <a:ext cx="11064240" cy="475488"/>
          </a:xfrm>
          <a:prstGeom prst="roundRect">
            <a:avLst>
              <a:gd name="adj" fmla="val 11538"/>
            </a:avLst>
          </a:prstGeom>
          <a:solidFill>
            <a:schemeClr val="bg2"/>
          </a:solidFill>
          <a:ln w="12700">
            <a:solidFill>
              <a:schemeClr val="bg2"/>
            </a:solidFill>
            <a:prstDash val="solid"/>
          </a:ln>
        </p:spPr>
      </p:sp>
      <p:sp>
        <p:nvSpPr>
          <p:cNvPr id="18" name="fals_F3_id"/>
          <p:cNvSpPr txBox="1"/>
          <p:nvPr/>
        </p:nvSpPr>
        <p:spPr>
          <a:xfrm>
            <a:off x="685800" y="2880360"/>
            <a:ext cx="548640" cy="475488"/>
          </a:xfrm>
          <a:prstGeom prst="rect">
            <a:avLst/>
          </a:prstGeom>
          <a:noFill/>
          <a:ln/>
        </p:spPr>
        <p:txBody>
          <a:bodyPr wrap="square" lIns="0" tIns="0" rIns="0" bIns="0" rtlCol="0" anchor="ctr"/>
          <a:lstStyle/>
          <a:p>
            <a:pPr indent="0" marL="0">
              <a:buNone/>
            </a:pPr>
            <a:r>
              <a:rPr lang="en-US" sz="1500" b="1" dirty="0">
                <a:solidFill>
                  <a:schemeClr val="tx1"/>
                </a:solidFill>
              </a:rPr>
              <a:t>F3</a:t>
            </a:r>
            <a:endParaRPr lang="en-US" sz="1500" dirty="0"/>
          </a:p>
        </p:txBody>
      </p:sp>
      <p:sp>
        <p:nvSpPr>
          <p:cNvPr id="19" name="fals_F3_rule"/>
          <p:cNvSpPr txBox="1"/>
          <p:nvPr/>
        </p:nvSpPr>
        <p:spPr>
          <a:xfrm>
            <a:off x="1280160" y="2880360"/>
            <a:ext cx="5120640" cy="475488"/>
          </a:xfrm>
          <a:prstGeom prst="rect">
            <a:avLst/>
          </a:prstGeom>
          <a:noFill/>
          <a:ln/>
        </p:spPr>
        <p:txBody>
          <a:bodyPr wrap="square" lIns="0" tIns="0" rIns="0" bIns="0" rtlCol="0" anchor="ctr"/>
          <a:lstStyle/>
          <a:p>
            <a:pPr indent="0" marL="0">
              <a:buNone/>
            </a:pPr>
            <a:r>
              <a:rPr lang="en-US" sz="1500" dirty="0">
                <a:solidFill>
                  <a:schemeClr val="tx1"/>
                </a:solidFill>
              </a:rPr>
              <a:t>Coverage treats good and bad news alike</a:t>
            </a:r>
            <a:endParaRPr lang="en-US" sz="1500" dirty="0"/>
          </a:p>
        </p:txBody>
      </p:sp>
      <p:sp>
        <p:nvSpPr>
          <p:cNvPr id="20" name="fals_F3_chip"/>
          <p:cNvSpPr/>
          <p:nvPr/>
        </p:nvSpPr>
        <p:spPr>
          <a:xfrm>
            <a:off x="6537960" y="2962656"/>
            <a:ext cx="1371600" cy="310896"/>
          </a:xfrm>
          <a:prstGeom prst="roundRect">
            <a:avLst>
              <a:gd name="adj" fmla="val 23529"/>
            </a:avLst>
          </a:prstGeom>
          <a:solidFill>
            <a:schemeClr val="accent1"/>
          </a:solidFill>
          <a:ln w="12700">
            <a:solidFill>
              <a:schemeClr val="accent1"/>
            </a:solidFill>
            <a:prstDash val="solid"/>
          </a:ln>
        </p:spPr>
      </p:sp>
      <p:sp>
        <p:nvSpPr>
          <p:cNvPr id="21" name="fals_F3_verdict"/>
          <p:cNvSpPr txBox="1"/>
          <p:nvPr/>
        </p:nvSpPr>
        <p:spPr>
          <a:xfrm>
            <a:off x="6537960" y="2962656"/>
            <a:ext cx="1371600" cy="310896"/>
          </a:xfrm>
          <a:prstGeom prst="rect">
            <a:avLst/>
          </a:prstGeom>
          <a:noFill/>
          <a:ln/>
        </p:spPr>
        <p:txBody>
          <a:bodyPr wrap="square" lIns="0" tIns="0" rIns="0" bIns="0" rtlCol="0" anchor="ctr"/>
          <a:lstStyle/>
          <a:p>
            <a:pPr algn="ctr" indent="0" marL="0">
              <a:buNone/>
            </a:pPr>
            <a:r>
              <a:rPr lang="en-US" sz="1200" b="1" dirty="0">
                <a:solidFill>
                  <a:schemeClr val="bg1"/>
                </a:solidFill>
              </a:rPr>
              <a:t>Partly</a:t>
            </a:r>
            <a:endParaRPr lang="en-US" sz="1200" dirty="0"/>
          </a:p>
        </p:txBody>
      </p:sp>
      <p:sp>
        <p:nvSpPr>
          <p:cNvPr id="22" name="fals_F3_res"/>
          <p:cNvSpPr txBox="1"/>
          <p:nvPr/>
        </p:nvSpPr>
        <p:spPr>
          <a:xfrm>
            <a:off x="8092440" y="2880360"/>
            <a:ext cx="3429000" cy="475488"/>
          </a:xfrm>
          <a:prstGeom prst="rect">
            <a:avLst/>
          </a:prstGeom>
          <a:noFill/>
          <a:ln/>
        </p:spPr>
        <p:txBody>
          <a:bodyPr wrap="square" lIns="0" tIns="0" rIns="0" bIns="0" rtlCol="0" anchor="ctr"/>
          <a:lstStyle/>
          <a:p>
            <a:pPr indent="0" marL="0">
              <a:buNone/>
            </a:pPr>
            <a:r>
              <a:rPr lang="en-US" sz="1300" dirty="0">
                <a:solidFill>
                  <a:schemeClr val="tx2"/>
                </a:solidFill>
              </a:rPr>
              <a:t>Jobs: yes. Inflation: no (p = 0.002)</a:t>
            </a:r>
            <a:endParaRPr lang="en-US" sz="1300" dirty="0"/>
          </a:p>
        </p:txBody>
      </p:sp>
      <p:sp>
        <p:nvSpPr>
          <p:cNvPr id="23" name="fals_F4_row"/>
          <p:cNvSpPr/>
          <p:nvPr/>
        </p:nvSpPr>
        <p:spPr>
          <a:xfrm>
            <a:off x="548640" y="3429000"/>
            <a:ext cx="11064240" cy="475488"/>
          </a:xfrm>
          <a:prstGeom prst="roundRect">
            <a:avLst>
              <a:gd name="adj" fmla="val 11538"/>
            </a:avLst>
          </a:prstGeom>
          <a:solidFill>
            <a:schemeClr val="bg2"/>
          </a:solidFill>
          <a:ln w="12700">
            <a:solidFill>
              <a:schemeClr val="bg2"/>
            </a:solidFill>
            <a:prstDash val="solid"/>
          </a:ln>
        </p:spPr>
      </p:sp>
      <p:sp>
        <p:nvSpPr>
          <p:cNvPr id="24" name="fals_F4_id"/>
          <p:cNvSpPr txBox="1"/>
          <p:nvPr/>
        </p:nvSpPr>
        <p:spPr>
          <a:xfrm>
            <a:off x="685800" y="3429000"/>
            <a:ext cx="548640" cy="475488"/>
          </a:xfrm>
          <a:prstGeom prst="rect">
            <a:avLst/>
          </a:prstGeom>
          <a:noFill/>
          <a:ln/>
        </p:spPr>
        <p:txBody>
          <a:bodyPr wrap="square" lIns="0" tIns="0" rIns="0" bIns="0" rtlCol="0" anchor="ctr"/>
          <a:lstStyle/>
          <a:p>
            <a:pPr indent="0" marL="0">
              <a:buNone/>
            </a:pPr>
            <a:r>
              <a:rPr lang="en-US" sz="1500" b="1" dirty="0">
                <a:solidFill>
                  <a:schemeClr val="tx1"/>
                </a:solidFill>
              </a:rPr>
              <a:t>F4</a:t>
            </a:r>
            <a:endParaRPr lang="en-US" sz="1500" dirty="0"/>
          </a:p>
        </p:txBody>
      </p:sp>
      <p:sp>
        <p:nvSpPr>
          <p:cNvPr id="25" name="fals_F4_rule"/>
          <p:cNvSpPr txBox="1"/>
          <p:nvPr/>
        </p:nvSpPr>
        <p:spPr>
          <a:xfrm>
            <a:off x="1280160" y="3429000"/>
            <a:ext cx="5120640" cy="475488"/>
          </a:xfrm>
          <a:prstGeom prst="rect">
            <a:avLst/>
          </a:prstGeom>
          <a:noFill/>
          <a:ln/>
        </p:spPr>
        <p:txBody>
          <a:bodyPr wrap="square" lIns="0" tIns="0" rIns="0" bIns="0" rtlCol="0" anchor="ctr"/>
          <a:lstStyle/>
          <a:p>
            <a:pPr indent="0" marL="0">
              <a:buNone/>
            </a:pPr>
            <a:r>
              <a:rPr lang="en-US" sz="1500" dirty="0">
                <a:solidFill>
                  <a:schemeClr val="tx1"/>
                </a:solidFill>
              </a:rPr>
              <a:t>Household costs close half the gap</a:t>
            </a:r>
            <a:endParaRPr lang="en-US" sz="1500" dirty="0"/>
          </a:p>
        </p:txBody>
      </p:sp>
      <p:sp>
        <p:nvSpPr>
          <p:cNvPr id="26" name="fals_F4_chip"/>
          <p:cNvSpPr/>
          <p:nvPr/>
        </p:nvSpPr>
        <p:spPr>
          <a:xfrm>
            <a:off x="6537960" y="3511296"/>
            <a:ext cx="1371600" cy="310896"/>
          </a:xfrm>
          <a:prstGeom prst="roundRect">
            <a:avLst>
              <a:gd name="adj" fmla="val 23529"/>
            </a:avLst>
          </a:prstGeom>
          <a:solidFill>
            <a:schemeClr val="accent4"/>
          </a:solidFill>
          <a:ln w="12700">
            <a:solidFill>
              <a:schemeClr val="accent4"/>
            </a:solidFill>
            <a:prstDash val="solid"/>
          </a:ln>
        </p:spPr>
      </p:sp>
      <p:sp>
        <p:nvSpPr>
          <p:cNvPr id="27" name="fals_F4_verdict"/>
          <p:cNvSpPr txBox="1"/>
          <p:nvPr/>
        </p:nvSpPr>
        <p:spPr>
          <a:xfrm>
            <a:off x="6537960" y="3511296"/>
            <a:ext cx="1371600" cy="310896"/>
          </a:xfrm>
          <a:prstGeom prst="rect">
            <a:avLst/>
          </a:prstGeom>
          <a:noFill/>
          <a:ln/>
        </p:spPr>
        <p:txBody>
          <a:bodyPr wrap="square" lIns="0" tIns="0" rIns="0" bIns="0" rtlCol="0" anchor="ctr"/>
          <a:lstStyle/>
          <a:p>
            <a:pPr algn="ctr" indent="0" marL="0">
              <a:buNone/>
            </a:pPr>
            <a:r>
              <a:rPr lang="en-US" sz="1200" b="1" dirty="0">
                <a:solidFill>
                  <a:schemeClr val="bg1"/>
                </a:solidFill>
              </a:rPr>
              <a:t>Not true</a:t>
            </a:r>
            <a:endParaRPr lang="en-US" sz="1200" dirty="0"/>
          </a:p>
        </p:txBody>
      </p:sp>
      <p:sp>
        <p:nvSpPr>
          <p:cNvPr id="28" name="fals_F4_res"/>
          <p:cNvSpPr txBox="1"/>
          <p:nvPr/>
        </p:nvSpPr>
        <p:spPr>
          <a:xfrm>
            <a:off x="8092440" y="3429000"/>
            <a:ext cx="3429000" cy="475488"/>
          </a:xfrm>
          <a:prstGeom prst="rect">
            <a:avLst/>
          </a:prstGeom>
          <a:noFill/>
          <a:ln/>
        </p:spPr>
        <p:txBody>
          <a:bodyPr wrap="square" lIns="0" tIns="0" rIns="0" bIns="0" rtlCol="0" anchor="ctr"/>
          <a:lstStyle/>
          <a:p>
            <a:pPr indent="0" marL="0">
              <a:buNone/>
            </a:pPr>
            <a:r>
              <a:rPr lang="en-US" sz="1300" dirty="0">
                <a:solidFill>
                  <a:schemeClr val="tx2"/>
                </a:solidFill>
              </a:rPr>
              <a:t>6% at most</a:t>
            </a:r>
            <a:endParaRPr lang="en-US" sz="1300" dirty="0"/>
          </a:p>
        </p:txBody>
      </p:sp>
      <p:sp>
        <p:nvSpPr>
          <p:cNvPr id="29" name="fals_F5_row"/>
          <p:cNvSpPr/>
          <p:nvPr/>
        </p:nvSpPr>
        <p:spPr>
          <a:xfrm>
            <a:off x="548640" y="3977640"/>
            <a:ext cx="11064240" cy="475488"/>
          </a:xfrm>
          <a:prstGeom prst="roundRect">
            <a:avLst>
              <a:gd name="adj" fmla="val 11538"/>
            </a:avLst>
          </a:prstGeom>
          <a:solidFill>
            <a:schemeClr val="bg2"/>
          </a:solidFill>
          <a:ln w="12700">
            <a:solidFill>
              <a:schemeClr val="bg2"/>
            </a:solidFill>
            <a:prstDash val="solid"/>
          </a:ln>
        </p:spPr>
      </p:sp>
      <p:sp>
        <p:nvSpPr>
          <p:cNvPr id="30" name="fals_F5_id"/>
          <p:cNvSpPr txBox="1"/>
          <p:nvPr/>
        </p:nvSpPr>
        <p:spPr>
          <a:xfrm>
            <a:off x="685800" y="3977640"/>
            <a:ext cx="548640" cy="475488"/>
          </a:xfrm>
          <a:prstGeom prst="rect">
            <a:avLst/>
          </a:prstGeom>
          <a:noFill/>
          <a:ln/>
        </p:spPr>
        <p:txBody>
          <a:bodyPr wrap="square" lIns="0" tIns="0" rIns="0" bIns="0" rtlCol="0" anchor="ctr"/>
          <a:lstStyle/>
          <a:p>
            <a:pPr indent="0" marL="0">
              <a:buNone/>
            </a:pPr>
            <a:r>
              <a:rPr lang="en-US" sz="1500" b="1" dirty="0">
                <a:solidFill>
                  <a:schemeClr val="tx1"/>
                </a:solidFill>
              </a:rPr>
              <a:t>F5</a:t>
            </a:r>
            <a:endParaRPr lang="en-US" sz="1500" dirty="0"/>
          </a:p>
        </p:txBody>
      </p:sp>
      <p:sp>
        <p:nvSpPr>
          <p:cNvPr id="31" name="fals_F5_rule"/>
          <p:cNvSpPr txBox="1"/>
          <p:nvPr/>
        </p:nvSpPr>
        <p:spPr>
          <a:xfrm>
            <a:off x="1280160" y="3977640"/>
            <a:ext cx="5120640" cy="475488"/>
          </a:xfrm>
          <a:prstGeom prst="rect">
            <a:avLst/>
          </a:prstGeom>
          <a:noFill/>
          <a:ln/>
        </p:spPr>
        <p:txBody>
          <a:bodyPr wrap="square" lIns="0" tIns="0" rIns="0" bIns="0" rtlCol="0" anchor="ctr"/>
          <a:lstStyle/>
          <a:p>
            <a:pPr indent="0" marL="0">
              <a:buNone/>
            </a:pPr>
            <a:r>
              <a:rPr lang="en-US" sz="1500" dirty="0">
                <a:solidFill>
                  <a:schemeClr val="tx1"/>
                </a:solidFill>
              </a:rPr>
              <a:t>Party mood moves before party media</a:t>
            </a:r>
            <a:endParaRPr lang="en-US" sz="1500" dirty="0"/>
          </a:p>
        </p:txBody>
      </p:sp>
      <p:sp>
        <p:nvSpPr>
          <p:cNvPr id="32" name="fals_F5_chip"/>
          <p:cNvSpPr/>
          <p:nvPr/>
        </p:nvSpPr>
        <p:spPr>
          <a:xfrm>
            <a:off x="6537960" y="4059936"/>
            <a:ext cx="1371600" cy="310896"/>
          </a:xfrm>
          <a:prstGeom prst="roundRect">
            <a:avLst>
              <a:gd name="adj" fmla="val 23529"/>
            </a:avLst>
          </a:prstGeom>
          <a:solidFill>
            <a:schemeClr val="tx2"/>
          </a:solidFill>
          <a:ln w="12700">
            <a:solidFill>
              <a:schemeClr val="tx2"/>
            </a:solidFill>
            <a:prstDash val="solid"/>
          </a:ln>
        </p:spPr>
      </p:sp>
      <p:sp>
        <p:nvSpPr>
          <p:cNvPr id="33" name="fals_F5_verdict"/>
          <p:cNvSpPr txBox="1"/>
          <p:nvPr/>
        </p:nvSpPr>
        <p:spPr>
          <a:xfrm>
            <a:off x="6537960" y="4059936"/>
            <a:ext cx="1371600" cy="310896"/>
          </a:xfrm>
          <a:prstGeom prst="rect">
            <a:avLst/>
          </a:prstGeom>
          <a:noFill/>
          <a:ln/>
        </p:spPr>
        <p:txBody>
          <a:bodyPr wrap="square" lIns="0" tIns="0" rIns="0" bIns="0" rtlCol="0" anchor="ctr"/>
          <a:lstStyle/>
          <a:p>
            <a:pPr algn="ctr" indent="0" marL="0">
              <a:buNone/>
            </a:pPr>
            <a:r>
              <a:rPr lang="en-US" sz="1200" b="1" dirty="0">
                <a:solidFill>
                  <a:schemeClr val="bg1"/>
                </a:solidFill>
              </a:rPr>
              <a:t>Cannot tell</a:t>
            </a:r>
            <a:endParaRPr lang="en-US" sz="1200" dirty="0"/>
          </a:p>
        </p:txBody>
      </p:sp>
      <p:sp>
        <p:nvSpPr>
          <p:cNvPr id="34" name="fals_F5_res"/>
          <p:cNvSpPr txBox="1"/>
          <p:nvPr/>
        </p:nvSpPr>
        <p:spPr>
          <a:xfrm>
            <a:off x="8092440" y="3977640"/>
            <a:ext cx="3429000" cy="475488"/>
          </a:xfrm>
          <a:prstGeom prst="rect">
            <a:avLst/>
          </a:prstGeom>
          <a:noFill/>
          <a:ln/>
        </p:spPr>
        <p:txBody>
          <a:bodyPr wrap="square" lIns="0" tIns="0" rIns="0" bIns="0" rtlCol="0" anchor="ctr"/>
          <a:lstStyle/>
          <a:p>
            <a:pPr indent="0" marL="0">
              <a:buNone/>
            </a:pPr>
            <a:r>
              <a:rPr lang="en-US" sz="1300" dirty="0">
                <a:solidFill>
                  <a:schemeClr val="tx2"/>
                </a:solidFill>
              </a:rPr>
              <a:t>Monthly data cannot order them</a:t>
            </a:r>
            <a:endParaRPr lang="en-US" sz="1300" dirty="0"/>
          </a:p>
        </p:txBody>
      </p:sp>
      <p:sp>
        <p:nvSpPr>
          <p:cNvPr id="35" name="fals_F6_row"/>
          <p:cNvSpPr/>
          <p:nvPr/>
        </p:nvSpPr>
        <p:spPr>
          <a:xfrm>
            <a:off x="548640" y="4526280"/>
            <a:ext cx="11064240" cy="475488"/>
          </a:xfrm>
          <a:prstGeom prst="roundRect">
            <a:avLst>
              <a:gd name="adj" fmla="val 11538"/>
            </a:avLst>
          </a:prstGeom>
          <a:solidFill>
            <a:schemeClr val="bg2"/>
          </a:solidFill>
          <a:ln w="12700">
            <a:solidFill>
              <a:schemeClr val="bg2"/>
            </a:solidFill>
            <a:prstDash val="solid"/>
          </a:ln>
        </p:spPr>
      </p:sp>
      <p:sp>
        <p:nvSpPr>
          <p:cNvPr id="36" name="fals_F6_id"/>
          <p:cNvSpPr txBox="1"/>
          <p:nvPr/>
        </p:nvSpPr>
        <p:spPr>
          <a:xfrm>
            <a:off x="685800" y="4526280"/>
            <a:ext cx="548640" cy="475488"/>
          </a:xfrm>
          <a:prstGeom prst="rect">
            <a:avLst/>
          </a:prstGeom>
          <a:noFill/>
          <a:ln/>
        </p:spPr>
        <p:txBody>
          <a:bodyPr wrap="square" lIns="0" tIns="0" rIns="0" bIns="0" rtlCol="0" anchor="ctr"/>
          <a:lstStyle/>
          <a:p>
            <a:pPr indent="0" marL="0">
              <a:buNone/>
            </a:pPr>
            <a:r>
              <a:rPr lang="en-US" sz="1500" b="1" dirty="0">
                <a:solidFill>
                  <a:schemeClr val="tx1"/>
                </a:solidFill>
              </a:rPr>
              <a:t>F6</a:t>
            </a:r>
            <a:endParaRPr lang="en-US" sz="1500" dirty="0"/>
          </a:p>
        </p:txBody>
      </p:sp>
      <p:sp>
        <p:nvSpPr>
          <p:cNvPr id="37" name="fals_F6_rule"/>
          <p:cNvSpPr txBox="1"/>
          <p:nvPr/>
        </p:nvSpPr>
        <p:spPr>
          <a:xfrm>
            <a:off x="1280160" y="4526280"/>
            <a:ext cx="5120640" cy="475488"/>
          </a:xfrm>
          <a:prstGeom prst="rect">
            <a:avLst/>
          </a:prstGeom>
          <a:noFill/>
          <a:ln/>
        </p:spPr>
        <p:txBody>
          <a:bodyPr wrap="square" lIns="0" tIns="0" rIns="0" bIns="0" rtlCol="0" anchor="ctr"/>
          <a:lstStyle/>
          <a:p>
            <a:pPr indent="0" marL="0">
              <a:buNone/>
            </a:pPr>
            <a:r>
              <a:rPr lang="en-US" sz="1500" dirty="0">
                <a:solidFill>
                  <a:schemeClr val="tx1"/>
                </a:solidFill>
              </a:rPr>
              <a:t>The web switch is as big as the gap</a:t>
            </a:r>
            <a:endParaRPr lang="en-US" sz="1500" dirty="0"/>
          </a:p>
        </p:txBody>
      </p:sp>
      <p:sp>
        <p:nvSpPr>
          <p:cNvPr id="38" name="fals_F6_chip"/>
          <p:cNvSpPr/>
          <p:nvPr/>
        </p:nvSpPr>
        <p:spPr>
          <a:xfrm>
            <a:off x="6537960" y="4608576"/>
            <a:ext cx="1371600" cy="310896"/>
          </a:xfrm>
          <a:prstGeom prst="roundRect">
            <a:avLst>
              <a:gd name="adj" fmla="val 23529"/>
            </a:avLst>
          </a:prstGeom>
          <a:solidFill>
            <a:schemeClr val="accent4"/>
          </a:solidFill>
          <a:ln w="12700">
            <a:solidFill>
              <a:schemeClr val="accent4"/>
            </a:solidFill>
            <a:prstDash val="solid"/>
          </a:ln>
        </p:spPr>
      </p:sp>
      <p:sp>
        <p:nvSpPr>
          <p:cNvPr id="39" name="fals_F6_verdict"/>
          <p:cNvSpPr txBox="1"/>
          <p:nvPr/>
        </p:nvSpPr>
        <p:spPr>
          <a:xfrm>
            <a:off x="6537960" y="4608576"/>
            <a:ext cx="1371600" cy="310896"/>
          </a:xfrm>
          <a:prstGeom prst="rect">
            <a:avLst/>
          </a:prstGeom>
          <a:noFill/>
          <a:ln/>
        </p:spPr>
        <p:txBody>
          <a:bodyPr wrap="square" lIns="0" tIns="0" rIns="0" bIns="0" rtlCol="0" anchor="ctr"/>
          <a:lstStyle/>
          <a:p>
            <a:pPr algn="ctr" indent="0" marL="0">
              <a:buNone/>
            </a:pPr>
            <a:r>
              <a:rPr lang="en-US" sz="1200" b="1" dirty="0">
                <a:solidFill>
                  <a:schemeClr val="bg1"/>
                </a:solidFill>
              </a:rPr>
              <a:t>Not true</a:t>
            </a:r>
            <a:endParaRPr lang="en-US" sz="1200" dirty="0"/>
          </a:p>
        </p:txBody>
      </p:sp>
      <p:sp>
        <p:nvSpPr>
          <p:cNvPr id="40" name="fals_F6_res"/>
          <p:cNvSpPr txBox="1"/>
          <p:nvPr/>
        </p:nvSpPr>
        <p:spPr>
          <a:xfrm>
            <a:off x="8092440" y="4526280"/>
            <a:ext cx="3429000" cy="475488"/>
          </a:xfrm>
          <a:prstGeom prst="rect">
            <a:avLst/>
          </a:prstGeom>
          <a:noFill/>
          <a:ln/>
        </p:spPr>
        <p:txBody>
          <a:bodyPr wrap="square" lIns="0" tIns="0" rIns="0" bIns="0" rtlCol="0" anchor="ctr"/>
          <a:lstStyle/>
          <a:p>
            <a:pPr indent="0" marL="0">
              <a:buNone/>
            </a:pPr>
            <a:r>
              <a:rPr lang="en-US" sz="1300" dirty="0">
                <a:solidFill>
                  <a:schemeClr val="tx2"/>
                </a:solidFill>
              </a:rPr>
              <a:t>6.6 points, 17% of the gap</a:t>
            </a:r>
            <a:endParaRPr lang="en-US" sz="1300" dirty="0"/>
          </a:p>
        </p:txBody>
      </p:sp>
      <p:sp>
        <p:nvSpPr>
          <p:cNvPr id="41" name="fals_F7_row"/>
          <p:cNvSpPr/>
          <p:nvPr/>
        </p:nvSpPr>
        <p:spPr>
          <a:xfrm>
            <a:off x="548640" y="5074920"/>
            <a:ext cx="11064240" cy="475488"/>
          </a:xfrm>
          <a:prstGeom prst="roundRect">
            <a:avLst>
              <a:gd name="adj" fmla="val 11538"/>
            </a:avLst>
          </a:prstGeom>
          <a:solidFill>
            <a:schemeClr val="bg2"/>
          </a:solidFill>
          <a:ln w="12700">
            <a:solidFill>
              <a:schemeClr val="bg2"/>
            </a:solidFill>
            <a:prstDash val="solid"/>
          </a:ln>
        </p:spPr>
      </p:sp>
      <p:sp>
        <p:nvSpPr>
          <p:cNvPr id="42" name="fals_F7_id"/>
          <p:cNvSpPr txBox="1"/>
          <p:nvPr/>
        </p:nvSpPr>
        <p:spPr>
          <a:xfrm>
            <a:off x="685800" y="5074920"/>
            <a:ext cx="548640" cy="475488"/>
          </a:xfrm>
          <a:prstGeom prst="rect">
            <a:avLst/>
          </a:prstGeom>
          <a:noFill/>
          <a:ln/>
        </p:spPr>
        <p:txBody>
          <a:bodyPr wrap="square" lIns="0" tIns="0" rIns="0" bIns="0" rtlCol="0" anchor="ctr"/>
          <a:lstStyle/>
          <a:p>
            <a:pPr indent="0" marL="0">
              <a:buNone/>
            </a:pPr>
            <a:r>
              <a:rPr lang="en-US" sz="1500" b="1" dirty="0">
                <a:solidFill>
                  <a:schemeClr val="tx1"/>
                </a:solidFill>
              </a:rPr>
              <a:t>F7</a:t>
            </a:r>
            <a:endParaRPr lang="en-US" sz="1500" dirty="0"/>
          </a:p>
        </p:txBody>
      </p:sp>
      <p:sp>
        <p:nvSpPr>
          <p:cNvPr id="43" name="fals_F7_rule"/>
          <p:cNvSpPr txBox="1"/>
          <p:nvPr/>
        </p:nvSpPr>
        <p:spPr>
          <a:xfrm>
            <a:off x="1280160" y="5074920"/>
            <a:ext cx="5120640" cy="475488"/>
          </a:xfrm>
          <a:prstGeom prst="rect">
            <a:avLst/>
          </a:prstGeom>
          <a:noFill/>
          <a:ln/>
        </p:spPr>
        <p:txBody>
          <a:bodyPr wrap="square" lIns="0" tIns="0" rIns="0" bIns="0" rtlCol="0" anchor="ctr"/>
          <a:lstStyle/>
          <a:p>
            <a:pPr indent="0" marL="0">
              <a:buNone/>
            </a:pPr>
            <a:r>
              <a:rPr lang="en-US" sz="1500" dirty="0">
                <a:solidFill>
                  <a:schemeClr val="tx1"/>
                </a:solidFill>
              </a:rPr>
              <a:t>Recall of price news follows the economy, not coverage</a:t>
            </a:r>
            <a:endParaRPr lang="en-US" sz="1500" dirty="0"/>
          </a:p>
        </p:txBody>
      </p:sp>
      <p:sp>
        <p:nvSpPr>
          <p:cNvPr id="44" name="fals_F7_chip"/>
          <p:cNvSpPr/>
          <p:nvPr/>
        </p:nvSpPr>
        <p:spPr>
          <a:xfrm>
            <a:off x="6537960" y="5157216"/>
            <a:ext cx="1371600" cy="310896"/>
          </a:xfrm>
          <a:prstGeom prst="roundRect">
            <a:avLst>
              <a:gd name="adj" fmla="val 23529"/>
            </a:avLst>
          </a:prstGeom>
          <a:solidFill>
            <a:schemeClr val="accent2"/>
          </a:solidFill>
          <a:ln w="12700">
            <a:solidFill>
              <a:schemeClr val="accent2"/>
            </a:solidFill>
            <a:prstDash val="solid"/>
          </a:ln>
        </p:spPr>
      </p:sp>
      <p:sp>
        <p:nvSpPr>
          <p:cNvPr id="45" name="fals_F7_verdict"/>
          <p:cNvSpPr txBox="1"/>
          <p:nvPr/>
        </p:nvSpPr>
        <p:spPr>
          <a:xfrm>
            <a:off x="6537960" y="5157216"/>
            <a:ext cx="1371600" cy="310896"/>
          </a:xfrm>
          <a:prstGeom prst="rect">
            <a:avLst/>
          </a:prstGeom>
          <a:noFill/>
          <a:ln/>
        </p:spPr>
        <p:txBody>
          <a:bodyPr wrap="square" lIns="0" tIns="0" rIns="0" bIns="0" rtlCol="0" anchor="ctr"/>
          <a:lstStyle/>
          <a:p>
            <a:pPr algn="ctr" indent="0" marL="0">
              <a:buNone/>
            </a:pPr>
            <a:r>
              <a:rPr lang="en-US" sz="1200" b="1" dirty="0">
                <a:solidFill>
                  <a:schemeClr val="bg1"/>
                </a:solidFill>
              </a:rPr>
              <a:t>True</a:t>
            </a:r>
            <a:endParaRPr lang="en-US" sz="1200" dirty="0"/>
          </a:p>
        </p:txBody>
      </p:sp>
      <p:sp>
        <p:nvSpPr>
          <p:cNvPr id="46" name="fals_F7_res"/>
          <p:cNvSpPr txBox="1"/>
          <p:nvPr/>
        </p:nvSpPr>
        <p:spPr>
          <a:xfrm>
            <a:off x="8092440" y="5074920"/>
            <a:ext cx="3429000" cy="475488"/>
          </a:xfrm>
          <a:prstGeom prst="rect">
            <a:avLst/>
          </a:prstGeom>
          <a:noFill/>
          <a:ln/>
        </p:spPr>
        <p:txBody>
          <a:bodyPr wrap="square" lIns="0" tIns="0" rIns="0" bIns="0" rtlCol="0" anchor="ctr"/>
          <a:lstStyle/>
          <a:p>
            <a:pPr indent="0" marL="0">
              <a:buNone/>
            </a:pPr>
            <a:r>
              <a:rPr lang="en-US" sz="1300" dirty="0">
                <a:solidFill>
                  <a:schemeClr val="tx2"/>
                </a:solidFill>
              </a:rPr>
              <a:t>R² 0.80 vs 0.61</a:t>
            </a:r>
            <a:endParaRPr lang="en-US" sz="1300" dirty="0"/>
          </a:p>
        </p:txBody>
      </p:sp>
      <p:sp>
        <p:nvSpPr>
          <p:cNvPr id="47" name="takeaway_box"/>
          <p:cNvSpPr/>
          <p:nvPr/>
        </p:nvSpPr>
        <p:spPr>
          <a:xfrm>
            <a:off x="548640" y="5742432"/>
            <a:ext cx="11064240" cy="548640"/>
          </a:xfrm>
          <a:prstGeom prst="roundRect">
            <a:avLst>
              <a:gd name="adj" fmla="val 13333"/>
            </a:avLst>
          </a:prstGeom>
          <a:solidFill>
            <a:schemeClr val="bg2"/>
          </a:solidFill>
          <a:ln w="12700">
            <a:solidFill>
              <a:schemeClr val="bg2"/>
            </a:solidFill>
            <a:prstDash val="solid"/>
          </a:ln>
        </p:spPr>
      </p:sp>
      <p:sp>
        <p:nvSpPr>
          <p:cNvPr id="48" name="takeaway"/>
          <p:cNvSpPr txBox="1"/>
          <p:nvPr/>
        </p:nvSpPr>
        <p:spPr>
          <a:xfrm>
            <a:off x="777240" y="5742432"/>
            <a:ext cx="10698480" cy="548640"/>
          </a:xfrm>
          <a:prstGeom prst="rect">
            <a:avLst/>
          </a:prstGeom>
          <a:noFill/>
          <a:ln/>
        </p:spPr>
        <p:txBody>
          <a:bodyPr wrap="square" lIns="0" tIns="0" rIns="0" bIns="0" rtlCol="0" anchor="ctr"/>
          <a:lstStyle/>
          <a:p>
            <a:pPr indent="0" marL="0">
              <a:buNone/>
            </a:pPr>
            <a:r>
              <a:rPr lang="en-US" sz="1500" b="1" dirty="0">
                <a:solidFill>
                  <a:schemeClr val="accent1"/>
                </a:solidFill>
              </a:rPr>
              <a:t>Takeaway   </a:t>
            </a:r>
            <a:pPr indent="0" marL="0">
              <a:buNone/>
            </a:pPr>
            <a:r>
              <a:rPr lang="en-US" sz="1500" dirty="0">
                <a:solidFill>
                  <a:schemeClr val="tx1"/>
                </a:solidFill>
              </a:rPr>
              <a:t>The tests that hold (timing, recall) point away from media as the main cause.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2800" b="1" dirty="0">
                <a:solidFill>
                  <a:schemeClr val="tx1"/>
                </a:solidFill>
              </a:rPr>
              <a:t>Putting it together: what explains the 40-point gap</a:t>
            </a:r>
            <a:endParaRPr lang="en-US" sz="2800" dirty="0"/>
          </a:p>
        </p:txBody>
      </p:sp>
      <p:sp>
        <p:nvSpPr>
          <p:cNvPr id="3" name="drop_title"/>
          <p:cNvSpPr txBox="1"/>
          <p:nvPr/>
        </p:nvSpPr>
        <p:spPr>
          <a:xfrm>
            <a:off x="548640" y="1280160"/>
            <a:ext cx="11064240" cy="320040"/>
          </a:xfrm>
          <a:prstGeom prst="rect">
            <a:avLst/>
          </a:prstGeom>
          <a:noFill/>
          <a:ln/>
        </p:spPr>
        <p:txBody>
          <a:bodyPr wrap="square" lIns="0" tIns="0" rIns="0" bIns="0" rtlCol="0" anchor="ctr"/>
          <a:lstStyle/>
          <a:p>
            <a:pPr indent="0" marL="0">
              <a:buNone/>
            </a:pPr>
            <a:r>
              <a:rPr lang="en-US" sz="1300" dirty="0">
                <a:solidFill>
                  <a:schemeClr val="tx2"/>
                </a:solidFill>
              </a:rPr>
              <a:t>The 39.9-point 2026 gap (index points): what we can subtract without a model, and what could explain the rest</a:t>
            </a:r>
            <a:endParaRPr lang="en-US" sz="1300" dirty="0"/>
          </a:p>
        </p:txBody>
      </p:sp>
      <p:sp>
        <p:nvSpPr>
          <p:cNvPr id="4" name="drop_seg_0"/>
          <p:cNvSpPr/>
          <p:nvPr/>
        </p:nvSpPr>
        <p:spPr>
          <a:xfrm>
            <a:off x="548640" y="1673352"/>
            <a:ext cx="1830175" cy="640080"/>
          </a:xfrm>
          <a:prstGeom prst="rect">
            <a:avLst/>
          </a:prstGeom>
          <a:solidFill>
            <a:schemeClr val="accent4"/>
          </a:solidFill>
          <a:ln w="12700">
            <a:solidFill>
              <a:srgbClr val="FFFFFF"/>
            </a:solidFill>
            <a:prstDash val="solid"/>
          </a:ln>
        </p:spPr>
      </p:sp>
      <p:sp>
        <p:nvSpPr>
          <p:cNvPr id="5" name="drop_val_0"/>
          <p:cNvSpPr txBox="1"/>
          <p:nvPr/>
        </p:nvSpPr>
        <p:spPr>
          <a:xfrm>
            <a:off x="548640" y="1673352"/>
            <a:ext cx="1830175" cy="640080"/>
          </a:xfrm>
          <a:prstGeom prst="rect">
            <a:avLst/>
          </a:prstGeom>
          <a:noFill/>
          <a:ln/>
        </p:spPr>
        <p:txBody>
          <a:bodyPr wrap="square" lIns="0" tIns="0" rIns="0" bIns="0" rtlCol="0" anchor="ctr"/>
          <a:lstStyle/>
          <a:p>
            <a:pPr algn="ctr" indent="0" marL="0">
              <a:buNone/>
            </a:pPr>
            <a:r>
              <a:rPr lang="en-US" sz="1500" b="1" dirty="0">
                <a:solidFill>
                  <a:srgbClr val="FFFFFF"/>
                </a:solidFill>
              </a:rPr>
              <a:t>6.6</a:t>
            </a:r>
            <a:endParaRPr lang="en-US" sz="1500" dirty="0"/>
          </a:p>
        </p:txBody>
      </p:sp>
      <p:sp>
        <p:nvSpPr>
          <p:cNvPr id="6" name="drop_seg_1"/>
          <p:cNvSpPr/>
          <p:nvPr/>
        </p:nvSpPr>
        <p:spPr>
          <a:xfrm>
            <a:off x="2378815" y="1673352"/>
            <a:ext cx="1303306" cy="640080"/>
          </a:xfrm>
          <a:prstGeom prst="rect">
            <a:avLst/>
          </a:prstGeom>
          <a:solidFill>
            <a:schemeClr val="accent5"/>
          </a:solidFill>
          <a:ln w="12700">
            <a:solidFill>
              <a:srgbClr val="FFFFFF"/>
            </a:solidFill>
            <a:prstDash val="solid"/>
          </a:ln>
        </p:spPr>
      </p:sp>
      <p:sp>
        <p:nvSpPr>
          <p:cNvPr id="7" name="drop_val_1"/>
          <p:cNvSpPr txBox="1"/>
          <p:nvPr/>
        </p:nvSpPr>
        <p:spPr>
          <a:xfrm>
            <a:off x="2378815" y="1673352"/>
            <a:ext cx="1303306" cy="640080"/>
          </a:xfrm>
          <a:prstGeom prst="rect">
            <a:avLst/>
          </a:prstGeom>
          <a:noFill/>
          <a:ln/>
        </p:spPr>
        <p:txBody>
          <a:bodyPr wrap="square" lIns="0" tIns="0" rIns="0" bIns="0" rtlCol="0" anchor="ctr"/>
          <a:lstStyle/>
          <a:p>
            <a:pPr algn="ctr" indent="0" marL="0">
              <a:buNone/>
            </a:pPr>
            <a:r>
              <a:rPr lang="en-US" sz="1500" b="1" dirty="0">
                <a:solidFill>
                  <a:srgbClr val="FFFFFF"/>
                </a:solidFill>
              </a:rPr>
              <a:t>4.7</a:t>
            </a:r>
            <a:endParaRPr lang="en-US" sz="1500" dirty="0"/>
          </a:p>
        </p:txBody>
      </p:sp>
      <p:sp>
        <p:nvSpPr>
          <p:cNvPr id="8" name="drop_rest"/>
          <p:cNvSpPr/>
          <p:nvPr/>
        </p:nvSpPr>
        <p:spPr>
          <a:xfrm>
            <a:off x="3682122" y="1673352"/>
            <a:ext cx="7925213" cy="640080"/>
          </a:xfrm>
          <a:prstGeom prst="rect">
            <a:avLst/>
          </a:prstGeom>
          <a:solidFill>
            <a:schemeClr val="accent3">
              <a:alpha val="22000"/>
            </a:schemeClr>
          </a:solidFill>
          <a:ln w="19050">
            <a:solidFill>
              <a:schemeClr val="accent3"/>
            </a:solidFill>
            <a:prstDash val="dash"/>
          </a:ln>
        </p:spPr>
      </p:sp>
      <p:sp>
        <p:nvSpPr>
          <p:cNvPr id="9" name="drop_rest_label"/>
          <p:cNvSpPr txBox="1"/>
          <p:nvPr/>
        </p:nvSpPr>
        <p:spPr>
          <a:xfrm>
            <a:off x="3682122" y="1673352"/>
            <a:ext cx="7925213" cy="640080"/>
          </a:xfrm>
          <a:prstGeom prst="rect">
            <a:avLst/>
          </a:prstGeom>
          <a:noFill/>
          <a:ln/>
        </p:spPr>
        <p:txBody>
          <a:bodyPr wrap="square" lIns="0" tIns="0" rIns="0" bIns="0" rtlCol="0" anchor="ctr"/>
          <a:lstStyle/>
          <a:p>
            <a:pPr algn="ctr" indent="0" marL="0">
              <a:buNone/>
            </a:pPr>
            <a:r>
              <a:rPr lang="en-US" sz="1600" b="1" dirty="0">
                <a:solidFill>
                  <a:schemeClr val="accent3"/>
                </a:solidFill>
              </a:rPr>
              <a:t>28.6 (range 23 to 35): the suspects explain little of it</a:t>
            </a:r>
            <a:endParaRPr lang="en-US" sz="1600" dirty="0"/>
          </a:p>
        </p:txBody>
      </p:sp>
      <p:sp>
        <p:nvSpPr>
          <p:cNvPr id="10" name="brk_meas_line"/>
          <p:cNvSpPr/>
          <p:nvPr/>
        </p:nvSpPr>
        <p:spPr>
          <a:xfrm>
            <a:off x="548640" y="2423160"/>
            <a:ext cx="3087762" cy="0"/>
          </a:xfrm>
          <a:prstGeom prst="line">
            <a:avLst/>
          </a:prstGeom>
          <a:noFill/>
          <a:ln w="19050">
            <a:solidFill>
              <a:schemeClr val="tx2"/>
            </a:solidFill>
            <a:prstDash val="solid"/>
          </a:ln>
        </p:spPr>
      </p:sp>
      <p:sp>
        <p:nvSpPr>
          <p:cNvPr id="11" name="brk_meas_l"/>
          <p:cNvSpPr/>
          <p:nvPr/>
        </p:nvSpPr>
        <p:spPr>
          <a:xfrm>
            <a:off x="548640" y="2350008"/>
            <a:ext cx="0" cy="73152"/>
          </a:xfrm>
          <a:prstGeom prst="line">
            <a:avLst/>
          </a:prstGeom>
          <a:noFill/>
          <a:ln w="19050">
            <a:solidFill>
              <a:schemeClr val="tx2"/>
            </a:solidFill>
            <a:prstDash val="solid"/>
          </a:ln>
        </p:spPr>
      </p:sp>
      <p:sp>
        <p:nvSpPr>
          <p:cNvPr id="12" name="brk_meas_r"/>
          <p:cNvSpPr/>
          <p:nvPr/>
        </p:nvSpPr>
        <p:spPr>
          <a:xfrm>
            <a:off x="3636402" y="2350008"/>
            <a:ext cx="0" cy="73152"/>
          </a:xfrm>
          <a:prstGeom prst="line">
            <a:avLst/>
          </a:prstGeom>
          <a:noFill/>
          <a:ln w="19050">
            <a:solidFill>
              <a:schemeClr val="tx2"/>
            </a:solidFill>
            <a:prstDash val="solid"/>
          </a:ln>
        </p:spPr>
      </p:sp>
      <p:sp>
        <p:nvSpPr>
          <p:cNvPr id="13" name="brk_meas_text"/>
          <p:cNvSpPr txBox="1"/>
          <p:nvPr/>
        </p:nvSpPr>
        <p:spPr>
          <a:xfrm>
            <a:off x="548640" y="2468880"/>
            <a:ext cx="3087762" cy="292608"/>
          </a:xfrm>
          <a:prstGeom prst="rect">
            <a:avLst/>
          </a:prstGeom>
          <a:noFill/>
          <a:ln/>
        </p:spPr>
        <p:txBody>
          <a:bodyPr wrap="square" lIns="0" tIns="0" rIns="0" bIns="0" rtlCol="0" anchor="ctr"/>
          <a:lstStyle/>
          <a:p>
            <a:pPr algn="ctr" indent="0" marL="0">
              <a:buNone/>
            </a:pPr>
            <a:r>
              <a:rPr lang="en-US" sz="1300" b="1" dirty="0">
                <a:solidFill>
                  <a:schemeClr val="tx2"/>
                </a:solidFill>
              </a:rPr>
              <a:t>Survey method: about 11 points</a:t>
            </a:r>
            <a:endParaRPr lang="en-US" sz="1300" dirty="0"/>
          </a:p>
        </p:txBody>
      </p:sp>
      <p:sp>
        <p:nvSpPr>
          <p:cNvPr id="14" name="brk_rest_line"/>
          <p:cNvSpPr/>
          <p:nvPr/>
        </p:nvSpPr>
        <p:spPr>
          <a:xfrm>
            <a:off x="3727842" y="2423160"/>
            <a:ext cx="7879493" cy="0"/>
          </a:xfrm>
          <a:prstGeom prst="line">
            <a:avLst/>
          </a:prstGeom>
          <a:noFill/>
          <a:ln w="19050">
            <a:solidFill>
              <a:schemeClr val="accent3"/>
            </a:solidFill>
            <a:prstDash val="solid"/>
          </a:ln>
        </p:spPr>
      </p:sp>
      <p:sp>
        <p:nvSpPr>
          <p:cNvPr id="15" name="brk_rest_l"/>
          <p:cNvSpPr/>
          <p:nvPr/>
        </p:nvSpPr>
        <p:spPr>
          <a:xfrm>
            <a:off x="3727842" y="2350008"/>
            <a:ext cx="0" cy="73152"/>
          </a:xfrm>
          <a:prstGeom prst="line">
            <a:avLst/>
          </a:prstGeom>
          <a:noFill/>
          <a:ln w="19050">
            <a:solidFill>
              <a:schemeClr val="accent3"/>
            </a:solidFill>
            <a:prstDash val="solid"/>
          </a:ln>
        </p:spPr>
      </p:sp>
      <p:sp>
        <p:nvSpPr>
          <p:cNvPr id="16" name="brk_rest_r"/>
          <p:cNvSpPr/>
          <p:nvPr/>
        </p:nvSpPr>
        <p:spPr>
          <a:xfrm>
            <a:off x="11607334" y="2350008"/>
            <a:ext cx="0" cy="73152"/>
          </a:xfrm>
          <a:prstGeom prst="line">
            <a:avLst/>
          </a:prstGeom>
          <a:noFill/>
          <a:ln w="19050">
            <a:solidFill>
              <a:schemeClr val="accent3"/>
            </a:solidFill>
            <a:prstDash val="solid"/>
          </a:ln>
        </p:spPr>
      </p:sp>
      <p:sp>
        <p:nvSpPr>
          <p:cNvPr id="17" name="brk_rest_text"/>
          <p:cNvSpPr txBox="1"/>
          <p:nvPr/>
        </p:nvSpPr>
        <p:spPr>
          <a:xfrm>
            <a:off x="3727842" y="2468880"/>
            <a:ext cx="7879493" cy="292608"/>
          </a:xfrm>
          <a:prstGeom prst="rect">
            <a:avLst/>
          </a:prstGeom>
          <a:noFill/>
          <a:ln/>
        </p:spPr>
        <p:txBody>
          <a:bodyPr wrap="square" lIns="0" tIns="0" rIns="0" bIns="0" rtlCol="0" anchor="ctr"/>
          <a:lstStyle/>
          <a:p>
            <a:pPr algn="ctr" indent="0" marL="0">
              <a:buNone/>
            </a:pPr>
            <a:r>
              <a:rPr lang="en-US" sz="1300" b="1" dirty="0">
                <a:solidFill>
                  <a:schemeClr val="accent3"/>
                </a:solidFill>
              </a:rPr>
              <a:t>The rest: suspects tested below</a:t>
            </a:r>
            <a:endParaRPr lang="en-US" sz="1300" dirty="0"/>
          </a:p>
        </p:txBody>
      </p:sp>
      <p:sp>
        <p:nvSpPr>
          <p:cNvPr id="18" name="drop_key_0"/>
          <p:cNvSpPr/>
          <p:nvPr/>
        </p:nvSpPr>
        <p:spPr>
          <a:xfrm>
            <a:off x="548640" y="2944368"/>
            <a:ext cx="182880" cy="182880"/>
          </a:xfrm>
          <a:prstGeom prst="rect">
            <a:avLst/>
          </a:prstGeom>
          <a:solidFill>
            <a:schemeClr val="accent4"/>
          </a:solidFill>
          <a:ln w="12700">
            <a:solidFill>
              <a:schemeClr val="accent4"/>
            </a:solidFill>
            <a:prstDash val="solid"/>
          </a:ln>
        </p:spPr>
      </p:sp>
      <p:sp>
        <p:nvSpPr>
          <p:cNvPr id="19" name="drop_keytext_0"/>
          <p:cNvSpPr txBox="1"/>
          <p:nvPr/>
        </p:nvSpPr>
        <p:spPr>
          <a:xfrm>
            <a:off x="822960" y="2880360"/>
            <a:ext cx="3200400" cy="310896"/>
          </a:xfrm>
          <a:prstGeom prst="rect">
            <a:avLst/>
          </a:prstGeom>
          <a:noFill/>
          <a:ln/>
        </p:spPr>
        <p:txBody>
          <a:bodyPr wrap="square" lIns="0" tIns="0" rIns="0" bIns="0" rtlCol="0" anchor="ctr"/>
          <a:lstStyle/>
          <a:p>
            <a:pPr indent="0" marL="0">
              <a:buNone/>
            </a:pPr>
            <a:r>
              <a:rPr lang="en-US" sz="1300" dirty="0">
                <a:solidFill>
                  <a:schemeClr val="tx1"/>
                </a:solidFill>
              </a:rPr>
              <a:t>Web-interview switch: 6.6</a:t>
            </a:r>
            <a:endParaRPr lang="en-US" sz="1300" dirty="0"/>
          </a:p>
        </p:txBody>
      </p:sp>
      <p:sp>
        <p:nvSpPr>
          <p:cNvPr id="20" name="drop_key_1"/>
          <p:cNvSpPr/>
          <p:nvPr/>
        </p:nvSpPr>
        <p:spPr>
          <a:xfrm>
            <a:off x="548640" y="3273552"/>
            <a:ext cx="182880" cy="182880"/>
          </a:xfrm>
          <a:prstGeom prst="rect">
            <a:avLst/>
          </a:prstGeom>
          <a:solidFill>
            <a:schemeClr val="accent5"/>
          </a:solidFill>
          <a:ln w="12700">
            <a:solidFill>
              <a:schemeClr val="accent5"/>
            </a:solidFill>
            <a:prstDash val="solid"/>
          </a:ln>
        </p:spPr>
      </p:sp>
      <p:sp>
        <p:nvSpPr>
          <p:cNvPr id="21" name="drop_keytext_1"/>
          <p:cNvSpPr txBox="1"/>
          <p:nvPr/>
        </p:nvSpPr>
        <p:spPr>
          <a:xfrm>
            <a:off x="822960" y="3209544"/>
            <a:ext cx="3200400" cy="310896"/>
          </a:xfrm>
          <a:prstGeom prst="rect">
            <a:avLst/>
          </a:prstGeom>
          <a:noFill/>
          <a:ln/>
        </p:spPr>
        <p:txBody>
          <a:bodyPr wrap="square" lIns="0" tIns="0" rIns="0" bIns="0" rtlCol="0" anchor="ctr"/>
          <a:lstStyle/>
          <a:p>
            <a:pPr indent="0" marL="0">
              <a:buNone/>
            </a:pPr>
            <a:r>
              <a:rPr lang="en-US" sz="1300" dirty="0">
                <a:solidFill>
                  <a:schemeClr val="tx1"/>
                </a:solidFill>
              </a:rPr>
              <a:t>Party mix of respondents: 4.7</a:t>
            </a:r>
            <a:endParaRPr lang="en-US" sz="1300" dirty="0"/>
          </a:p>
        </p:txBody>
      </p:sp>
      <p:sp>
        <p:nvSpPr>
          <p:cNvPr id="22" name="drop_why"/>
          <p:cNvSpPr txBox="1"/>
          <p:nvPr/>
        </p:nvSpPr>
        <p:spPr>
          <a:xfrm>
            <a:off x="548640" y="3611880"/>
            <a:ext cx="3291840" cy="1143000"/>
          </a:xfrm>
          <a:prstGeom prst="rect">
            <a:avLst/>
          </a:prstGeom>
          <a:noFill/>
          <a:ln/>
        </p:spPr>
        <p:txBody>
          <a:bodyPr wrap="square" lIns="0" tIns="0" rIns="0" bIns="0" rtlCol="0" anchor="t"/>
          <a:lstStyle/>
          <a:p>
            <a:pPr indent="0" marL="0">
              <a:buNone/>
            </a:pPr>
            <a:r>
              <a:rPr lang="en-US" sz="1200" b="1" dirty="0">
                <a:solidFill>
                  <a:schemeClr val="tx1"/>
                </a:solidFill>
              </a:rPr>
              <a:t>Why only these two: </a:t>
            </a:r>
            <a:pPr indent="0" marL="0">
              <a:buNone/>
            </a:pPr>
            <a:r>
              <a:rPr lang="en-US" sz="1200" dirty="0">
                <a:solidFill>
                  <a:schemeClr val="tx2"/>
                </a:solidFill>
              </a:rPr>
              <a:t>the brief asks for an out-of-sample gap (the model learns 2010-19, then predicts 2026). These two need no model. News and household costs do, so they are explanations, not subtractions.</a:t>
            </a:r>
            <a:endParaRPr lang="en-US" sz="1200" dirty="0"/>
          </a:p>
        </p:txBody>
      </p:sp>
      <p:sp>
        <p:nvSpPr>
          <p:cNvPr id="23" name="drop_econ"/>
          <p:cNvSpPr txBox="1"/>
          <p:nvPr/>
        </p:nvSpPr>
        <p:spPr>
          <a:xfrm>
            <a:off x="548640" y="4864608"/>
            <a:ext cx="3291840" cy="548640"/>
          </a:xfrm>
          <a:prstGeom prst="rect">
            <a:avLst/>
          </a:prstGeom>
          <a:noFill/>
          <a:ln/>
        </p:spPr>
        <p:txBody>
          <a:bodyPr wrap="square" lIns="0" tIns="0" rIns="0" bIns="0" rtlCol="0" anchor="t"/>
          <a:lstStyle/>
          <a:p>
            <a:pPr indent="0" marL="0">
              <a:buNone/>
            </a:pPr>
            <a:r>
              <a:rPr lang="en-US" sz="1200" i="1" dirty="0">
                <a:solidFill>
                  <a:schemeClr val="tx2"/>
                </a:solidFill>
              </a:rPr>
              <a:t>Before the gap: the economy explains 7.1 of the 44.8-point fall since 2019.</a:t>
            </a:r>
            <a:endParaRPr lang="en-US" sz="1200" dirty="0"/>
          </a:p>
        </p:txBody>
      </p:sp>
      <p:graphicFrame>
        <p:nvGraphicFramePr>
          <p:cNvPr id="24" name="su10_chart" descr=""/>
          <p:cNvGraphicFramePr/>
          <p:nvPr/>
        </p:nvGraphicFramePr>
        <p:xfrm>
          <a:off x="4069080" y="2788920"/>
          <a:ext cx="4206240" cy="2926080"/>
        </p:xfrm>
        <a:graphic xmlns:a="http://schemas.openxmlformats.org/drawingml/2006/main">
          <a:graphicData uri="http://schemas.openxmlformats.org/drawingml/2006/chart">
            <c:chart xmlns:c="http://schemas.openxmlformats.org/drawingml/2006/chart" r:id="rId1"/>
          </a:graphicData>
        </a:graphic>
      </p:graphicFrame>
      <p:sp>
        <p:nvSpPr>
          <p:cNvPr id="25" name="su10_card_0_box"/>
          <p:cNvSpPr/>
          <p:nvPr/>
        </p:nvSpPr>
        <p:spPr>
          <a:xfrm>
            <a:off x="8412480" y="2834640"/>
            <a:ext cx="3200400" cy="1207008"/>
          </a:xfrm>
          <a:prstGeom prst="roundRect">
            <a:avLst>
              <a:gd name="adj" fmla="val 4545"/>
            </a:avLst>
          </a:prstGeom>
          <a:solidFill>
            <a:schemeClr val="bg2"/>
          </a:solidFill>
          <a:ln w="12700">
            <a:solidFill>
              <a:schemeClr val="bg2"/>
            </a:solidFill>
            <a:prstDash val="solid"/>
          </a:ln>
        </p:spPr>
      </p:sp>
      <p:sp>
        <p:nvSpPr>
          <p:cNvPr id="26" name="su10_card_0_head"/>
          <p:cNvSpPr txBox="1"/>
          <p:nvPr/>
        </p:nvSpPr>
        <p:spPr>
          <a:xfrm>
            <a:off x="8549640" y="2889504"/>
            <a:ext cx="2926080" cy="274320"/>
          </a:xfrm>
          <a:prstGeom prst="rect">
            <a:avLst/>
          </a:prstGeom>
          <a:noFill/>
          <a:ln/>
        </p:spPr>
        <p:txBody>
          <a:bodyPr wrap="square" lIns="0" tIns="0" rIns="0" bIns="0" rtlCol="0" anchor="ctr"/>
          <a:lstStyle/>
          <a:p>
            <a:pPr indent="0" marL="0">
              <a:buNone/>
            </a:pPr>
            <a:r>
              <a:rPr lang="en-US" sz="1350" b="1" dirty="0">
                <a:solidFill>
                  <a:schemeClr val="tx1"/>
                </a:solidFill>
              </a:rPr>
              <a:t>Tested fairly</a:t>
            </a:r>
            <a:endParaRPr lang="en-US" sz="1350" dirty="0"/>
          </a:p>
        </p:txBody>
      </p:sp>
      <p:sp>
        <p:nvSpPr>
          <p:cNvPr id="27" name="su10_card_0_body"/>
          <p:cNvSpPr txBox="1"/>
          <p:nvPr/>
        </p:nvSpPr>
        <p:spPr>
          <a:xfrm>
            <a:off x="8549640" y="3182112"/>
            <a:ext cx="2926080" cy="804672"/>
          </a:xfrm>
          <a:prstGeom prst="rect">
            <a:avLst/>
          </a:prstGeom>
          <a:noFill/>
          <a:ln/>
        </p:spPr>
        <p:txBody>
          <a:bodyPr wrap="square" lIns="0" tIns="0" rIns="0" bIns="0" rtlCol="0" anchor="t"/>
          <a:lstStyle/>
          <a:p>
            <a:pPr indent="0" marL="0">
              <a:buNone/>
            </a:pPr>
            <a:r>
              <a:rPr lang="en-US" sz="1150" dirty="0">
                <a:solidFill>
                  <a:schemeClr val="tx2"/>
                </a:solidFill>
              </a:rPr>
              <a:t>Each suspect is added to a model trained on 1978-2019 (its own 2026 gap: 40.3), so 2026 stays out of sample; credit is averaged over every order. Borrowing alone closes 1.5.</a:t>
            </a:r>
            <a:endParaRPr lang="en-US" sz="1150" dirty="0"/>
          </a:p>
        </p:txBody>
      </p:sp>
      <p:sp>
        <p:nvSpPr>
          <p:cNvPr id="28" name="su10_card_1_box"/>
          <p:cNvSpPr/>
          <p:nvPr/>
        </p:nvSpPr>
        <p:spPr>
          <a:xfrm>
            <a:off x="8412480" y="4114800"/>
            <a:ext cx="3200400" cy="1554480"/>
          </a:xfrm>
          <a:prstGeom prst="roundRect">
            <a:avLst>
              <a:gd name="adj" fmla="val 3529"/>
            </a:avLst>
          </a:prstGeom>
          <a:solidFill>
            <a:schemeClr val="bg2"/>
          </a:solidFill>
          <a:ln w="12700">
            <a:solidFill>
              <a:schemeClr val="bg2"/>
            </a:solidFill>
            <a:prstDash val="solid"/>
          </a:ln>
        </p:spPr>
      </p:sp>
      <p:sp>
        <p:nvSpPr>
          <p:cNvPr id="29" name="su10_card_1_head"/>
          <p:cNvSpPr txBox="1"/>
          <p:nvPr/>
        </p:nvSpPr>
        <p:spPr>
          <a:xfrm>
            <a:off x="8549640" y="4169664"/>
            <a:ext cx="2926080" cy="274320"/>
          </a:xfrm>
          <a:prstGeom prst="rect">
            <a:avLst/>
          </a:prstGeom>
          <a:noFill/>
          <a:ln/>
        </p:spPr>
        <p:txBody>
          <a:bodyPr wrap="square" lIns="0" tIns="0" rIns="0" bIns="0" rtlCol="0" anchor="ctr"/>
          <a:lstStyle/>
          <a:p>
            <a:pPr indent="0" marL="0">
              <a:buNone/>
            </a:pPr>
            <a:r>
              <a:rPr lang="en-US" sz="1350" b="1" dirty="0">
                <a:solidFill>
                  <a:schemeClr val="tx1"/>
                </a:solidFill>
              </a:rPr>
              <a:t>About 27 stay unexplained</a:t>
            </a:r>
            <a:endParaRPr lang="en-US" sz="1350" dirty="0"/>
          </a:p>
        </p:txBody>
      </p:sp>
      <p:sp>
        <p:nvSpPr>
          <p:cNvPr id="30" name="su10_card_1_body"/>
          <p:cNvSpPr txBox="1"/>
          <p:nvPr/>
        </p:nvSpPr>
        <p:spPr>
          <a:xfrm>
            <a:off x="8549640" y="4462272"/>
            <a:ext cx="2926080" cy="1152144"/>
          </a:xfrm>
          <a:prstGeom prst="rect">
            <a:avLst/>
          </a:prstGeom>
          <a:noFill/>
          <a:ln/>
        </p:spPr>
        <p:txBody>
          <a:bodyPr wrap="square" lIns="0" tIns="0" rIns="0" bIns="0" rtlCol="0" anchor="t"/>
          <a:lstStyle/>
          <a:p>
            <a:pPr indent="0" marL="0">
              <a:buNone/>
            </a:pPr>
            <a:r>
              <a:rPr lang="en-US" sz="1150" dirty="0">
                <a:solidFill>
                  <a:schemeClr val="tx2"/>
                </a:solidFill>
              </a:rPr>
              <a:t>Together the suspects explain 1.1: the price level is about 0 and inflation memory pulls the other way, as people forgave the 1980s inflation. Partisan mood: at most 10 (Republicans, in power both times, fell 30.5).</a:t>
            </a:r>
            <a:endParaRPr lang="en-US" sz="1150" dirty="0"/>
          </a:p>
        </p:txBody>
      </p:sp>
      <p:sp>
        <p:nvSpPr>
          <p:cNvPr id="31" name="takeaway_box"/>
          <p:cNvSpPr/>
          <p:nvPr/>
        </p:nvSpPr>
        <p:spPr>
          <a:xfrm>
            <a:off x="548640" y="5742432"/>
            <a:ext cx="11064240" cy="548640"/>
          </a:xfrm>
          <a:prstGeom prst="roundRect">
            <a:avLst>
              <a:gd name="adj" fmla="val 13333"/>
            </a:avLst>
          </a:prstGeom>
          <a:solidFill>
            <a:schemeClr val="bg2"/>
          </a:solidFill>
          <a:ln w="12700">
            <a:solidFill>
              <a:schemeClr val="bg2"/>
            </a:solidFill>
            <a:prstDash val="solid"/>
          </a:ln>
        </p:spPr>
      </p:sp>
      <p:sp>
        <p:nvSpPr>
          <p:cNvPr id="32" name="takeaway"/>
          <p:cNvSpPr txBox="1"/>
          <p:nvPr/>
        </p:nvSpPr>
        <p:spPr>
          <a:xfrm>
            <a:off x="777240" y="5742432"/>
            <a:ext cx="10698480" cy="548640"/>
          </a:xfrm>
          <a:prstGeom prst="rect">
            <a:avLst/>
          </a:prstGeom>
          <a:noFill/>
          <a:ln/>
        </p:spPr>
        <p:txBody>
          <a:bodyPr wrap="square" lIns="0" tIns="0" rIns="0" bIns="0" rtlCol="0" anchor="ctr"/>
          <a:lstStyle/>
          <a:p>
            <a:pPr indent="0" marL="0">
              <a:buNone/>
            </a:pPr>
            <a:r>
              <a:rPr lang="en-US" sz="1500" b="1" dirty="0">
                <a:solidFill>
                  <a:schemeClr val="accent1"/>
                </a:solidFill>
              </a:rPr>
              <a:t>Takeaway   </a:t>
            </a:r>
            <a:pPr indent="0" marL="0">
              <a:buNone/>
            </a:pPr>
            <a:r>
              <a:rPr lang="en-US" sz="1500" dirty="0">
                <a:solidFill>
                  <a:schemeClr val="tx1"/>
                </a:solidFill>
              </a:rPr>
              <a:t>Survey method explains about 11 of the 40 points; tested fairly, the suspects add little, leaving about 27 unexplained.</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2800" b="1" dirty="0">
                <a:solidFill>
                  <a:schemeClr val="tx1"/>
                </a:solidFill>
              </a:rPr>
              <a:t>Putting it together, trained to 2025: what fills the 2026 gap</a:t>
            </a:r>
            <a:endParaRPr lang="en-US" sz="2800" dirty="0"/>
          </a:p>
        </p:txBody>
      </p:sp>
      <p:sp>
        <p:nvSpPr>
          <p:cNvPr id="3" name="e6_title"/>
          <p:cNvSpPr txBox="1"/>
          <p:nvPr/>
        </p:nvSpPr>
        <p:spPr>
          <a:xfrm>
            <a:off x="548640" y="1280160"/>
            <a:ext cx="11064240" cy="320040"/>
          </a:xfrm>
          <a:prstGeom prst="rect">
            <a:avLst/>
          </a:prstGeom>
          <a:noFill/>
          <a:ln/>
        </p:spPr>
        <p:txBody>
          <a:bodyPr wrap="square" lIns="0" tIns="0" rIns="0" bIns="0" rtlCol="0" anchor="ctr"/>
          <a:lstStyle/>
          <a:p>
            <a:pPr indent="0" marL="0">
              <a:buNone/>
            </a:pPr>
            <a:r>
              <a:rPr lang="en-US" sz="1300" dirty="0">
                <a:solidFill>
                  <a:schemeClr val="tx2"/>
                </a:solidFill>
              </a:rPr>
              <a:t>A model trained on 2010-2025 (COVID months skipped) predicts 74.4 for 2026, against 51.2 actual: a 23.2-point gap (index points)</a:t>
            </a:r>
            <a:endParaRPr lang="en-US" sz="1300" dirty="0"/>
          </a:p>
        </p:txBody>
      </p:sp>
      <p:sp>
        <p:nvSpPr>
          <p:cNvPr id="4" name="e6_seg_0"/>
          <p:cNvSpPr/>
          <p:nvPr/>
        </p:nvSpPr>
        <p:spPr>
          <a:xfrm>
            <a:off x="548640" y="1673352"/>
            <a:ext cx="4603168" cy="640080"/>
          </a:xfrm>
          <a:prstGeom prst="rect">
            <a:avLst/>
          </a:prstGeom>
          <a:solidFill>
            <a:schemeClr val="accent4">
              <a:alpha val="30000"/>
            </a:schemeClr>
          </a:solidFill>
          <a:ln w="12700">
            <a:solidFill>
              <a:srgbClr val="FFFFFF"/>
            </a:solidFill>
            <a:prstDash val="solid"/>
          </a:ln>
        </p:spPr>
      </p:sp>
      <p:sp>
        <p:nvSpPr>
          <p:cNvPr id="5" name="e6_val_0"/>
          <p:cNvSpPr txBox="1"/>
          <p:nvPr/>
        </p:nvSpPr>
        <p:spPr>
          <a:xfrm>
            <a:off x="548640" y="1673352"/>
            <a:ext cx="4603168" cy="640080"/>
          </a:xfrm>
          <a:prstGeom prst="rect">
            <a:avLst/>
          </a:prstGeom>
          <a:noFill/>
          <a:ln/>
        </p:spPr>
        <p:txBody>
          <a:bodyPr wrap="square" lIns="0" tIns="0" rIns="0" bIns="0" rtlCol="0" anchor="ctr"/>
          <a:lstStyle/>
          <a:p>
            <a:pPr algn="ctr" indent="0" marL="0">
              <a:buNone/>
            </a:pPr>
            <a:r>
              <a:rPr lang="en-US" sz="1500" b="1" dirty="0">
                <a:solidFill>
                  <a:schemeClr val="tx1"/>
                </a:solidFill>
              </a:rPr>
              <a:t>16.6: inflation now weighs about 3× more</a:t>
            </a:r>
            <a:endParaRPr lang="en-US" sz="1500" dirty="0"/>
          </a:p>
        </p:txBody>
      </p:sp>
      <p:sp>
        <p:nvSpPr>
          <p:cNvPr id="6" name="e6_seg_1"/>
          <p:cNvSpPr/>
          <p:nvPr/>
        </p:nvSpPr>
        <p:spPr>
          <a:xfrm>
            <a:off x="5151808" y="1673352"/>
            <a:ext cx="1552876" cy="640080"/>
          </a:xfrm>
          <a:prstGeom prst="rect">
            <a:avLst/>
          </a:prstGeom>
          <a:solidFill>
            <a:schemeClr val="accent4"/>
          </a:solidFill>
          <a:ln w="12700">
            <a:solidFill>
              <a:srgbClr val="FFFFFF"/>
            </a:solidFill>
            <a:prstDash val="solid"/>
          </a:ln>
        </p:spPr>
      </p:sp>
      <p:sp>
        <p:nvSpPr>
          <p:cNvPr id="7" name="e6_val_1"/>
          <p:cNvSpPr txBox="1"/>
          <p:nvPr/>
        </p:nvSpPr>
        <p:spPr>
          <a:xfrm>
            <a:off x="5151808" y="1673352"/>
            <a:ext cx="1552876" cy="640080"/>
          </a:xfrm>
          <a:prstGeom prst="rect">
            <a:avLst/>
          </a:prstGeom>
          <a:noFill/>
          <a:ln/>
        </p:spPr>
        <p:txBody>
          <a:bodyPr wrap="square" lIns="0" tIns="0" rIns="0" bIns="0" rtlCol="0" anchor="ctr"/>
          <a:lstStyle/>
          <a:p>
            <a:pPr algn="ctr" indent="0" marL="0">
              <a:buNone/>
            </a:pPr>
            <a:r>
              <a:rPr lang="en-US" sz="1500" b="1" dirty="0">
                <a:solidFill>
                  <a:srgbClr val="FFFFFF"/>
                </a:solidFill>
              </a:rPr>
              <a:t>5.6</a:t>
            </a:r>
            <a:endParaRPr lang="en-US" sz="1500" dirty="0"/>
          </a:p>
        </p:txBody>
      </p:sp>
      <p:sp>
        <p:nvSpPr>
          <p:cNvPr id="8" name="e6_seg_2"/>
          <p:cNvSpPr/>
          <p:nvPr/>
        </p:nvSpPr>
        <p:spPr>
          <a:xfrm>
            <a:off x="6704683" y="1673352"/>
            <a:ext cx="1303306" cy="640080"/>
          </a:xfrm>
          <a:prstGeom prst="rect">
            <a:avLst/>
          </a:prstGeom>
          <a:solidFill>
            <a:schemeClr val="accent5"/>
          </a:solidFill>
          <a:ln w="12700">
            <a:solidFill>
              <a:srgbClr val="FFFFFF"/>
            </a:solidFill>
            <a:prstDash val="solid"/>
          </a:ln>
        </p:spPr>
      </p:sp>
      <p:sp>
        <p:nvSpPr>
          <p:cNvPr id="9" name="e6_val_2"/>
          <p:cNvSpPr txBox="1"/>
          <p:nvPr/>
        </p:nvSpPr>
        <p:spPr>
          <a:xfrm>
            <a:off x="6704683" y="1673352"/>
            <a:ext cx="1303306" cy="640080"/>
          </a:xfrm>
          <a:prstGeom prst="rect">
            <a:avLst/>
          </a:prstGeom>
          <a:noFill/>
          <a:ln/>
        </p:spPr>
        <p:txBody>
          <a:bodyPr wrap="square" lIns="0" tIns="0" rIns="0" bIns="0" rtlCol="0" anchor="ctr"/>
          <a:lstStyle/>
          <a:p>
            <a:pPr algn="ctr" indent="0" marL="0">
              <a:buNone/>
            </a:pPr>
            <a:r>
              <a:rPr lang="en-US" sz="1500" b="1" dirty="0">
                <a:solidFill>
                  <a:srgbClr val="FFFFFF"/>
                </a:solidFill>
              </a:rPr>
              <a:t>4.7</a:t>
            </a:r>
            <a:endParaRPr lang="en-US" sz="1500" dirty="0"/>
          </a:p>
        </p:txBody>
      </p:sp>
      <p:sp>
        <p:nvSpPr>
          <p:cNvPr id="10" name="e6_seg_3"/>
          <p:cNvSpPr/>
          <p:nvPr/>
        </p:nvSpPr>
        <p:spPr>
          <a:xfrm>
            <a:off x="8007990" y="1673352"/>
            <a:ext cx="637788" cy="640080"/>
          </a:xfrm>
          <a:prstGeom prst="rect">
            <a:avLst/>
          </a:prstGeom>
          <a:solidFill>
            <a:schemeClr val="accent2"/>
          </a:solidFill>
          <a:ln w="12700">
            <a:solidFill>
              <a:srgbClr val="FFFFFF"/>
            </a:solidFill>
            <a:prstDash val="solid"/>
          </a:ln>
        </p:spPr>
      </p:sp>
      <p:sp>
        <p:nvSpPr>
          <p:cNvPr id="11" name="e6_val_3"/>
          <p:cNvSpPr txBox="1"/>
          <p:nvPr/>
        </p:nvSpPr>
        <p:spPr>
          <a:xfrm>
            <a:off x="8007990" y="1673352"/>
            <a:ext cx="637788" cy="640080"/>
          </a:xfrm>
          <a:prstGeom prst="rect">
            <a:avLst/>
          </a:prstGeom>
          <a:noFill/>
          <a:ln/>
        </p:spPr>
        <p:txBody>
          <a:bodyPr wrap="square" lIns="0" tIns="0" rIns="0" bIns="0" rtlCol="0" anchor="ctr"/>
          <a:lstStyle/>
          <a:p>
            <a:pPr algn="ctr" indent="0" marL="0">
              <a:buNone/>
            </a:pPr>
            <a:r>
              <a:rPr lang="en-US" sz="1500" b="1" dirty="0">
                <a:solidFill>
                  <a:srgbClr val="FFFFFF"/>
                </a:solidFill>
              </a:rPr>
              <a:t>2.3</a:t>
            </a:r>
            <a:endParaRPr lang="en-US" sz="1500" dirty="0"/>
          </a:p>
        </p:txBody>
      </p:sp>
      <p:sp>
        <p:nvSpPr>
          <p:cNvPr id="12" name="e6_seg_4"/>
          <p:cNvSpPr/>
          <p:nvPr/>
        </p:nvSpPr>
        <p:spPr>
          <a:xfrm>
            <a:off x="8645778" y="1673352"/>
            <a:ext cx="55460" cy="640080"/>
          </a:xfrm>
          <a:prstGeom prst="rect">
            <a:avLst/>
          </a:prstGeom>
          <a:solidFill>
            <a:schemeClr val="accent1"/>
          </a:solidFill>
          <a:ln w="12700">
            <a:solidFill>
              <a:srgbClr val="FFFFFF"/>
            </a:solidFill>
            <a:prstDash val="solid"/>
          </a:ln>
        </p:spPr>
      </p:sp>
      <p:sp>
        <p:nvSpPr>
          <p:cNvPr id="13" name="e6_rest"/>
          <p:cNvSpPr/>
          <p:nvPr/>
        </p:nvSpPr>
        <p:spPr>
          <a:xfrm>
            <a:off x="8701238" y="1673352"/>
            <a:ext cx="2911642" cy="640080"/>
          </a:xfrm>
          <a:prstGeom prst="rect">
            <a:avLst/>
          </a:prstGeom>
          <a:solidFill>
            <a:schemeClr val="accent3">
              <a:alpha val="22000"/>
            </a:schemeClr>
          </a:solidFill>
          <a:ln w="19050">
            <a:solidFill>
              <a:schemeClr val="accent3"/>
            </a:solidFill>
            <a:prstDash val="dash"/>
          </a:ln>
        </p:spPr>
      </p:sp>
      <p:sp>
        <p:nvSpPr>
          <p:cNvPr id="14" name="e6_rest_label"/>
          <p:cNvSpPr txBox="1"/>
          <p:nvPr/>
        </p:nvSpPr>
        <p:spPr>
          <a:xfrm>
            <a:off x="8701238" y="1673352"/>
            <a:ext cx="2911642" cy="640080"/>
          </a:xfrm>
          <a:prstGeom prst="rect">
            <a:avLst/>
          </a:prstGeom>
          <a:noFill/>
          <a:ln/>
        </p:spPr>
        <p:txBody>
          <a:bodyPr wrap="square" lIns="0" tIns="0" rIns="0" bIns="0" rtlCol="0" anchor="ctr"/>
          <a:lstStyle/>
          <a:p>
            <a:pPr algn="ctr" indent="0" marL="0">
              <a:buNone/>
            </a:pPr>
            <a:r>
              <a:rPr lang="en-US" sz="1500" b="1" dirty="0">
                <a:solidFill>
                  <a:schemeClr val="accent3"/>
                </a:solidFill>
              </a:rPr>
              <a:t>10.5: covered by the suspects</a:t>
            </a:r>
            <a:endParaRPr lang="en-US" sz="1500" dirty="0"/>
          </a:p>
        </p:txBody>
      </p:sp>
      <p:sp>
        <p:nvSpPr>
          <p:cNvPr id="15" name="e6_brk_abs_line"/>
          <p:cNvSpPr/>
          <p:nvPr/>
        </p:nvSpPr>
        <p:spPr>
          <a:xfrm>
            <a:off x="548640" y="2423160"/>
            <a:ext cx="4557448" cy="0"/>
          </a:xfrm>
          <a:prstGeom prst="line">
            <a:avLst/>
          </a:prstGeom>
          <a:noFill/>
          <a:ln w="19050">
            <a:solidFill>
              <a:schemeClr val="tx2"/>
            </a:solidFill>
            <a:prstDash val="solid"/>
          </a:ln>
        </p:spPr>
      </p:sp>
      <p:sp>
        <p:nvSpPr>
          <p:cNvPr id="16" name="e6_brk_abs_l"/>
          <p:cNvSpPr/>
          <p:nvPr/>
        </p:nvSpPr>
        <p:spPr>
          <a:xfrm>
            <a:off x="548640" y="2350008"/>
            <a:ext cx="0" cy="73152"/>
          </a:xfrm>
          <a:prstGeom prst="line">
            <a:avLst/>
          </a:prstGeom>
          <a:noFill/>
          <a:ln w="19050">
            <a:solidFill>
              <a:schemeClr val="tx2"/>
            </a:solidFill>
            <a:prstDash val="solid"/>
          </a:ln>
        </p:spPr>
      </p:sp>
      <p:sp>
        <p:nvSpPr>
          <p:cNvPr id="17" name="e6_brk_abs_r"/>
          <p:cNvSpPr/>
          <p:nvPr/>
        </p:nvSpPr>
        <p:spPr>
          <a:xfrm>
            <a:off x="5106088" y="2350008"/>
            <a:ext cx="0" cy="73152"/>
          </a:xfrm>
          <a:prstGeom prst="line">
            <a:avLst/>
          </a:prstGeom>
          <a:noFill/>
          <a:ln w="19050">
            <a:solidFill>
              <a:schemeClr val="tx2"/>
            </a:solidFill>
            <a:prstDash val="solid"/>
          </a:ln>
        </p:spPr>
      </p:sp>
      <p:sp>
        <p:nvSpPr>
          <p:cNvPr id="18" name="e6_brk_abs_text"/>
          <p:cNvSpPr txBox="1"/>
          <p:nvPr/>
        </p:nvSpPr>
        <p:spPr>
          <a:xfrm>
            <a:off x="548640" y="2468880"/>
            <a:ext cx="4557448" cy="292608"/>
          </a:xfrm>
          <a:prstGeom prst="rect">
            <a:avLst/>
          </a:prstGeom>
          <a:noFill/>
          <a:ln/>
        </p:spPr>
        <p:txBody>
          <a:bodyPr wrap="square" lIns="0" tIns="0" rIns="0" bIns="0" rtlCol="0" anchor="ctr"/>
          <a:lstStyle/>
          <a:p>
            <a:pPr algn="ctr" indent="0" marL="0">
              <a:buNone/>
            </a:pPr>
            <a:r>
              <a:rPr lang="en-US" sz="1300" b="1" dirty="0">
                <a:solidFill>
                  <a:schemeClr val="tx2"/>
                </a:solidFill>
              </a:rPr>
              <a:t>Gone once the model learns 2021-25</a:t>
            </a:r>
            <a:endParaRPr lang="en-US" sz="1300" dirty="0"/>
          </a:p>
        </p:txBody>
      </p:sp>
      <p:sp>
        <p:nvSpPr>
          <p:cNvPr id="19" name="e6_brk_gap_line"/>
          <p:cNvSpPr/>
          <p:nvPr/>
        </p:nvSpPr>
        <p:spPr>
          <a:xfrm>
            <a:off x="5197528" y="2423160"/>
            <a:ext cx="6415352" cy="0"/>
          </a:xfrm>
          <a:prstGeom prst="line">
            <a:avLst/>
          </a:prstGeom>
          <a:noFill/>
          <a:ln w="19050">
            <a:solidFill>
              <a:schemeClr val="accent3"/>
            </a:solidFill>
            <a:prstDash val="solid"/>
          </a:ln>
        </p:spPr>
      </p:sp>
      <p:sp>
        <p:nvSpPr>
          <p:cNvPr id="20" name="e6_brk_gap_l"/>
          <p:cNvSpPr/>
          <p:nvPr/>
        </p:nvSpPr>
        <p:spPr>
          <a:xfrm>
            <a:off x="5197528" y="2350008"/>
            <a:ext cx="0" cy="73152"/>
          </a:xfrm>
          <a:prstGeom prst="line">
            <a:avLst/>
          </a:prstGeom>
          <a:noFill/>
          <a:ln w="19050">
            <a:solidFill>
              <a:schemeClr val="accent3"/>
            </a:solidFill>
            <a:prstDash val="solid"/>
          </a:ln>
        </p:spPr>
      </p:sp>
      <p:sp>
        <p:nvSpPr>
          <p:cNvPr id="21" name="e6_brk_gap_r"/>
          <p:cNvSpPr/>
          <p:nvPr/>
        </p:nvSpPr>
        <p:spPr>
          <a:xfrm>
            <a:off x="11612880" y="2350008"/>
            <a:ext cx="0" cy="73152"/>
          </a:xfrm>
          <a:prstGeom prst="line">
            <a:avLst/>
          </a:prstGeom>
          <a:noFill/>
          <a:ln w="19050">
            <a:solidFill>
              <a:schemeClr val="accent3"/>
            </a:solidFill>
            <a:prstDash val="solid"/>
          </a:ln>
        </p:spPr>
      </p:sp>
      <p:sp>
        <p:nvSpPr>
          <p:cNvPr id="22" name="e6_brk_gap_text"/>
          <p:cNvSpPr txBox="1"/>
          <p:nvPr/>
        </p:nvSpPr>
        <p:spPr>
          <a:xfrm>
            <a:off x="5197528" y="2468880"/>
            <a:ext cx="6415352" cy="292608"/>
          </a:xfrm>
          <a:prstGeom prst="rect">
            <a:avLst/>
          </a:prstGeom>
          <a:noFill/>
          <a:ln/>
        </p:spPr>
        <p:txBody>
          <a:bodyPr wrap="square" lIns="0" tIns="0" rIns="0" bIns="0" rtlCol="0" anchor="ctr"/>
          <a:lstStyle/>
          <a:p>
            <a:pPr algn="ctr" indent="0" marL="0">
              <a:buNone/>
            </a:pPr>
            <a:r>
              <a:rPr lang="en-US" sz="1300" b="1" dirty="0">
                <a:solidFill>
                  <a:schemeClr val="accent3"/>
                </a:solidFill>
              </a:rPr>
              <a:t>This model's 2026 gap: 23.2</a:t>
            </a:r>
            <a:endParaRPr lang="en-US" sz="1300" dirty="0"/>
          </a:p>
        </p:txBody>
      </p:sp>
      <p:sp>
        <p:nvSpPr>
          <p:cNvPr id="23" name="e6_key_0"/>
          <p:cNvSpPr/>
          <p:nvPr/>
        </p:nvSpPr>
        <p:spPr>
          <a:xfrm>
            <a:off x="548640" y="2944368"/>
            <a:ext cx="182880" cy="182880"/>
          </a:xfrm>
          <a:prstGeom prst="rect">
            <a:avLst/>
          </a:prstGeom>
          <a:solidFill>
            <a:schemeClr val="accent4"/>
          </a:solidFill>
          <a:ln w="12700">
            <a:solidFill>
              <a:schemeClr val="accent4"/>
            </a:solidFill>
            <a:prstDash val="solid"/>
          </a:ln>
        </p:spPr>
      </p:sp>
      <p:sp>
        <p:nvSpPr>
          <p:cNvPr id="24" name="e6_keytext_0"/>
          <p:cNvSpPr txBox="1"/>
          <p:nvPr/>
        </p:nvSpPr>
        <p:spPr>
          <a:xfrm>
            <a:off x="822960" y="2880360"/>
            <a:ext cx="3200400" cy="310896"/>
          </a:xfrm>
          <a:prstGeom prst="rect">
            <a:avLst/>
          </a:prstGeom>
          <a:noFill/>
          <a:ln/>
        </p:spPr>
        <p:txBody>
          <a:bodyPr wrap="square" lIns="0" tIns="0" rIns="0" bIns="0" rtlCol="0" anchor="ctr"/>
          <a:lstStyle/>
          <a:p>
            <a:pPr indent="0" marL="0">
              <a:buNone/>
            </a:pPr>
            <a:r>
              <a:rPr lang="en-US" sz="1300" dirty="0">
                <a:solidFill>
                  <a:schemeClr val="tx1"/>
                </a:solidFill>
              </a:rPr>
              <a:t>Web-interview switch: 5.6</a:t>
            </a:r>
            <a:endParaRPr lang="en-US" sz="1300" dirty="0"/>
          </a:p>
        </p:txBody>
      </p:sp>
      <p:sp>
        <p:nvSpPr>
          <p:cNvPr id="25" name="e6_key_1"/>
          <p:cNvSpPr/>
          <p:nvPr/>
        </p:nvSpPr>
        <p:spPr>
          <a:xfrm>
            <a:off x="548640" y="3273552"/>
            <a:ext cx="182880" cy="182880"/>
          </a:xfrm>
          <a:prstGeom prst="rect">
            <a:avLst/>
          </a:prstGeom>
          <a:solidFill>
            <a:schemeClr val="accent5"/>
          </a:solidFill>
          <a:ln w="12700">
            <a:solidFill>
              <a:schemeClr val="accent5"/>
            </a:solidFill>
            <a:prstDash val="solid"/>
          </a:ln>
        </p:spPr>
      </p:sp>
      <p:sp>
        <p:nvSpPr>
          <p:cNvPr id="26" name="e6_keytext_1"/>
          <p:cNvSpPr txBox="1"/>
          <p:nvPr/>
        </p:nvSpPr>
        <p:spPr>
          <a:xfrm>
            <a:off x="822960" y="3209544"/>
            <a:ext cx="3200400" cy="310896"/>
          </a:xfrm>
          <a:prstGeom prst="rect">
            <a:avLst/>
          </a:prstGeom>
          <a:noFill/>
          <a:ln/>
        </p:spPr>
        <p:txBody>
          <a:bodyPr wrap="square" lIns="0" tIns="0" rIns="0" bIns="0" rtlCol="0" anchor="ctr"/>
          <a:lstStyle/>
          <a:p>
            <a:pPr indent="0" marL="0">
              <a:buNone/>
            </a:pPr>
            <a:r>
              <a:rPr lang="en-US" sz="1300" dirty="0">
                <a:solidFill>
                  <a:schemeClr val="tx1"/>
                </a:solidFill>
              </a:rPr>
              <a:t>Party mix of respondents: 4.7</a:t>
            </a:r>
            <a:endParaRPr lang="en-US" sz="1300" dirty="0"/>
          </a:p>
        </p:txBody>
      </p:sp>
      <p:sp>
        <p:nvSpPr>
          <p:cNvPr id="27" name="e6_key_2"/>
          <p:cNvSpPr/>
          <p:nvPr/>
        </p:nvSpPr>
        <p:spPr>
          <a:xfrm>
            <a:off x="548640" y="3602736"/>
            <a:ext cx="182880" cy="182880"/>
          </a:xfrm>
          <a:prstGeom prst="rect">
            <a:avLst/>
          </a:prstGeom>
          <a:solidFill>
            <a:schemeClr val="accent2"/>
          </a:solidFill>
          <a:ln w="12700">
            <a:solidFill>
              <a:schemeClr val="accent2"/>
            </a:solidFill>
            <a:prstDash val="solid"/>
          </a:ln>
        </p:spPr>
      </p:sp>
      <p:sp>
        <p:nvSpPr>
          <p:cNvPr id="28" name="e6_keytext_2"/>
          <p:cNvSpPr txBox="1"/>
          <p:nvPr/>
        </p:nvSpPr>
        <p:spPr>
          <a:xfrm>
            <a:off x="822960" y="3538728"/>
            <a:ext cx="3200400" cy="310896"/>
          </a:xfrm>
          <a:prstGeom prst="rect">
            <a:avLst/>
          </a:prstGeom>
          <a:noFill/>
          <a:ln/>
        </p:spPr>
        <p:txBody>
          <a:bodyPr wrap="square" lIns="0" tIns="0" rIns="0" bIns="0" rtlCol="0" anchor="ctr"/>
          <a:lstStyle/>
          <a:p>
            <a:pPr indent="0" marL="0">
              <a:buNone/>
            </a:pPr>
            <a:r>
              <a:rPr lang="en-US" sz="1300" dirty="0">
                <a:solidFill>
                  <a:schemeClr val="tx1"/>
                </a:solidFill>
              </a:rPr>
              <a:t>Household costs: 2.3</a:t>
            </a:r>
            <a:endParaRPr lang="en-US" sz="1300" dirty="0"/>
          </a:p>
        </p:txBody>
      </p:sp>
      <p:sp>
        <p:nvSpPr>
          <p:cNvPr id="29" name="e6_key_3"/>
          <p:cNvSpPr/>
          <p:nvPr/>
        </p:nvSpPr>
        <p:spPr>
          <a:xfrm>
            <a:off x="548640" y="3931920"/>
            <a:ext cx="182880" cy="182880"/>
          </a:xfrm>
          <a:prstGeom prst="rect">
            <a:avLst/>
          </a:prstGeom>
          <a:solidFill>
            <a:schemeClr val="accent1"/>
          </a:solidFill>
          <a:ln w="12700">
            <a:solidFill>
              <a:schemeClr val="accent1"/>
            </a:solidFill>
            <a:prstDash val="solid"/>
          </a:ln>
        </p:spPr>
      </p:sp>
      <p:sp>
        <p:nvSpPr>
          <p:cNvPr id="30" name="e6_keytext_3"/>
          <p:cNvSpPr txBox="1"/>
          <p:nvPr/>
        </p:nvSpPr>
        <p:spPr>
          <a:xfrm>
            <a:off x="822960" y="3867912"/>
            <a:ext cx="3200400" cy="310896"/>
          </a:xfrm>
          <a:prstGeom prst="rect">
            <a:avLst/>
          </a:prstGeom>
          <a:noFill/>
          <a:ln/>
        </p:spPr>
        <p:txBody>
          <a:bodyPr wrap="square" lIns="0" tIns="0" rIns="0" bIns="0" rtlCol="0" anchor="ctr"/>
          <a:lstStyle/>
          <a:p>
            <a:pPr indent="0" marL="0">
              <a:buNone/>
            </a:pPr>
            <a:r>
              <a:rPr lang="en-US" sz="1300" dirty="0">
                <a:solidFill>
                  <a:schemeClr val="tx1"/>
                </a:solidFill>
              </a:rPr>
              <a:t>News tone: 0.2</a:t>
            </a:r>
            <a:endParaRPr lang="en-US" sz="1300" dirty="0"/>
          </a:p>
        </p:txBody>
      </p:sp>
      <p:sp>
        <p:nvSpPr>
          <p:cNvPr id="31" name="e6_how"/>
          <p:cNvSpPr txBox="1"/>
          <p:nvPr/>
        </p:nvSpPr>
        <p:spPr>
          <a:xfrm>
            <a:off x="548640" y="4270248"/>
            <a:ext cx="3291840" cy="1005840"/>
          </a:xfrm>
          <a:prstGeom prst="rect">
            <a:avLst/>
          </a:prstGeom>
          <a:noFill/>
          <a:ln/>
        </p:spPr>
        <p:txBody>
          <a:bodyPr wrap="square" lIns="0" tIns="0" rIns="0" bIns="0" rtlCol="0" anchor="t"/>
          <a:lstStyle/>
          <a:p>
            <a:pPr indent="0" marL="0">
              <a:buNone/>
            </a:pPr>
            <a:r>
              <a:rPr lang="en-US" sz="1200" b="1" dirty="0">
                <a:solidFill>
                  <a:schemeClr val="tx1"/>
                </a:solidFill>
              </a:rPr>
              <a:t>How: </a:t>
            </a:r>
            <a:pPr indent="0" marL="0">
              <a:buNone/>
            </a:pPr>
            <a:r>
              <a:rPr lang="en-US" sz="1200" dirty="0">
                <a:solidFill>
                  <a:schemeClr val="tx2"/>
                </a:solidFill>
              </a:rPr>
              <a:t>each piece is added to the model in turn and the drop in the 2026 gap is read off; 2026 stays out of sample. News adds little: inflation and household costs already carry what it reports.</a:t>
            </a:r>
            <a:endParaRPr lang="en-US" sz="1200" dirty="0"/>
          </a:p>
        </p:txBody>
      </p:sp>
      <p:graphicFrame>
        <p:nvGraphicFramePr>
          <p:cNvPr id="32" name="su11_chart" descr=""/>
          <p:cNvGraphicFramePr/>
          <p:nvPr/>
        </p:nvGraphicFramePr>
        <p:xfrm>
          <a:off x="4069080" y="2788920"/>
          <a:ext cx="4206240" cy="2926080"/>
        </p:xfrm>
        <a:graphic xmlns:a="http://schemas.openxmlformats.org/drawingml/2006/main">
          <a:graphicData uri="http://schemas.openxmlformats.org/drawingml/2006/chart">
            <c:chart xmlns:c="http://schemas.openxmlformats.org/drawingml/2006/chart" r:id="rId1"/>
          </a:graphicData>
        </a:graphic>
      </p:graphicFrame>
      <p:sp>
        <p:nvSpPr>
          <p:cNvPr id="33" name="e6_card_0_box"/>
          <p:cNvSpPr/>
          <p:nvPr/>
        </p:nvSpPr>
        <p:spPr>
          <a:xfrm>
            <a:off x="8412480" y="2834640"/>
            <a:ext cx="3200400" cy="1371600"/>
          </a:xfrm>
          <a:prstGeom prst="roundRect">
            <a:avLst>
              <a:gd name="adj" fmla="val 4000"/>
            </a:avLst>
          </a:prstGeom>
          <a:solidFill>
            <a:schemeClr val="bg2"/>
          </a:solidFill>
          <a:ln w="12700">
            <a:solidFill>
              <a:schemeClr val="bg2"/>
            </a:solidFill>
            <a:prstDash val="solid"/>
          </a:ln>
        </p:spPr>
      </p:sp>
      <p:sp>
        <p:nvSpPr>
          <p:cNvPr id="34" name="e6_card_0_head"/>
          <p:cNvSpPr txBox="1"/>
          <p:nvPr/>
        </p:nvSpPr>
        <p:spPr>
          <a:xfrm>
            <a:off x="8549640" y="2889504"/>
            <a:ext cx="2926080" cy="457200"/>
          </a:xfrm>
          <a:prstGeom prst="rect">
            <a:avLst/>
          </a:prstGeom>
          <a:noFill/>
          <a:ln/>
        </p:spPr>
        <p:txBody>
          <a:bodyPr wrap="square" lIns="0" tIns="0" rIns="0" bIns="0" rtlCol="0" anchor="t"/>
          <a:lstStyle/>
          <a:p>
            <a:pPr indent="0" marL="0">
              <a:buNone/>
            </a:pPr>
            <a:r>
              <a:rPr lang="en-US" sz="1350" b="1" dirty="0">
                <a:solidFill>
                  <a:schemeClr val="tx1"/>
                </a:solidFill>
              </a:rPr>
              <a:t>Inflation now weighs about 3× more: 17 points</a:t>
            </a:r>
            <a:endParaRPr lang="en-US" sz="1350" dirty="0"/>
          </a:p>
        </p:txBody>
      </p:sp>
      <p:sp>
        <p:nvSpPr>
          <p:cNvPr id="35" name="e6_card_0_body"/>
          <p:cNvSpPr txBox="1"/>
          <p:nvPr/>
        </p:nvSpPr>
        <p:spPr>
          <a:xfrm>
            <a:off x="8549640" y="3364992"/>
            <a:ext cx="2926080" cy="786384"/>
          </a:xfrm>
          <a:prstGeom prst="rect">
            <a:avLst/>
          </a:prstGeom>
          <a:noFill/>
          <a:ln/>
        </p:spPr>
        <p:txBody>
          <a:bodyPr wrap="square" lIns="0" tIns="0" rIns="0" bIns="0" rtlCol="0" anchor="t"/>
          <a:lstStyle/>
          <a:p>
            <a:pPr indent="0" marL="0">
              <a:buNone/>
            </a:pPr>
            <a:r>
              <a:rPr lang="en-US" sz="1150" dirty="0">
                <a:solidFill>
                  <a:schemeClr val="tx2"/>
                </a:solidFill>
              </a:rPr>
              <a:t>Trained to 2025, 1 pp of inflation costs 7.5 points of sentiment, not 2.2. Part of it is whatever rose with inflation.</a:t>
            </a:r>
            <a:endParaRPr lang="en-US" sz="1150" dirty="0"/>
          </a:p>
        </p:txBody>
      </p:sp>
      <p:sp>
        <p:nvSpPr>
          <p:cNvPr id="36" name="e6_card_1_box"/>
          <p:cNvSpPr/>
          <p:nvPr/>
        </p:nvSpPr>
        <p:spPr>
          <a:xfrm>
            <a:off x="8412480" y="4279392"/>
            <a:ext cx="3200400" cy="1371600"/>
          </a:xfrm>
          <a:prstGeom prst="roundRect">
            <a:avLst>
              <a:gd name="adj" fmla="val 4000"/>
            </a:avLst>
          </a:prstGeom>
          <a:solidFill>
            <a:schemeClr val="bg2"/>
          </a:solidFill>
          <a:ln w="12700">
            <a:solidFill>
              <a:schemeClr val="bg2"/>
            </a:solidFill>
            <a:prstDash val="solid"/>
          </a:ln>
        </p:spPr>
      </p:sp>
      <p:sp>
        <p:nvSpPr>
          <p:cNvPr id="37" name="e6_card_1_head"/>
          <p:cNvSpPr txBox="1"/>
          <p:nvPr/>
        </p:nvSpPr>
        <p:spPr>
          <a:xfrm>
            <a:off x="8549640" y="4334256"/>
            <a:ext cx="2926080" cy="457200"/>
          </a:xfrm>
          <a:prstGeom prst="rect">
            <a:avLst/>
          </a:prstGeom>
          <a:noFill/>
          <a:ln/>
        </p:spPr>
        <p:txBody>
          <a:bodyPr wrap="square" lIns="0" tIns="0" rIns="0" bIns="0" rtlCol="0" anchor="t"/>
          <a:lstStyle/>
          <a:p>
            <a:pPr indent="0" marL="0">
              <a:buNone/>
            </a:pPr>
            <a:r>
              <a:rPr lang="en-US" sz="1350" b="1" dirty="0">
                <a:solidFill>
                  <a:schemeClr val="tx1"/>
                </a:solidFill>
              </a:rPr>
              <a:t>The suspects cover the last 10.5</a:t>
            </a:r>
            <a:endParaRPr lang="en-US" sz="1350" dirty="0"/>
          </a:p>
        </p:txBody>
      </p:sp>
      <p:sp>
        <p:nvSpPr>
          <p:cNvPr id="38" name="e6_card_1_body"/>
          <p:cNvSpPr txBox="1"/>
          <p:nvPr/>
        </p:nvSpPr>
        <p:spPr>
          <a:xfrm>
            <a:off x="8549640" y="4809744"/>
            <a:ext cx="2926080" cy="786384"/>
          </a:xfrm>
          <a:prstGeom prst="rect">
            <a:avLst/>
          </a:prstGeom>
          <a:noFill/>
          <a:ln/>
        </p:spPr>
        <p:txBody>
          <a:bodyPr wrap="square" lIns="0" tIns="0" rIns="0" bIns="0" rtlCol="0" anchor="t"/>
          <a:lstStyle/>
          <a:p>
            <a:pPr indent="0" marL="0">
              <a:buNone/>
            </a:pPr>
            <a:r>
              <a:rPr lang="en-US" sz="1150" dirty="0">
                <a:solidFill>
                  <a:schemeClr val="tx2"/>
                </a:solidFill>
              </a:rPr>
              <a:t>Together 11.8 (range −3 to 15): people still react to the 2022 inflation peak and to prices that stayed high. Same fair test as slide 10.</a:t>
            </a:r>
            <a:endParaRPr lang="en-US" sz="1150" dirty="0"/>
          </a:p>
        </p:txBody>
      </p:sp>
      <p:sp>
        <p:nvSpPr>
          <p:cNvPr id="39" name="takeaway_box"/>
          <p:cNvSpPr/>
          <p:nvPr/>
        </p:nvSpPr>
        <p:spPr>
          <a:xfrm>
            <a:off x="548640" y="5742432"/>
            <a:ext cx="11064240" cy="548640"/>
          </a:xfrm>
          <a:prstGeom prst="roundRect">
            <a:avLst>
              <a:gd name="adj" fmla="val 13333"/>
            </a:avLst>
          </a:prstGeom>
          <a:solidFill>
            <a:schemeClr val="bg2"/>
          </a:solidFill>
          <a:ln w="12700">
            <a:solidFill>
              <a:schemeClr val="bg2"/>
            </a:solidFill>
            <a:prstDash val="solid"/>
          </a:ln>
        </p:spPr>
      </p:sp>
      <p:sp>
        <p:nvSpPr>
          <p:cNvPr id="40" name="takeaway"/>
          <p:cNvSpPr txBox="1"/>
          <p:nvPr/>
        </p:nvSpPr>
        <p:spPr>
          <a:xfrm>
            <a:off x="777240" y="5742432"/>
            <a:ext cx="10698480" cy="548640"/>
          </a:xfrm>
          <a:prstGeom prst="rect">
            <a:avLst/>
          </a:prstGeom>
          <a:noFill/>
          <a:ln/>
        </p:spPr>
        <p:txBody>
          <a:bodyPr wrap="square" lIns="0" tIns="0" rIns="0" bIns="0" rtlCol="0" anchor="ctr"/>
          <a:lstStyle/>
          <a:p>
            <a:pPr indent="0" marL="0">
              <a:buNone/>
            </a:pPr>
            <a:r>
              <a:rPr lang="en-US" sz="1500" b="1" dirty="0">
                <a:solidFill>
                  <a:schemeClr val="accent1"/>
                </a:solidFill>
              </a:rPr>
              <a:t>Takeaway   </a:t>
            </a:r>
            <a:pPr indent="0" marL="0">
              <a:buNone/>
            </a:pPr>
            <a:r>
              <a:rPr lang="en-US" sz="1500" dirty="0">
                <a:solidFill>
                  <a:schemeClr val="tx1"/>
                </a:solidFill>
              </a:rPr>
              <a:t>Trained to 2025, survey method, household costs and news fill 13 of the 23 points; inflation memory and prices cover the rest.</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10698480" cy="1737360"/>
          </a:xfrm>
          <a:prstGeom prst="rect">
            <a:avLst/>
          </a:prstGeom>
          <a:noFill/>
          <a:ln/>
        </p:spPr>
        <p:txBody>
          <a:bodyPr wrap="square" lIns="0" tIns="0" rIns="0" bIns="0" rtlCol="0" anchor="b"/>
          <a:lstStyle/>
          <a:p>
            <a:pPr algn="l" indent="0" marL="0">
              <a:buNone/>
            </a:pPr>
            <a:r>
              <a:rPr lang="en-US" sz="4400" b="1" dirty="0">
                <a:solidFill>
                  <a:schemeClr val="bg1"/>
                </a:solidFill>
              </a:rPr>
              <a:t>Don't read record-low sentiment as a spending signal on its own</a:t>
            </a:r>
            <a:endParaRPr lang="en-US" sz="4400" dirty="0"/>
          </a:p>
        </p:txBody>
      </p:sp>
      <p:sp>
        <p:nvSpPr>
          <p:cNvPr id="3" name="Text 0"/>
          <p:cNvSpPr/>
          <p:nvPr>
            <p:ph idx="101" type="body" hasCustomPrompt="1"/>
          </p:nvPr>
        </p:nvSpPr>
        <p:spPr>
          <a:xfrm>
            <a:off x="731520" y="3383280"/>
            <a:ext cx="10698480" cy="182880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chemeClr val="bg2"/>
                </a:solidFill>
              </a:rPr>
              <a:t>The gap looks like pessimism about prices, not a fall in what households can spend</a:t>
            </a:r>
            <a:endParaRPr lang="en-US" sz="2000" dirty="0"/>
          </a:p>
          <a:p>
            <a:pPr marL="342900" indent="-342900">
              <a:spcAft>
                <a:spcPts val="800"/>
              </a:spcAft>
              <a:buSzPct val="100000"/>
              <a:buChar char="•"/>
            </a:pPr>
            <a:r>
              <a:rPr lang="en-US" sz="2000" dirty="0">
                <a:solidFill>
                  <a:schemeClr val="bg2"/>
                </a:solidFill>
              </a:rPr>
              <a:t>In spending forecasts and consumer-risk models, put household costs in before news tone, and do not lean on the headline index alone</a:t>
            </a:r>
            <a:endParaRPr lang="en-US" sz="2000" dirty="0"/>
          </a:p>
        </p:txBody>
      </p:sp>
      <p:sp>
        <p:nvSpPr>
          <p:cNvPr id="4" name="implication_tag_box"/>
          <p:cNvSpPr/>
          <p:nvPr/>
        </p:nvSpPr>
        <p:spPr>
          <a:xfrm>
            <a:off x="731520" y="914400"/>
            <a:ext cx="2075688" cy="548640"/>
          </a:xfrm>
          <a:prstGeom prst="roundRect">
            <a:avLst>
              <a:gd name="adj" fmla="val 13333"/>
            </a:avLst>
          </a:prstGeom>
          <a:solidFill>
            <a:schemeClr val="bg2"/>
          </a:solidFill>
          <a:ln w="12700">
            <a:solidFill>
              <a:schemeClr val="bg2"/>
            </a:solidFill>
            <a:prstDash val="solid"/>
          </a:ln>
        </p:spPr>
      </p:sp>
      <p:sp>
        <p:nvSpPr>
          <p:cNvPr id="5" name="implication_tag"/>
          <p:cNvSpPr txBox="1"/>
          <p:nvPr/>
        </p:nvSpPr>
        <p:spPr>
          <a:xfrm>
            <a:off x="960120" y="914400"/>
            <a:ext cx="1755648" cy="548640"/>
          </a:xfrm>
          <a:prstGeom prst="rect">
            <a:avLst/>
          </a:prstGeom>
          <a:noFill/>
          <a:ln/>
        </p:spPr>
        <p:txBody>
          <a:bodyPr wrap="square" lIns="0" tIns="0" rIns="0" bIns="0" rtlCol="0" anchor="ctr"/>
          <a:lstStyle/>
          <a:p>
            <a:pPr indent="0" marL="0">
              <a:buNone/>
            </a:pPr>
            <a:r>
              <a:rPr lang="en-US" sz="1500" b="1" dirty="0">
                <a:solidFill>
                  <a:schemeClr val="accent1"/>
                </a:solidFill>
              </a:rPr>
              <a:t>Practical Implication</a:t>
            </a:r>
            <a:endParaRPr lang="en-US" sz="1500" dirty="0"/>
          </a:p>
        </p:txBody>
      </p:sp>
      <p:sp>
        <p:nvSpPr>
          <p:cNvPr id="6" name="takeaway"/>
          <p:cNvSpPr txBox="1"/>
          <p:nvPr/>
        </p:nvSpPr>
        <p:spPr>
          <a:xfrm>
            <a:off x="731520" y="5943600"/>
            <a:ext cx="10698480" cy="640080"/>
          </a:xfrm>
          <a:prstGeom prst="rect">
            <a:avLst/>
          </a:prstGeom>
          <a:noFill/>
          <a:ln/>
        </p:spPr>
        <p:txBody>
          <a:bodyPr wrap="square" lIns="0" tIns="0" rIns="0" bIns="0" rtlCol="0" anchor="ctr"/>
          <a:lstStyle/>
          <a:p>
            <a:pPr indent="0" marL="0">
              <a:buNone/>
            </a:pPr>
            <a:r>
              <a:rPr lang="en-US" sz="1700" b="1" dirty="0">
                <a:solidFill>
                  <a:schemeClr val="accent1"/>
                </a:solidFill>
              </a:rPr>
              <a:t>Takeaway   </a:t>
            </a:r>
            <a:pPr indent="0" marL="0">
              <a:buNone/>
            </a:pPr>
            <a:r>
              <a:rPr lang="en-US" sz="1700" dirty="0">
                <a:solidFill>
                  <a:schemeClr val="bg1"/>
                </a:solidFill>
              </a:rPr>
              <a:t>Treat the record low as price-level pessimism, not a spending forecast.</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30936" y="2441448"/>
            <a:ext cx="10698480" cy="1737360"/>
          </a:xfrm>
          <a:prstGeom prst="rect">
            <a:avLst/>
          </a:prstGeom>
          <a:noFill/>
          <a:ln/>
        </p:spPr>
        <p:txBody>
          <a:bodyPr wrap="square" lIns="0" tIns="0" rIns="0" bIns="0" rtlCol="0" anchor="b"/>
          <a:lstStyle/>
          <a:p>
            <a:pPr algn="l" indent="0" marL="0">
              <a:buNone/>
            </a:pPr>
            <a:r>
              <a:rPr lang="en-US" sz="4400" b="1" dirty="0">
                <a:solidFill>
                  <a:schemeClr val="bg1"/>
                </a:solidFill>
              </a:rPr>
              <a:t>Thank </a:t>
            </a:r>
            <a:br/>
            <a:pPr algn="l" indent="0" marL="0">
              <a:buNone/>
            </a:pPr>
            <a:r>
              <a:rPr lang="en-US" sz="4400" b="1" dirty="0">
                <a:solidFill>
                  <a:schemeClr val="bg1"/>
                </a:solidFill>
              </a:rPr>
              <a:t>You !</a:t>
            </a:r>
            <a:endParaRPr lang="en-US" sz="4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2800" b="1" dirty="0">
                <a:solidFill>
                  <a:schemeClr val="tx1"/>
                </a:solidFill>
              </a:rPr>
              <a:t>Backup · Reddit : Does social media pull sentiment down?</a:t>
            </a:r>
            <a:endParaRPr lang="en-US" sz="2800" dirty="0"/>
          </a:p>
        </p:txBody>
      </p:sp>
      <p:graphicFrame>
        <p:nvGraphicFramePr>
          <p:cNvPr id="3" name="reddit_chart" descr=""/>
          <p:cNvGraphicFramePr/>
          <p:nvPr/>
        </p:nvGraphicFramePr>
        <p:xfrm>
          <a:off x="548640" y="1325880"/>
          <a:ext cx="7223760" cy="4251960"/>
        </p:xfrm>
        <a:graphic xmlns:a="http://schemas.openxmlformats.org/drawingml/2006/main">
          <a:graphicData uri="http://schemas.openxmlformats.org/drawingml/2006/chart">
            <c:chart xmlns:c="http://schemas.openxmlformats.org/drawingml/2006/chart" r:id="rId1"/>
          </a:graphicData>
        </a:graphic>
      </p:graphicFrame>
      <p:sp>
        <p:nvSpPr>
          <p:cNvPr id="4" name="e3_0_value"/>
          <p:cNvSpPr txBox="1"/>
          <p:nvPr/>
        </p:nvSpPr>
        <p:spPr>
          <a:xfrm>
            <a:off x="8229600" y="1417320"/>
            <a:ext cx="3474720" cy="685800"/>
          </a:xfrm>
          <a:prstGeom prst="rect">
            <a:avLst/>
          </a:prstGeom>
          <a:noFill/>
          <a:ln/>
        </p:spPr>
        <p:txBody>
          <a:bodyPr wrap="square" lIns="0" tIns="0" rIns="0" bIns="0" rtlCol="0" anchor="ctr"/>
          <a:lstStyle/>
          <a:p>
            <a:pPr indent="0" marL="0">
              <a:buNone/>
            </a:pPr>
            <a:r>
              <a:rPr lang="en-US" sz="3600" b="1" dirty="0">
                <a:solidFill>
                  <a:schemeClr val="accent6"/>
                </a:solidFill>
                <a:latin typeface="Cambria" pitchFamily="34" charset="0"/>
                <a:ea typeface="Cambria" pitchFamily="34" charset="-122"/>
                <a:cs typeface="Cambria" pitchFamily="34" charset="-120"/>
              </a:rPr>
              <a:t>15,265</a:t>
            </a:r>
            <a:endParaRPr lang="en-US" sz="3600" dirty="0"/>
          </a:p>
        </p:txBody>
      </p:sp>
      <p:sp>
        <p:nvSpPr>
          <p:cNvPr id="5" name="e3_0_label"/>
          <p:cNvSpPr txBox="1"/>
          <p:nvPr/>
        </p:nvSpPr>
        <p:spPr>
          <a:xfrm>
            <a:off x="8229600" y="2103120"/>
            <a:ext cx="3474720" cy="685800"/>
          </a:xfrm>
          <a:prstGeom prst="rect">
            <a:avLst/>
          </a:prstGeom>
          <a:noFill/>
          <a:ln/>
        </p:spPr>
        <p:txBody>
          <a:bodyPr wrap="square" lIns="0" tIns="0" rIns="0" bIns="0" rtlCol="0" anchor="t"/>
          <a:lstStyle/>
          <a:p>
            <a:pPr indent="0" marL="0">
              <a:buNone/>
            </a:pPr>
            <a:r>
              <a:rPr lang="en-US" sz="1300" dirty="0">
                <a:solidFill>
                  <a:schemeClr val="tx2"/>
                </a:solidFill>
              </a:rPr>
              <a:t>relevant posts out of 50,926, scored by Tier C (median 32 a month)</a:t>
            </a:r>
            <a:endParaRPr lang="en-US" sz="1300" dirty="0"/>
          </a:p>
        </p:txBody>
      </p:sp>
      <p:sp>
        <p:nvSpPr>
          <p:cNvPr id="6" name="e3_1_value"/>
          <p:cNvSpPr txBox="1"/>
          <p:nvPr/>
        </p:nvSpPr>
        <p:spPr>
          <a:xfrm>
            <a:off x="8229600" y="2852928"/>
            <a:ext cx="3474720"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p = 0.18</a:t>
            </a:r>
            <a:endParaRPr lang="en-US" sz="3600" dirty="0"/>
          </a:p>
        </p:txBody>
      </p:sp>
      <p:sp>
        <p:nvSpPr>
          <p:cNvPr id="7" name="e3_1_label"/>
          <p:cNvSpPr txBox="1"/>
          <p:nvPr/>
        </p:nvSpPr>
        <p:spPr>
          <a:xfrm>
            <a:off x="8229600" y="3538728"/>
            <a:ext cx="3474720" cy="685800"/>
          </a:xfrm>
          <a:prstGeom prst="rect">
            <a:avLst/>
          </a:prstGeom>
          <a:noFill/>
          <a:ln/>
        </p:spPr>
        <p:txBody>
          <a:bodyPr wrap="square" lIns="0" tIns="0" rIns="0" bIns="0" rtlCol="0" anchor="t"/>
          <a:lstStyle/>
          <a:p>
            <a:pPr indent="0" marL="0">
              <a:buNone/>
            </a:pPr>
            <a:r>
              <a:rPr lang="en-US" sz="1300" dirty="0">
                <a:solidFill>
                  <a:schemeClr val="tx2"/>
                </a:solidFill>
              </a:rPr>
              <a:t>economy only: −3.3 index points per 1.0 of Reddit net negativity; with household costs the sign flips (p = 0.72)</a:t>
            </a:r>
            <a:endParaRPr lang="en-US" sz="1300" dirty="0"/>
          </a:p>
        </p:txBody>
      </p:sp>
      <p:sp>
        <p:nvSpPr>
          <p:cNvPr id="8" name="e3_2_value"/>
          <p:cNvSpPr txBox="1"/>
          <p:nvPr/>
        </p:nvSpPr>
        <p:spPr>
          <a:xfrm>
            <a:off x="8229600" y="4288536"/>
            <a:ext cx="3474720" cy="685800"/>
          </a:xfrm>
          <a:prstGeom prst="rect">
            <a:avLst/>
          </a:prstGeom>
          <a:noFill/>
          <a:ln/>
        </p:spPr>
        <p:txBody>
          <a:bodyPr wrap="square" lIns="0" tIns="0" rIns="0" bIns="0" rtlCol="0" anchor="ctr"/>
          <a:lstStyle/>
          <a:p>
            <a:pPr indent="0" marL="0">
              <a:buNone/>
            </a:pPr>
            <a:r>
              <a:rPr lang="en-US" sz="3600" b="1" dirty="0">
                <a:solidFill>
                  <a:schemeClr val="accent6"/>
                </a:solidFill>
                <a:latin typeface="Cambria" pitchFamily="34" charset="0"/>
                <a:ea typeface="Cambria" pitchFamily="34" charset="-122"/>
                <a:cs typeface="Cambria" pitchFamily="34" charset="-120"/>
              </a:rPr>
              <a:t>≤ 0.4 pts</a:t>
            </a:r>
            <a:endParaRPr lang="en-US" sz="3600" dirty="0"/>
          </a:p>
        </p:txBody>
      </p:sp>
      <p:sp>
        <p:nvSpPr>
          <p:cNvPr id="9" name="e3_2_label"/>
          <p:cNvSpPr txBox="1"/>
          <p:nvPr/>
        </p:nvSpPr>
        <p:spPr>
          <a:xfrm>
            <a:off x="8229600" y="4974336"/>
            <a:ext cx="3474720" cy="685800"/>
          </a:xfrm>
          <a:prstGeom prst="rect">
            <a:avLst/>
          </a:prstGeom>
          <a:noFill/>
          <a:ln/>
        </p:spPr>
        <p:txBody>
          <a:bodyPr wrap="square" lIns="0" tIns="0" rIns="0" bIns="0" rtlCol="0" anchor="t"/>
          <a:lstStyle/>
          <a:p>
            <a:pPr indent="0" marL="0">
              <a:buNone/>
            </a:pPr>
            <a:r>
              <a:rPr lang="en-US" sz="1300" dirty="0">
                <a:solidFill>
                  <a:schemeClr val="tx2"/>
                </a:solidFill>
              </a:rPr>
              <a:t>of the 39.9-point gap even if fully causal (90% bound, household costs in as for news); neither series moves first (p = 0.89, 0.71)</a:t>
            </a:r>
            <a:endParaRPr lang="en-US" sz="1300" dirty="0"/>
          </a:p>
        </p:txBody>
      </p:sp>
      <p:sp>
        <p:nvSpPr>
          <p:cNvPr id="10" name="takeaway_box"/>
          <p:cNvSpPr/>
          <p:nvPr/>
        </p:nvSpPr>
        <p:spPr>
          <a:xfrm>
            <a:off x="548640" y="5742432"/>
            <a:ext cx="11064240" cy="548640"/>
          </a:xfrm>
          <a:prstGeom prst="roundRect">
            <a:avLst>
              <a:gd name="adj" fmla="val 13333"/>
            </a:avLst>
          </a:prstGeom>
          <a:solidFill>
            <a:schemeClr val="bg2"/>
          </a:solidFill>
          <a:ln w="12700">
            <a:solidFill>
              <a:schemeClr val="bg2"/>
            </a:solidFill>
            <a:prstDash val="solid"/>
          </a:ln>
        </p:spPr>
      </p:sp>
      <p:sp>
        <p:nvSpPr>
          <p:cNvPr id="11" name="takeaway"/>
          <p:cNvSpPr txBox="1"/>
          <p:nvPr/>
        </p:nvSpPr>
        <p:spPr>
          <a:xfrm>
            <a:off x="777240" y="5742432"/>
            <a:ext cx="10698480" cy="548640"/>
          </a:xfrm>
          <a:prstGeom prst="rect">
            <a:avLst/>
          </a:prstGeom>
          <a:noFill/>
          <a:ln/>
        </p:spPr>
        <p:txBody>
          <a:bodyPr wrap="square" lIns="0" tIns="0" rIns="0" bIns="0" rtlCol="0" anchor="ctr"/>
          <a:lstStyle/>
          <a:p>
            <a:pPr indent="0" marL="0">
              <a:buNone/>
            </a:pPr>
            <a:r>
              <a:rPr lang="en-US" sz="1500" b="1" dirty="0">
                <a:solidFill>
                  <a:schemeClr val="accent1"/>
                </a:solidFill>
              </a:rPr>
              <a:t>Takeaway   </a:t>
            </a:r>
            <a:pPr indent="0" marL="0">
              <a:buNone/>
            </a:pPr>
            <a:r>
              <a:rPr lang="en-US" sz="1500" dirty="0">
                <a:solidFill>
                  <a:schemeClr val="tx1"/>
                </a:solidFill>
              </a:rPr>
              <a:t>No detectable link: even taken as causal, Reddit tone explains at most 0.4 of the 40 points (with a weak measure).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2800" b="1" dirty="0">
                <a:solidFill>
                  <a:schemeClr val="tx1"/>
                </a:solidFill>
              </a:rPr>
              <a:t>Backup: other checks that did not make the main story</a:t>
            </a:r>
            <a:endParaRPr lang="en-US" sz="2800" dirty="0"/>
          </a:p>
        </p:txBody>
      </p:sp>
      <p:sp>
        <p:nvSpPr>
          <p:cNvPr id="3" name="hm_0_box"/>
          <p:cNvSpPr/>
          <p:nvPr/>
        </p:nvSpPr>
        <p:spPr>
          <a:xfrm>
            <a:off x="548640" y="1325880"/>
            <a:ext cx="2651760" cy="1325880"/>
          </a:xfrm>
          <a:prstGeom prst="roundRect">
            <a:avLst>
              <a:gd name="adj" fmla="val 5517"/>
            </a:avLst>
          </a:prstGeom>
          <a:solidFill>
            <a:schemeClr val="bg2"/>
          </a:solidFill>
          <a:ln w="12700">
            <a:solidFill>
              <a:schemeClr val="bg2"/>
            </a:solidFill>
            <a:prstDash val="solid"/>
          </a:ln>
        </p:spPr>
      </p:sp>
      <p:sp>
        <p:nvSpPr>
          <p:cNvPr id="4" name="hm_0_head"/>
          <p:cNvSpPr txBox="1"/>
          <p:nvPr/>
        </p:nvSpPr>
        <p:spPr>
          <a:xfrm>
            <a:off x="685800" y="1399032"/>
            <a:ext cx="2377440" cy="274320"/>
          </a:xfrm>
          <a:prstGeom prst="rect">
            <a:avLst/>
          </a:prstGeom>
          <a:noFill/>
          <a:ln/>
        </p:spPr>
        <p:txBody>
          <a:bodyPr wrap="square" lIns="0" tIns="0" rIns="0" bIns="0" rtlCol="0" anchor="ctr"/>
          <a:lstStyle/>
          <a:p>
            <a:pPr indent="0" marL="0">
              <a:buNone/>
            </a:pPr>
            <a:r>
              <a:rPr lang="en-US" sz="1200" b="1" dirty="0">
                <a:solidFill>
                  <a:schemeClr val="tx2"/>
                </a:solidFill>
              </a:rPr>
              <a:t>Spending</a:t>
            </a:r>
            <a:endParaRPr lang="en-US" sz="1200" dirty="0"/>
          </a:p>
        </p:txBody>
      </p:sp>
      <p:sp>
        <p:nvSpPr>
          <p:cNvPr id="5" name="hm_0_value"/>
          <p:cNvSpPr txBox="1"/>
          <p:nvPr/>
        </p:nvSpPr>
        <p:spPr>
          <a:xfrm>
            <a:off x="685800" y="1655064"/>
            <a:ext cx="2377440" cy="411480"/>
          </a:xfrm>
          <a:prstGeom prst="rect">
            <a:avLst/>
          </a:prstGeom>
          <a:noFill/>
          <a:ln/>
        </p:spPr>
        <p:txBody>
          <a:bodyPr wrap="square" lIns="0" tIns="0" rIns="0" bIns="0" rtlCol="0" anchor="ctr"/>
          <a:lstStyle/>
          <a:p>
            <a:pPr indent="0" marL="0">
              <a:buNone/>
            </a:pPr>
            <a:r>
              <a:rPr lang="en-US" sz="2100" b="1" dirty="0">
                <a:solidFill>
                  <a:schemeClr val="accent2"/>
                </a:solidFill>
                <a:latin typeface="Cambria" pitchFamily="34" charset="0"/>
                <a:ea typeface="Cambria" pitchFamily="34" charset="-122"/>
                <a:cs typeface="Cambria" pitchFamily="34" charset="-120"/>
              </a:rPr>
              <a:t>p = 0.25-0.36</a:t>
            </a:r>
            <a:endParaRPr lang="en-US" sz="2100" dirty="0"/>
          </a:p>
        </p:txBody>
      </p:sp>
      <p:sp>
        <p:nvSpPr>
          <p:cNvPr id="6" name="hm_0_label"/>
          <p:cNvSpPr txBox="1"/>
          <p:nvPr/>
        </p:nvSpPr>
        <p:spPr>
          <a:xfrm>
            <a:off x="685800" y="2075688"/>
            <a:ext cx="2377440" cy="548640"/>
          </a:xfrm>
          <a:prstGeom prst="rect">
            <a:avLst/>
          </a:prstGeom>
          <a:noFill/>
          <a:ln/>
        </p:spPr>
        <p:txBody>
          <a:bodyPr wrap="square" lIns="0" tIns="0" rIns="0" bIns="0" rtlCol="0" anchor="t"/>
          <a:lstStyle/>
          <a:p>
            <a:pPr indent="0" marL="0">
              <a:buNone/>
            </a:pPr>
            <a:r>
              <a:rPr lang="en-US" sz="1100" dirty="0">
                <a:solidFill>
                  <a:schemeClr val="tx2"/>
                </a:solidFill>
              </a:rPr>
              <a:t>sentiment and the gap do not predict real spending 1-3 months ahead</a:t>
            </a:r>
            <a:endParaRPr lang="en-US" sz="1100" dirty="0"/>
          </a:p>
        </p:txBody>
      </p:sp>
      <p:sp>
        <p:nvSpPr>
          <p:cNvPr id="7" name="hm_1_box"/>
          <p:cNvSpPr/>
          <p:nvPr/>
        </p:nvSpPr>
        <p:spPr>
          <a:xfrm>
            <a:off x="3355848" y="1325880"/>
            <a:ext cx="2651760" cy="1325880"/>
          </a:xfrm>
          <a:prstGeom prst="roundRect">
            <a:avLst>
              <a:gd name="adj" fmla="val 5517"/>
            </a:avLst>
          </a:prstGeom>
          <a:solidFill>
            <a:schemeClr val="bg2"/>
          </a:solidFill>
          <a:ln w="12700">
            <a:solidFill>
              <a:schemeClr val="bg2"/>
            </a:solidFill>
            <a:prstDash val="solid"/>
          </a:ln>
        </p:spPr>
      </p:sp>
      <p:sp>
        <p:nvSpPr>
          <p:cNvPr id="8" name="hm_1_head"/>
          <p:cNvSpPr txBox="1"/>
          <p:nvPr/>
        </p:nvSpPr>
        <p:spPr>
          <a:xfrm>
            <a:off x="3493008" y="1399032"/>
            <a:ext cx="2377440" cy="274320"/>
          </a:xfrm>
          <a:prstGeom prst="rect">
            <a:avLst/>
          </a:prstGeom>
          <a:noFill/>
          <a:ln/>
        </p:spPr>
        <p:txBody>
          <a:bodyPr wrap="square" lIns="0" tIns="0" rIns="0" bIns="0" rtlCol="0" anchor="ctr"/>
          <a:lstStyle/>
          <a:p>
            <a:pPr indent="0" marL="0">
              <a:buNone/>
            </a:pPr>
            <a:r>
              <a:rPr lang="en-US" sz="1200" b="1" dirty="0">
                <a:solidFill>
                  <a:schemeClr val="tx2"/>
                </a:solidFill>
              </a:rPr>
              <a:t>Recall vs coverage</a:t>
            </a:r>
            <a:endParaRPr lang="en-US" sz="1200" dirty="0"/>
          </a:p>
        </p:txBody>
      </p:sp>
      <p:sp>
        <p:nvSpPr>
          <p:cNvPr id="9" name="hm_1_value"/>
          <p:cNvSpPr txBox="1"/>
          <p:nvPr/>
        </p:nvSpPr>
        <p:spPr>
          <a:xfrm>
            <a:off x="3493008" y="1655064"/>
            <a:ext cx="2377440" cy="411480"/>
          </a:xfrm>
          <a:prstGeom prst="rect">
            <a:avLst/>
          </a:prstGeom>
          <a:noFill/>
          <a:ln/>
        </p:spPr>
        <p:txBody>
          <a:bodyPr wrap="square" lIns="0" tIns="0" rIns="0" bIns="0" rtlCol="0" anchor="ctr"/>
          <a:lstStyle/>
          <a:p>
            <a:pPr indent="0" marL="0">
              <a:buNone/>
            </a:pPr>
            <a:r>
              <a:rPr lang="en-US" sz="2100" b="1" dirty="0">
                <a:solidFill>
                  <a:schemeClr val="accent2"/>
                </a:solidFill>
                <a:latin typeface="Cambria" pitchFamily="34" charset="0"/>
                <a:ea typeface="Cambria" pitchFamily="34" charset="-122"/>
                <a:cs typeface="Cambria" pitchFamily="34" charset="-120"/>
              </a:rPr>
              <a:t>r = 0.78</a:t>
            </a:r>
            <a:endParaRPr lang="en-US" sz="2100" dirty="0"/>
          </a:p>
        </p:txBody>
      </p:sp>
      <p:sp>
        <p:nvSpPr>
          <p:cNvPr id="10" name="hm_1_label"/>
          <p:cNvSpPr txBox="1"/>
          <p:nvPr/>
        </p:nvSpPr>
        <p:spPr>
          <a:xfrm>
            <a:off x="3493008" y="2075688"/>
            <a:ext cx="2377440" cy="548640"/>
          </a:xfrm>
          <a:prstGeom prst="rect">
            <a:avLst/>
          </a:prstGeom>
          <a:noFill/>
          <a:ln/>
        </p:spPr>
        <p:txBody>
          <a:bodyPr wrap="square" lIns="0" tIns="0" rIns="0" bIns="0" rtlCol="0" anchor="t"/>
          <a:lstStyle/>
          <a:p>
            <a:pPr indent="0" marL="0">
              <a:buNone/>
            </a:pPr>
            <a:r>
              <a:rPr lang="en-US" sz="1100" dirty="0">
                <a:solidFill>
                  <a:schemeClr val="tx2"/>
                </a:solidFill>
              </a:rPr>
              <a:t>people's recall of price news tracks coverage; for jobs only 0.15-0.29</a:t>
            </a:r>
            <a:endParaRPr lang="en-US" sz="1100" dirty="0"/>
          </a:p>
        </p:txBody>
      </p:sp>
      <p:sp>
        <p:nvSpPr>
          <p:cNvPr id="11" name="hm_2_box"/>
          <p:cNvSpPr/>
          <p:nvPr/>
        </p:nvSpPr>
        <p:spPr>
          <a:xfrm>
            <a:off x="6163056" y="1325880"/>
            <a:ext cx="2651760" cy="1325880"/>
          </a:xfrm>
          <a:prstGeom prst="roundRect">
            <a:avLst>
              <a:gd name="adj" fmla="val 5517"/>
            </a:avLst>
          </a:prstGeom>
          <a:solidFill>
            <a:schemeClr val="bg2"/>
          </a:solidFill>
          <a:ln w="12700">
            <a:solidFill>
              <a:schemeClr val="bg2"/>
            </a:solidFill>
            <a:prstDash val="solid"/>
          </a:ln>
        </p:spPr>
      </p:sp>
      <p:sp>
        <p:nvSpPr>
          <p:cNvPr id="12" name="hm_2_head"/>
          <p:cNvSpPr txBox="1"/>
          <p:nvPr/>
        </p:nvSpPr>
        <p:spPr>
          <a:xfrm>
            <a:off x="6300216" y="1399032"/>
            <a:ext cx="2377440" cy="274320"/>
          </a:xfrm>
          <a:prstGeom prst="rect">
            <a:avLst/>
          </a:prstGeom>
          <a:noFill/>
          <a:ln/>
        </p:spPr>
        <p:txBody>
          <a:bodyPr wrap="square" lIns="0" tIns="0" rIns="0" bIns="0" rtlCol="0" anchor="ctr"/>
          <a:lstStyle/>
          <a:p>
            <a:pPr indent="0" marL="0">
              <a:buNone/>
            </a:pPr>
            <a:r>
              <a:rPr lang="en-US" sz="1200" b="1" dirty="0">
                <a:solidFill>
                  <a:schemeClr val="tx2"/>
                </a:solidFill>
              </a:rPr>
              <a:t>Minimal pairs</a:t>
            </a:r>
            <a:endParaRPr lang="en-US" sz="1200" dirty="0"/>
          </a:p>
        </p:txBody>
      </p:sp>
      <p:sp>
        <p:nvSpPr>
          <p:cNvPr id="13" name="hm_2_value"/>
          <p:cNvSpPr txBox="1"/>
          <p:nvPr/>
        </p:nvSpPr>
        <p:spPr>
          <a:xfrm>
            <a:off x="6300216" y="1655064"/>
            <a:ext cx="2377440" cy="411480"/>
          </a:xfrm>
          <a:prstGeom prst="rect">
            <a:avLst/>
          </a:prstGeom>
          <a:noFill/>
          <a:ln/>
        </p:spPr>
        <p:txBody>
          <a:bodyPr wrap="square" lIns="0" tIns="0" rIns="0" bIns="0" rtlCol="0" anchor="ctr"/>
          <a:lstStyle/>
          <a:p>
            <a:pPr indent="0" marL="0">
              <a:buNone/>
            </a:pPr>
            <a:r>
              <a:rPr lang="en-US" sz="2100" b="1" dirty="0">
                <a:solidFill>
                  <a:schemeClr val="accent2"/>
                </a:solidFill>
                <a:latin typeface="Cambria" pitchFamily="34" charset="0"/>
                <a:ea typeface="Cambria" pitchFamily="34" charset="-122"/>
                <a:cs typeface="Cambria" pitchFamily="34" charset="-120"/>
              </a:rPr>
              <a:t>654 / 654</a:t>
            </a:r>
            <a:endParaRPr lang="en-US" sz="2100" dirty="0"/>
          </a:p>
        </p:txBody>
      </p:sp>
      <p:sp>
        <p:nvSpPr>
          <p:cNvPr id="14" name="hm_2_label"/>
          <p:cNvSpPr txBox="1"/>
          <p:nvPr/>
        </p:nvSpPr>
        <p:spPr>
          <a:xfrm>
            <a:off x="6300216" y="2075688"/>
            <a:ext cx="2377440" cy="548640"/>
          </a:xfrm>
          <a:prstGeom prst="rect">
            <a:avLst/>
          </a:prstGeom>
          <a:noFill/>
          <a:ln/>
        </p:spPr>
        <p:txBody>
          <a:bodyPr wrap="square" lIns="0" tIns="0" rIns="0" bIns="0" rtlCol="0" anchor="t"/>
          <a:lstStyle/>
          <a:p>
            <a:pPr indent="0" marL="0">
              <a:buNone/>
            </a:pPr>
            <a:r>
              <a:rPr lang="en-US" sz="1100" dirty="0">
                <a:solidFill>
                  <a:schemeClr val="tx2"/>
                </a:solidFill>
              </a:rPr>
              <a:t>made-up items with known answers, all labelled right by Opus</a:t>
            </a:r>
            <a:endParaRPr lang="en-US" sz="1100" dirty="0"/>
          </a:p>
        </p:txBody>
      </p:sp>
      <p:sp>
        <p:nvSpPr>
          <p:cNvPr id="15" name="hm_3_box"/>
          <p:cNvSpPr/>
          <p:nvPr/>
        </p:nvSpPr>
        <p:spPr>
          <a:xfrm>
            <a:off x="8970264" y="1325880"/>
            <a:ext cx="2651760" cy="1325880"/>
          </a:xfrm>
          <a:prstGeom prst="roundRect">
            <a:avLst>
              <a:gd name="adj" fmla="val 5517"/>
            </a:avLst>
          </a:prstGeom>
          <a:solidFill>
            <a:schemeClr val="bg2"/>
          </a:solidFill>
          <a:ln w="12700">
            <a:solidFill>
              <a:schemeClr val="bg2"/>
            </a:solidFill>
            <a:prstDash val="solid"/>
          </a:ln>
        </p:spPr>
      </p:sp>
      <p:sp>
        <p:nvSpPr>
          <p:cNvPr id="16" name="hm_3_head"/>
          <p:cNvSpPr txBox="1"/>
          <p:nvPr/>
        </p:nvSpPr>
        <p:spPr>
          <a:xfrm>
            <a:off x="9107424" y="1399032"/>
            <a:ext cx="2377440" cy="274320"/>
          </a:xfrm>
          <a:prstGeom prst="rect">
            <a:avLst/>
          </a:prstGeom>
          <a:noFill/>
          <a:ln/>
        </p:spPr>
        <p:txBody>
          <a:bodyPr wrap="square" lIns="0" tIns="0" rIns="0" bIns="0" rtlCol="0" anchor="ctr"/>
          <a:lstStyle/>
          <a:p>
            <a:pPr indent="0" marL="0">
              <a:buNone/>
            </a:pPr>
            <a:r>
              <a:rPr lang="en-US" sz="1200" b="1" dirty="0">
                <a:solidFill>
                  <a:schemeClr val="tx2"/>
                </a:solidFill>
              </a:rPr>
              <a:t>Party-name swaps</a:t>
            </a:r>
            <a:endParaRPr lang="en-US" sz="1200" dirty="0"/>
          </a:p>
        </p:txBody>
      </p:sp>
      <p:sp>
        <p:nvSpPr>
          <p:cNvPr id="17" name="hm_3_value"/>
          <p:cNvSpPr txBox="1"/>
          <p:nvPr/>
        </p:nvSpPr>
        <p:spPr>
          <a:xfrm>
            <a:off x="9107424" y="1655064"/>
            <a:ext cx="2377440" cy="411480"/>
          </a:xfrm>
          <a:prstGeom prst="rect">
            <a:avLst/>
          </a:prstGeom>
          <a:noFill/>
          <a:ln/>
        </p:spPr>
        <p:txBody>
          <a:bodyPr wrap="square" lIns="0" tIns="0" rIns="0" bIns="0" rtlCol="0" anchor="ctr"/>
          <a:lstStyle/>
          <a:p>
            <a:pPr indent="0" marL="0">
              <a:buNone/>
            </a:pPr>
            <a:r>
              <a:rPr lang="en-US" sz="2100" b="1" dirty="0">
                <a:solidFill>
                  <a:schemeClr val="accent2"/>
                </a:solidFill>
                <a:latin typeface="Cambria" pitchFamily="34" charset="0"/>
                <a:ea typeface="Cambria" pitchFamily="34" charset="-122"/>
                <a:cs typeface="Cambria" pitchFamily="34" charset="-120"/>
              </a:rPr>
              <a:t>8% = 8%</a:t>
            </a:r>
            <a:endParaRPr lang="en-US" sz="2100" dirty="0"/>
          </a:p>
        </p:txBody>
      </p:sp>
      <p:sp>
        <p:nvSpPr>
          <p:cNvPr id="18" name="hm_3_label"/>
          <p:cNvSpPr txBox="1"/>
          <p:nvPr/>
        </p:nvSpPr>
        <p:spPr>
          <a:xfrm>
            <a:off x="9107424" y="2075688"/>
            <a:ext cx="2377440" cy="548640"/>
          </a:xfrm>
          <a:prstGeom prst="rect">
            <a:avLst/>
          </a:prstGeom>
          <a:noFill/>
          <a:ln/>
        </p:spPr>
        <p:txBody>
          <a:bodyPr wrap="square" lIns="0" tIns="0" rIns="0" bIns="0" rtlCol="0" anchor="t"/>
          <a:lstStyle/>
          <a:p>
            <a:pPr indent="0" marL="0">
              <a:buNone/>
            </a:pPr>
            <a:r>
              <a:rPr lang="en-US" sz="1100" dirty="0">
                <a:solidFill>
                  <a:schemeClr val="tx2"/>
                </a:solidFill>
              </a:rPr>
              <a:t>tone changes as often as after a meaningless edit; source tags change nothing</a:t>
            </a:r>
            <a:endParaRPr lang="en-US" sz="1100" dirty="0"/>
          </a:p>
        </p:txBody>
      </p:sp>
      <p:sp>
        <p:nvSpPr>
          <p:cNvPr id="19" name="hm_4_box"/>
          <p:cNvSpPr/>
          <p:nvPr/>
        </p:nvSpPr>
        <p:spPr>
          <a:xfrm>
            <a:off x="548640" y="2761488"/>
            <a:ext cx="2651760" cy="1325880"/>
          </a:xfrm>
          <a:prstGeom prst="roundRect">
            <a:avLst>
              <a:gd name="adj" fmla="val 5517"/>
            </a:avLst>
          </a:prstGeom>
          <a:solidFill>
            <a:schemeClr val="bg2"/>
          </a:solidFill>
          <a:ln w="12700">
            <a:solidFill>
              <a:schemeClr val="bg2"/>
            </a:solidFill>
            <a:prstDash val="solid"/>
          </a:ln>
        </p:spPr>
      </p:sp>
      <p:sp>
        <p:nvSpPr>
          <p:cNvPr id="20" name="hm_4_head"/>
          <p:cNvSpPr txBox="1"/>
          <p:nvPr/>
        </p:nvSpPr>
        <p:spPr>
          <a:xfrm>
            <a:off x="685800" y="2834640"/>
            <a:ext cx="2377440" cy="274320"/>
          </a:xfrm>
          <a:prstGeom prst="rect">
            <a:avLst/>
          </a:prstGeom>
          <a:noFill/>
          <a:ln/>
        </p:spPr>
        <p:txBody>
          <a:bodyPr wrap="square" lIns="0" tIns="0" rIns="0" bIns="0" rtlCol="0" anchor="ctr"/>
          <a:lstStyle/>
          <a:p>
            <a:pPr indent="0" marL="0">
              <a:buNone/>
            </a:pPr>
            <a:r>
              <a:rPr lang="en-US" sz="1200" b="1" dirty="0">
                <a:solidFill>
                  <a:schemeClr val="tx2"/>
                </a:solidFill>
              </a:rPr>
              <a:t>Test-retest</a:t>
            </a:r>
            <a:endParaRPr lang="en-US" sz="1200" dirty="0"/>
          </a:p>
        </p:txBody>
      </p:sp>
      <p:sp>
        <p:nvSpPr>
          <p:cNvPr id="21" name="hm_4_value"/>
          <p:cNvSpPr txBox="1"/>
          <p:nvPr/>
        </p:nvSpPr>
        <p:spPr>
          <a:xfrm>
            <a:off x="685800" y="3090672"/>
            <a:ext cx="2377440" cy="411480"/>
          </a:xfrm>
          <a:prstGeom prst="rect">
            <a:avLst/>
          </a:prstGeom>
          <a:noFill/>
          <a:ln/>
        </p:spPr>
        <p:txBody>
          <a:bodyPr wrap="square" lIns="0" tIns="0" rIns="0" bIns="0" rtlCol="0" anchor="ctr"/>
          <a:lstStyle/>
          <a:p>
            <a:pPr indent="0" marL="0">
              <a:buNone/>
            </a:pPr>
            <a:r>
              <a:rPr lang="en-US" sz="2100" b="1" dirty="0">
                <a:solidFill>
                  <a:schemeClr val="accent2"/>
                </a:solidFill>
                <a:latin typeface="Cambria" pitchFamily="34" charset="0"/>
                <a:ea typeface="Cambria" pitchFamily="34" charset="-122"/>
                <a:cs typeface="Cambria" pitchFamily="34" charset="-120"/>
              </a:rPr>
              <a:t>κ 0.92</a:t>
            </a:r>
            <a:endParaRPr lang="en-US" sz="2100" dirty="0"/>
          </a:p>
        </p:txBody>
      </p:sp>
      <p:sp>
        <p:nvSpPr>
          <p:cNvPr id="22" name="hm_4_label"/>
          <p:cNvSpPr txBox="1"/>
          <p:nvPr/>
        </p:nvSpPr>
        <p:spPr>
          <a:xfrm>
            <a:off x="685800" y="3511296"/>
            <a:ext cx="2377440" cy="548640"/>
          </a:xfrm>
          <a:prstGeom prst="rect">
            <a:avLst/>
          </a:prstGeom>
          <a:noFill/>
          <a:ln/>
        </p:spPr>
        <p:txBody>
          <a:bodyPr wrap="square" lIns="0" tIns="0" rIns="0" bIns="0" rtlCol="0" anchor="t"/>
          <a:lstStyle/>
          <a:p>
            <a:pPr indent="0" marL="0">
              <a:buNone/>
            </a:pPr>
            <a:r>
              <a:rPr lang="en-US" sz="1100" dirty="0">
                <a:solidFill>
                  <a:schemeClr val="tx2"/>
                </a:solidFill>
              </a:rPr>
              <a:t>Opus tone on 150 items labelled twice in other batches</a:t>
            </a:r>
            <a:endParaRPr lang="en-US" sz="1100" dirty="0"/>
          </a:p>
        </p:txBody>
      </p:sp>
      <p:sp>
        <p:nvSpPr>
          <p:cNvPr id="23" name="hm_5_box"/>
          <p:cNvSpPr/>
          <p:nvPr/>
        </p:nvSpPr>
        <p:spPr>
          <a:xfrm>
            <a:off x="3355848" y="2761488"/>
            <a:ext cx="2651760" cy="1325880"/>
          </a:xfrm>
          <a:prstGeom prst="roundRect">
            <a:avLst>
              <a:gd name="adj" fmla="val 5517"/>
            </a:avLst>
          </a:prstGeom>
          <a:solidFill>
            <a:schemeClr val="bg2"/>
          </a:solidFill>
          <a:ln w="12700">
            <a:solidFill>
              <a:schemeClr val="bg2"/>
            </a:solidFill>
            <a:prstDash val="solid"/>
          </a:ln>
        </p:spPr>
      </p:sp>
      <p:sp>
        <p:nvSpPr>
          <p:cNvPr id="24" name="hm_5_head"/>
          <p:cNvSpPr txBox="1"/>
          <p:nvPr/>
        </p:nvSpPr>
        <p:spPr>
          <a:xfrm>
            <a:off x="3493008" y="2834640"/>
            <a:ext cx="2377440" cy="274320"/>
          </a:xfrm>
          <a:prstGeom prst="rect">
            <a:avLst/>
          </a:prstGeom>
          <a:noFill/>
          <a:ln/>
        </p:spPr>
        <p:txBody>
          <a:bodyPr wrap="square" lIns="0" tIns="0" rIns="0" bIns="0" rtlCol="0" anchor="ctr"/>
          <a:lstStyle/>
          <a:p>
            <a:pPr indent="0" marL="0">
              <a:buNone/>
            </a:pPr>
            <a:r>
              <a:rPr lang="en-US" sz="1200" b="1" dirty="0">
                <a:solidFill>
                  <a:schemeClr val="tx2"/>
                </a:solidFill>
              </a:rPr>
              <a:t>Release days</a:t>
            </a:r>
            <a:endParaRPr lang="en-US" sz="1200" dirty="0"/>
          </a:p>
        </p:txBody>
      </p:sp>
      <p:sp>
        <p:nvSpPr>
          <p:cNvPr id="25" name="hm_5_value"/>
          <p:cNvSpPr txBox="1"/>
          <p:nvPr/>
        </p:nvSpPr>
        <p:spPr>
          <a:xfrm>
            <a:off x="3493008" y="3090672"/>
            <a:ext cx="2377440" cy="411480"/>
          </a:xfrm>
          <a:prstGeom prst="rect">
            <a:avLst/>
          </a:prstGeom>
          <a:noFill/>
          <a:ln/>
        </p:spPr>
        <p:txBody>
          <a:bodyPr wrap="square" lIns="0" tIns="0" rIns="0" bIns="0" rtlCol="0" anchor="ctr"/>
          <a:lstStyle/>
          <a:p>
            <a:pPr indent="0" marL="0">
              <a:buNone/>
            </a:pPr>
            <a:r>
              <a:rPr lang="en-US" sz="2100" b="1" dirty="0">
                <a:solidFill>
                  <a:schemeClr val="accent2"/>
                </a:solidFill>
                <a:latin typeface="Cambria" pitchFamily="34" charset="0"/>
                <a:ea typeface="Cambria" pitchFamily="34" charset="-122"/>
                <a:cs typeface="Cambria" pitchFamily="34" charset="-120"/>
              </a:rPr>
              <a:t>56% vs 24-28%</a:t>
            </a:r>
            <a:endParaRPr lang="en-US" sz="2100" dirty="0"/>
          </a:p>
        </p:txBody>
      </p:sp>
      <p:sp>
        <p:nvSpPr>
          <p:cNvPr id="26" name="hm_5_label"/>
          <p:cNvSpPr txBox="1"/>
          <p:nvPr/>
        </p:nvSpPr>
        <p:spPr>
          <a:xfrm>
            <a:off x="3493008" y="3511296"/>
            <a:ext cx="2377440" cy="548640"/>
          </a:xfrm>
          <a:prstGeom prst="rect">
            <a:avLst/>
          </a:prstGeom>
          <a:noFill/>
          <a:ln/>
        </p:spPr>
        <p:txBody>
          <a:bodyPr wrap="square" lIns="0" tIns="0" rIns="0" bIns="0" rtlCol="0" anchor="t"/>
          <a:lstStyle/>
          <a:p>
            <a:pPr indent="0" marL="0">
              <a:buNone/>
            </a:pPr>
            <a:r>
              <a:rPr lang="en-US" sz="1100" dirty="0">
                <a:solidFill>
                  <a:schemeClr val="tx2"/>
                </a:solidFill>
              </a:rPr>
              <a:t>jobs-day headlines negative after a 0.2+ pp unemployment rise vs when it fell or held</a:t>
            </a:r>
            <a:endParaRPr lang="en-US" sz="1100" dirty="0"/>
          </a:p>
        </p:txBody>
      </p:sp>
      <p:sp>
        <p:nvSpPr>
          <p:cNvPr id="27" name="hm_6_box"/>
          <p:cNvSpPr/>
          <p:nvPr/>
        </p:nvSpPr>
        <p:spPr>
          <a:xfrm>
            <a:off x="6163056" y="2761488"/>
            <a:ext cx="2651760" cy="1325880"/>
          </a:xfrm>
          <a:prstGeom prst="roundRect">
            <a:avLst>
              <a:gd name="adj" fmla="val 5517"/>
            </a:avLst>
          </a:prstGeom>
          <a:solidFill>
            <a:schemeClr val="bg2"/>
          </a:solidFill>
          <a:ln w="12700">
            <a:solidFill>
              <a:schemeClr val="bg2"/>
            </a:solidFill>
            <a:prstDash val="solid"/>
          </a:ln>
        </p:spPr>
      </p:sp>
      <p:sp>
        <p:nvSpPr>
          <p:cNvPr id="28" name="hm_6_head"/>
          <p:cNvSpPr txBox="1"/>
          <p:nvPr/>
        </p:nvSpPr>
        <p:spPr>
          <a:xfrm>
            <a:off x="6300216" y="2834640"/>
            <a:ext cx="2377440" cy="274320"/>
          </a:xfrm>
          <a:prstGeom prst="rect">
            <a:avLst/>
          </a:prstGeom>
          <a:noFill/>
          <a:ln/>
        </p:spPr>
        <p:txBody>
          <a:bodyPr wrap="square" lIns="0" tIns="0" rIns="0" bIns="0" rtlCol="0" anchor="ctr"/>
          <a:lstStyle/>
          <a:p>
            <a:pPr indent="0" marL="0">
              <a:buNone/>
            </a:pPr>
            <a:r>
              <a:rPr lang="en-US" sz="1200" b="1" dirty="0">
                <a:solidFill>
                  <a:schemeClr val="tx2"/>
                </a:solidFill>
              </a:rPr>
              <a:t>Web interviews</a:t>
            </a:r>
            <a:endParaRPr lang="en-US" sz="1200" dirty="0"/>
          </a:p>
        </p:txBody>
      </p:sp>
      <p:sp>
        <p:nvSpPr>
          <p:cNvPr id="29" name="hm_6_value"/>
          <p:cNvSpPr txBox="1"/>
          <p:nvPr/>
        </p:nvSpPr>
        <p:spPr>
          <a:xfrm>
            <a:off x="6300216" y="3090672"/>
            <a:ext cx="2377440" cy="411480"/>
          </a:xfrm>
          <a:prstGeom prst="rect">
            <a:avLst/>
          </a:prstGeom>
          <a:noFill/>
          <a:ln/>
        </p:spPr>
        <p:txBody>
          <a:bodyPr wrap="square" lIns="0" tIns="0" rIns="0" bIns="0" rtlCol="0" anchor="ctr"/>
          <a:lstStyle/>
          <a:p>
            <a:pPr indent="0" marL="0">
              <a:buNone/>
            </a:pPr>
            <a:r>
              <a:rPr lang="en-US" sz="2100" b="1" dirty="0">
                <a:solidFill>
                  <a:schemeClr val="accent2"/>
                </a:solidFill>
                <a:latin typeface="Cambria" pitchFamily="34" charset="0"/>
                <a:ea typeface="Cambria" pitchFamily="34" charset="-122"/>
                <a:cs typeface="Cambria" pitchFamily="34" charset="-120"/>
              </a:rPr>
              <a:t>−33.3 pts</a:t>
            </a:r>
            <a:endParaRPr lang="en-US" sz="2100" dirty="0"/>
          </a:p>
        </p:txBody>
      </p:sp>
      <p:sp>
        <p:nvSpPr>
          <p:cNvPr id="30" name="hm_6_label"/>
          <p:cNvSpPr txBox="1"/>
          <p:nvPr/>
        </p:nvSpPr>
        <p:spPr>
          <a:xfrm>
            <a:off x="6300216" y="3511296"/>
            <a:ext cx="2377440" cy="548640"/>
          </a:xfrm>
          <a:prstGeom prst="rect">
            <a:avLst/>
          </a:prstGeom>
          <a:noFill/>
          <a:ln/>
        </p:spPr>
        <p:txBody>
          <a:bodyPr wrap="square" lIns="0" tIns="0" rIns="0" bIns="0" rtlCol="0" anchor="t"/>
          <a:lstStyle/>
          <a:p>
            <a:pPr indent="0" marL="0">
              <a:buNone/>
            </a:pPr>
            <a:r>
              <a:rPr lang="en-US" sz="1100" dirty="0">
                <a:solidFill>
                  <a:schemeClr val="tx2"/>
                </a:solidFill>
              </a:rPr>
              <a:t>2026 gap at the old phone mode (6.6 points, 17% of the gap)</a:t>
            </a:r>
            <a:endParaRPr lang="en-US" sz="1100" dirty="0"/>
          </a:p>
        </p:txBody>
      </p:sp>
      <p:sp>
        <p:nvSpPr>
          <p:cNvPr id="31" name="hm_7_box"/>
          <p:cNvSpPr/>
          <p:nvPr/>
        </p:nvSpPr>
        <p:spPr>
          <a:xfrm>
            <a:off x="8970264" y="2761488"/>
            <a:ext cx="2651760" cy="1325880"/>
          </a:xfrm>
          <a:prstGeom prst="roundRect">
            <a:avLst>
              <a:gd name="adj" fmla="val 5517"/>
            </a:avLst>
          </a:prstGeom>
          <a:solidFill>
            <a:schemeClr val="bg2"/>
          </a:solidFill>
          <a:ln w="12700">
            <a:solidFill>
              <a:schemeClr val="bg2"/>
            </a:solidFill>
            <a:prstDash val="solid"/>
          </a:ln>
        </p:spPr>
      </p:sp>
      <p:sp>
        <p:nvSpPr>
          <p:cNvPr id="32" name="hm_7_head"/>
          <p:cNvSpPr txBox="1"/>
          <p:nvPr/>
        </p:nvSpPr>
        <p:spPr>
          <a:xfrm>
            <a:off x="9107424" y="2834640"/>
            <a:ext cx="2377440" cy="274320"/>
          </a:xfrm>
          <a:prstGeom prst="rect">
            <a:avLst/>
          </a:prstGeom>
          <a:noFill/>
          <a:ln/>
        </p:spPr>
        <p:txBody>
          <a:bodyPr wrap="square" lIns="0" tIns="0" rIns="0" bIns="0" rtlCol="0" anchor="ctr"/>
          <a:lstStyle/>
          <a:p>
            <a:pPr indent="0" marL="0">
              <a:buNone/>
            </a:pPr>
            <a:r>
              <a:rPr lang="en-US" sz="1200" b="1" dirty="0">
                <a:solidFill>
                  <a:schemeClr val="tx2"/>
                </a:solidFill>
              </a:rPr>
              <a:t>Party mix</a:t>
            </a:r>
            <a:endParaRPr lang="en-US" sz="1200" dirty="0"/>
          </a:p>
        </p:txBody>
      </p:sp>
      <p:sp>
        <p:nvSpPr>
          <p:cNvPr id="33" name="hm_7_value"/>
          <p:cNvSpPr txBox="1"/>
          <p:nvPr/>
        </p:nvSpPr>
        <p:spPr>
          <a:xfrm>
            <a:off x="9107424" y="3090672"/>
            <a:ext cx="2377440" cy="411480"/>
          </a:xfrm>
          <a:prstGeom prst="rect">
            <a:avLst/>
          </a:prstGeom>
          <a:noFill/>
          <a:ln/>
        </p:spPr>
        <p:txBody>
          <a:bodyPr wrap="square" lIns="0" tIns="0" rIns="0" bIns="0" rtlCol="0" anchor="ctr"/>
          <a:lstStyle/>
          <a:p>
            <a:pPr indent="0" marL="0">
              <a:buNone/>
            </a:pPr>
            <a:r>
              <a:rPr lang="en-US" sz="2100" b="1" dirty="0">
                <a:solidFill>
                  <a:schemeClr val="accent2"/>
                </a:solidFill>
                <a:latin typeface="Cambria" pitchFamily="34" charset="0"/>
                <a:ea typeface="Cambria" pitchFamily="34" charset="-122"/>
                <a:cs typeface="Cambria" pitchFamily="34" charset="-120"/>
              </a:rPr>
              <a:t>−40 vs −45</a:t>
            </a:r>
            <a:endParaRPr lang="en-US" sz="2100" dirty="0"/>
          </a:p>
        </p:txBody>
      </p:sp>
      <p:sp>
        <p:nvSpPr>
          <p:cNvPr id="34" name="hm_7_label"/>
          <p:cNvSpPr txBox="1"/>
          <p:nvPr/>
        </p:nvSpPr>
        <p:spPr>
          <a:xfrm>
            <a:off x="9107424" y="3511296"/>
            <a:ext cx="2377440" cy="548640"/>
          </a:xfrm>
          <a:prstGeom prst="rect">
            <a:avLst/>
          </a:prstGeom>
          <a:noFill/>
          <a:ln/>
        </p:spPr>
        <p:txBody>
          <a:bodyPr wrap="square" lIns="0" tIns="0" rIns="0" bIns="0" rtlCol="0" anchor="t"/>
          <a:lstStyle/>
          <a:p>
            <a:pPr indent="0" marL="0">
              <a:buNone/>
            </a:pPr>
            <a:r>
              <a:rPr lang="en-US" sz="1100" dirty="0">
                <a:solidFill>
                  <a:schemeClr val="tx2"/>
                </a:solidFill>
              </a:rPr>
              <a:t>equal-weight party index vs ICS, 2017-19 to 2026 (index points): mix explains a few</a:t>
            </a:r>
            <a:endParaRPr lang="en-US" sz="1100" dirty="0"/>
          </a:p>
        </p:txBody>
      </p:sp>
      <p:sp>
        <p:nvSpPr>
          <p:cNvPr id="35" name="hm_8_box"/>
          <p:cNvSpPr/>
          <p:nvPr/>
        </p:nvSpPr>
        <p:spPr>
          <a:xfrm>
            <a:off x="548640" y="4197096"/>
            <a:ext cx="2651760" cy="1325880"/>
          </a:xfrm>
          <a:prstGeom prst="roundRect">
            <a:avLst>
              <a:gd name="adj" fmla="val 5517"/>
            </a:avLst>
          </a:prstGeom>
          <a:solidFill>
            <a:schemeClr val="bg2"/>
          </a:solidFill>
          <a:ln w="12700">
            <a:solidFill>
              <a:schemeClr val="bg2"/>
            </a:solidFill>
            <a:prstDash val="solid"/>
          </a:ln>
        </p:spPr>
      </p:sp>
      <p:sp>
        <p:nvSpPr>
          <p:cNvPr id="36" name="hm_8_head"/>
          <p:cNvSpPr txBox="1"/>
          <p:nvPr/>
        </p:nvSpPr>
        <p:spPr>
          <a:xfrm>
            <a:off x="685800" y="4270248"/>
            <a:ext cx="2377440" cy="274320"/>
          </a:xfrm>
          <a:prstGeom prst="rect">
            <a:avLst/>
          </a:prstGeom>
          <a:noFill/>
          <a:ln/>
        </p:spPr>
        <p:txBody>
          <a:bodyPr wrap="square" lIns="0" tIns="0" rIns="0" bIns="0" rtlCol="0" anchor="ctr"/>
          <a:lstStyle/>
          <a:p>
            <a:pPr indent="0" marL="0">
              <a:buNone/>
            </a:pPr>
            <a:r>
              <a:rPr lang="en-US" sz="1200" b="1" dirty="0">
                <a:solidFill>
                  <a:schemeClr val="tx2"/>
                </a:solidFill>
              </a:rPr>
              <a:t>Midterm timing</a:t>
            </a:r>
            <a:endParaRPr lang="en-US" sz="1200" dirty="0"/>
          </a:p>
        </p:txBody>
      </p:sp>
      <p:sp>
        <p:nvSpPr>
          <p:cNvPr id="37" name="hm_8_value"/>
          <p:cNvSpPr txBox="1"/>
          <p:nvPr/>
        </p:nvSpPr>
        <p:spPr>
          <a:xfrm>
            <a:off x="685800" y="4526280"/>
            <a:ext cx="2377440" cy="411480"/>
          </a:xfrm>
          <a:prstGeom prst="rect">
            <a:avLst/>
          </a:prstGeom>
          <a:noFill/>
          <a:ln/>
        </p:spPr>
        <p:txBody>
          <a:bodyPr wrap="square" lIns="0" tIns="0" rIns="0" bIns="0" rtlCol="0" anchor="ctr"/>
          <a:lstStyle/>
          <a:p>
            <a:pPr indent="0" marL="0">
              <a:buNone/>
            </a:pPr>
            <a:r>
              <a:rPr lang="en-US" sz="2100" b="1" dirty="0">
                <a:solidFill>
                  <a:schemeClr val="accent2"/>
                </a:solidFill>
                <a:latin typeface="Cambria" pitchFamily="34" charset="0"/>
                <a:ea typeface="Cambria" pitchFamily="34" charset="-122"/>
                <a:cs typeface="Cambria" pitchFamily="34" charset="-120"/>
              </a:rPr>
              <a:t>−5.0</a:t>
            </a:r>
            <a:endParaRPr lang="en-US" sz="2100" dirty="0"/>
          </a:p>
        </p:txBody>
      </p:sp>
      <p:sp>
        <p:nvSpPr>
          <p:cNvPr id="38" name="hm_8_label"/>
          <p:cNvSpPr txBox="1"/>
          <p:nvPr/>
        </p:nvSpPr>
        <p:spPr>
          <a:xfrm>
            <a:off x="685800" y="4946904"/>
            <a:ext cx="2377440" cy="548640"/>
          </a:xfrm>
          <a:prstGeom prst="rect">
            <a:avLst/>
          </a:prstGeom>
          <a:noFill/>
          <a:ln/>
        </p:spPr>
        <p:txBody>
          <a:bodyPr wrap="square" lIns="0" tIns="0" rIns="0" bIns="0" rtlCol="0" anchor="t"/>
          <a:lstStyle/>
          <a:p>
            <a:pPr indent="0" marL="0">
              <a:buNone/>
            </a:pPr>
            <a:r>
              <a:rPr lang="en-US" sz="1100" dirty="0">
                <a:solidFill>
                  <a:schemeClr val="tx2"/>
                </a:solidFill>
              </a:rPr>
              <a:t>2026 Jun-Oct change in the gap (points), like other years (−5.3)</a:t>
            </a:r>
            <a:endParaRPr lang="en-US" sz="1100" dirty="0"/>
          </a:p>
        </p:txBody>
      </p:sp>
      <p:sp>
        <p:nvSpPr>
          <p:cNvPr id="39" name="hm_9_box"/>
          <p:cNvSpPr/>
          <p:nvPr/>
        </p:nvSpPr>
        <p:spPr>
          <a:xfrm>
            <a:off x="3355848" y="4197096"/>
            <a:ext cx="2651760" cy="1325880"/>
          </a:xfrm>
          <a:prstGeom prst="roundRect">
            <a:avLst>
              <a:gd name="adj" fmla="val 5517"/>
            </a:avLst>
          </a:prstGeom>
          <a:solidFill>
            <a:schemeClr val="bg2"/>
          </a:solidFill>
          <a:ln w="12700">
            <a:solidFill>
              <a:schemeClr val="bg2"/>
            </a:solidFill>
            <a:prstDash val="solid"/>
          </a:ln>
        </p:spPr>
      </p:sp>
      <p:sp>
        <p:nvSpPr>
          <p:cNvPr id="40" name="hm_9_head"/>
          <p:cNvSpPr txBox="1"/>
          <p:nvPr/>
        </p:nvSpPr>
        <p:spPr>
          <a:xfrm>
            <a:off x="3493008" y="4270248"/>
            <a:ext cx="2377440" cy="274320"/>
          </a:xfrm>
          <a:prstGeom prst="rect">
            <a:avLst/>
          </a:prstGeom>
          <a:noFill/>
          <a:ln/>
        </p:spPr>
        <p:txBody>
          <a:bodyPr wrap="square" lIns="0" tIns="0" rIns="0" bIns="0" rtlCol="0" anchor="ctr"/>
          <a:lstStyle/>
          <a:p>
            <a:pPr indent="0" marL="0">
              <a:buNone/>
            </a:pPr>
            <a:r>
              <a:rPr lang="en-US" sz="1200" b="1" dirty="0">
                <a:solidFill>
                  <a:schemeClr val="tx2"/>
                </a:solidFill>
              </a:rPr>
              <a:t>Data variants</a:t>
            </a:r>
            <a:endParaRPr lang="en-US" sz="1200" dirty="0"/>
          </a:p>
        </p:txBody>
      </p:sp>
      <p:sp>
        <p:nvSpPr>
          <p:cNvPr id="41" name="hm_9_value"/>
          <p:cNvSpPr txBox="1"/>
          <p:nvPr/>
        </p:nvSpPr>
        <p:spPr>
          <a:xfrm>
            <a:off x="3493008" y="4526280"/>
            <a:ext cx="2377440" cy="411480"/>
          </a:xfrm>
          <a:prstGeom prst="rect">
            <a:avLst/>
          </a:prstGeom>
          <a:noFill/>
          <a:ln/>
        </p:spPr>
        <p:txBody>
          <a:bodyPr wrap="square" lIns="0" tIns="0" rIns="0" bIns="0" rtlCol="0" anchor="ctr"/>
          <a:lstStyle/>
          <a:p>
            <a:pPr indent="0" marL="0">
              <a:buNone/>
            </a:pPr>
            <a:r>
              <a:rPr lang="en-US" sz="2100" b="1" dirty="0">
                <a:solidFill>
                  <a:schemeClr val="accent2"/>
                </a:solidFill>
                <a:latin typeface="Cambria" pitchFamily="34" charset="0"/>
                <a:ea typeface="Cambria" pitchFamily="34" charset="-122"/>
                <a:cs typeface="Cambria" pitchFamily="34" charset="-120"/>
              </a:rPr>
              <a:t>−41.7 to −39.7</a:t>
            </a:r>
            <a:endParaRPr lang="en-US" sz="2100" dirty="0"/>
          </a:p>
        </p:txBody>
      </p:sp>
      <p:sp>
        <p:nvSpPr>
          <p:cNvPr id="42" name="hm_9_label"/>
          <p:cNvSpPr txBox="1"/>
          <p:nvPr/>
        </p:nvSpPr>
        <p:spPr>
          <a:xfrm>
            <a:off x="3493008" y="4946904"/>
            <a:ext cx="2377440" cy="548640"/>
          </a:xfrm>
          <a:prstGeom prst="rect">
            <a:avLst/>
          </a:prstGeom>
          <a:noFill/>
          <a:ln/>
        </p:spPr>
        <p:txBody>
          <a:bodyPr wrap="square" lIns="0" tIns="0" rIns="0" bIns="0" rtlCol="0" anchor="t"/>
          <a:lstStyle/>
          <a:p>
            <a:pPr indent="0" marL="0">
              <a:buNone/>
            </a:pPr>
            <a:r>
              <a:rPr lang="en-US" sz="1100" dirty="0">
                <a:solidFill>
                  <a:schemeClr val="tx2"/>
                </a:solidFill>
              </a:rPr>
              <a:t>2026 gap with CPI, core PCE, yearly GDP, revised or start-of-month data</a:t>
            </a:r>
            <a:endParaRPr lang="en-US" sz="1100" dirty="0"/>
          </a:p>
        </p:txBody>
      </p:sp>
      <p:sp>
        <p:nvSpPr>
          <p:cNvPr id="43" name="hm_10_box"/>
          <p:cNvSpPr/>
          <p:nvPr/>
        </p:nvSpPr>
        <p:spPr>
          <a:xfrm>
            <a:off x="6163056" y="4197096"/>
            <a:ext cx="2651760" cy="1325880"/>
          </a:xfrm>
          <a:prstGeom prst="roundRect">
            <a:avLst>
              <a:gd name="adj" fmla="val 5517"/>
            </a:avLst>
          </a:prstGeom>
          <a:solidFill>
            <a:schemeClr val="bg2"/>
          </a:solidFill>
          <a:ln w="12700">
            <a:solidFill>
              <a:schemeClr val="bg2"/>
            </a:solidFill>
            <a:prstDash val="solid"/>
          </a:ln>
        </p:spPr>
      </p:sp>
      <p:sp>
        <p:nvSpPr>
          <p:cNvPr id="44" name="hm_10_head"/>
          <p:cNvSpPr txBox="1"/>
          <p:nvPr/>
        </p:nvSpPr>
        <p:spPr>
          <a:xfrm>
            <a:off x="6300216" y="4270248"/>
            <a:ext cx="2377440" cy="274320"/>
          </a:xfrm>
          <a:prstGeom prst="rect">
            <a:avLst/>
          </a:prstGeom>
          <a:noFill/>
          <a:ln/>
        </p:spPr>
        <p:txBody>
          <a:bodyPr wrap="square" lIns="0" tIns="0" rIns="0" bIns="0" rtlCol="0" anchor="ctr"/>
          <a:lstStyle/>
          <a:p>
            <a:pPr indent="0" marL="0">
              <a:buNone/>
            </a:pPr>
            <a:r>
              <a:rPr lang="en-US" sz="1200" b="1" dirty="0">
                <a:solidFill>
                  <a:schemeClr val="tx2"/>
                </a:solidFill>
              </a:rPr>
              <a:t>Placebo shifts</a:t>
            </a:r>
            <a:endParaRPr lang="en-US" sz="1200" dirty="0"/>
          </a:p>
        </p:txBody>
      </p:sp>
      <p:sp>
        <p:nvSpPr>
          <p:cNvPr id="45" name="hm_10_value"/>
          <p:cNvSpPr txBox="1"/>
          <p:nvPr/>
        </p:nvSpPr>
        <p:spPr>
          <a:xfrm>
            <a:off x="6300216" y="4526280"/>
            <a:ext cx="2377440" cy="411480"/>
          </a:xfrm>
          <a:prstGeom prst="rect">
            <a:avLst/>
          </a:prstGeom>
          <a:noFill/>
          <a:ln/>
        </p:spPr>
        <p:txBody>
          <a:bodyPr wrap="square" lIns="0" tIns="0" rIns="0" bIns="0" rtlCol="0" anchor="ctr"/>
          <a:lstStyle/>
          <a:p>
            <a:pPr indent="0" marL="0">
              <a:buNone/>
            </a:pPr>
            <a:r>
              <a:rPr lang="en-US" sz="2100" b="1" dirty="0">
                <a:solidFill>
                  <a:schemeClr val="accent2"/>
                </a:solidFill>
                <a:latin typeface="Cambria" pitchFamily="34" charset="0"/>
                <a:ea typeface="Cambria" pitchFamily="34" charset="-122"/>
                <a:cs typeface="Cambria" pitchFamily="34" charset="-120"/>
              </a:rPr>
              <a:t>4.25 of 6</a:t>
            </a:r>
            <a:endParaRPr lang="en-US" sz="2100" dirty="0"/>
          </a:p>
        </p:txBody>
      </p:sp>
      <p:sp>
        <p:nvSpPr>
          <p:cNvPr id="46" name="hm_10_label"/>
          <p:cNvSpPr txBox="1"/>
          <p:nvPr/>
        </p:nvSpPr>
        <p:spPr>
          <a:xfrm>
            <a:off x="6300216" y="4946904"/>
            <a:ext cx="2377440" cy="548640"/>
          </a:xfrm>
          <a:prstGeom prst="rect">
            <a:avLst/>
          </a:prstGeom>
          <a:noFill/>
          <a:ln/>
        </p:spPr>
        <p:txBody>
          <a:bodyPr wrap="square" lIns="0" tIns="0" rIns="0" bIns="0" rtlCol="0" anchor="t"/>
          <a:lstStyle/>
          <a:p>
            <a:pPr indent="0" marL="0">
              <a:buNone/>
            </a:pPr>
            <a:r>
              <a:rPr lang="en-US" sz="1100" dirty="0">
                <a:solidFill>
                  <a:schemeClr val="tx2"/>
                </a:solidFill>
              </a:rPr>
              <a:t>news shifted 1-5 years out of line still 'wins': the 6 of 6 grid is weak evidence</a:t>
            </a:r>
            <a:endParaRPr lang="en-US" sz="1100" dirty="0"/>
          </a:p>
        </p:txBody>
      </p:sp>
      <p:sp>
        <p:nvSpPr>
          <p:cNvPr id="47" name="hm_11_box"/>
          <p:cNvSpPr/>
          <p:nvPr/>
        </p:nvSpPr>
        <p:spPr>
          <a:xfrm>
            <a:off x="8970264" y="4197096"/>
            <a:ext cx="2651760" cy="1325880"/>
          </a:xfrm>
          <a:prstGeom prst="roundRect">
            <a:avLst>
              <a:gd name="adj" fmla="val 5517"/>
            </a:avLst>
          </a:prstGeom>
          <a:solidFill>
            <a:schemeClr val="bg2"/>
          </a:solidFill>
          <a:ln w="12700">
            <a:solidFill>
              <a:schemeClr val="bg2"/>
            </a:solidFill>
            <a:prstDash val="solid"/>
          </a:ln>
        </p:spPr>
      </p:sp>
      <p:sp>
        <p:nvSpPr>
          <p:cNvPr id="48" name="hm_11_head"/>
          <p:cNvSpPr txBox="1"/>
          <p:nvPr/>
        </p:nvSpPr>
        <p:spPr>
          <a:xfrm>
            <a:off x="9107424" y="4270248"/>
            <a:ext cx="2377440" cy="274320"/>
          </a:xfrm>
          <a:prstGeom prst="rect">
            <a:avLst/>
          </a:prstGeom>
          <a:noFill/>
          <a:ln/>
        </p:spPr>
        <p:txBody>
          <a:bodyPr wrap="square" lIns="0" tIns="0" rIns="0" bIns="0" rtlCol="0" anchor="ctr"/>
          <a:lstStyle/>
          <a:p>
            <a:pPr indent="0" marL="0">
              <a:buNone/>
            </a:pPr>
            <a:r>
              <a:rPr lang="en-US" sz="1200" b="1" dirty="0">
                <a:solidFill>
                  <a:schemeClr val="tx2"/>
                </a:solidFill>
              </a:rPr>
              <a:t>Look-ahead fix</a:t>
            </a:r>
            <a:endParaRPr lang="en-US" sz="1200" dirty="0"/>
          </a:p>
        </p:txBody>
      </p:sp>
      <p:sp>
        <p:nvSpPr>
          <p:cNvPr id="49" name="hm_11_value"/>
          <p:cNvSpPr txBox="1"/>
          <p:nvPr/>
        </p:nvSpPr>
        <p:spPr>
          <a:xfrm>
            <a:off x="9107424" y="4526280"/>
            <a:ext cx="2377440" cy="411480"/>
          </a:xfrm>
          <a:prstGeom prst="rect">
            <a:avLst/>
          </a:prstGeom>
          <a:noFill/>
          <a:ln/>
        </p:spPr>
        <p:txBody>
          <a:bodyPr wrap="square" lIns="0" tIns="0" rIns="0" bIns="0" rtlCol="0" anchor="ctr"/>
          <a:lstStyle/>
          <a:p>
            <a:pPr indent="0" marL="0">
              <a:buNone/>
            </a:pPr>
            <a:r>
              <a:rPr lang="en-US" sz="2100" b="1" dirty="0">
                <a:solidFill>
                  <a:schemeClr val="accent2"/>
                </a:solidFill>
                <a:latin typeface="Cambria" pitchFamily="34" charset="0"/>
                <a:ea typeface="Cambria" pitchFamily="34" charset="-122"/>
                <a:cs typeface="Cambria" pitchFamily="34" charset="-120"/>
              </a:rPr>
              <a:t>0.037 → 0.053</a:t>
            </a:r>
            <a:endParaRPr lang="en-US" sz="2100" dirty="0"/>
          </a:p>
        </p:txBody>
      </p:sp>
      <p:sp>
        <p:nvSpPr>
          <p:cNvPr id="50" name="hm_11_label"/>
          <p:cNvSpPr txBox="1"/>
          <p:nvPr/>
        </p:nvSpPr>
        <p:spPr>
          <a:xfrm>
            <a:off x="9107424" y="4946904"/>
            <a:ext cx="2377440" cy="548640"/>
          </a:xfrm>
          <a:prstGeom prst="rect">
            <a:avLst/>
          </a:prstGeom>
          <a:noFill/>
          <a:ln/>
        </p:spPr>
        <p:txBody>
          <a:bodyPr wrap="square" lIns="0" tIns="0" rIns="0" bIns="0" rtlCol="0" anchor="t"/>
          <a:lstStyle/>
          <a:p>
            <a:pPr indent="0" marL="0">
              <a:buNone/>
            </a:pPr>
            <a:r>
              <a:rPr lang="en-US" sz="1100" dirty="0">
                <a:solidFill>
                  <a:schemeClr val="tx2"/>
                </a:solidFill>
              </a:rPr>
              <a:t>news forecast p once Tier C is re-trained month by month on past labels only</a:t>
            </a:r>
            <a:endParaRPr lang="en-US" sz="1100" dirty="0"/>
          </a:p>
        </p:txBody>
      </p:sp>
      <p:sp>
        <p:nvSpPr>
          <p:cNvPr id="51" name="takeaway_box"/>
          <p:cNvSpPr/>
          <p:nvPr/>
        </p:nvSpPr>
        <p:spPr>
          <a:xfrm>
            <a:off x="548640" y="5742432"/>
            <a:ext cx="11064240" cy="548640"/>
          </a:xfrm>
          <a:prstGeom prst="roundRect">
            <a:avLst>
              <a:gd name="adj" fmla="val 13333"/>
            </a:avLst>
          </a:prstGeom>
          <a:solidFill>
            <a:schemeClr val="bg2"/>
          </a:solidFill>
          <a:ln w="12700">
            <a:solidFill>
              <a:schemeClr val="bg2"/>
            </a:solidFill>
            <a:prstDash val="solid"/>
          </a:ln>
        </p:spPr>
      </p:sp>
      <p:sp>
        <p:nvSpPr>
          <p:cNvPr id="52" name="takeaway"/>
          <p:cNvSpPr txBox="1"/>
          <p:nvPr/>
        </p:nvSpPr>
        <p:spPr>
          <a:xfrm>
            <a:off x="777240" y="5742432"/>
            <a:ext cx="10698480" cy="548640"/>
          </a:xfrm>
          <a:prstGeom prst="rect">
            <a:avLst/>
          </a:prstGeom>
          <a:noFill/>
          <a:ln/>
        </p:spPr>
        <p:txBody>
          <a:bodyPr wrap="square" lIns="0" tIns="0" rIns="0" bIns="0" rtlCol="0" anchor="ctr"/>
          <a:lstStyle/>
          <a:p>
            <a:pPr indent="0" marL="0">
              <a:buNone/>
            </a:pPr>
            <a:r>
              <a:rPr lang="en-US" sz="1500" b="1" dirty="0">
                <a:solidFill>
                  <a:schemeClr val="accent1"/>
                </a:solidFill>
              </a:rPr>
              <a:t>Takeaway   </a:t>
            </a:r>
            <a:pPr indent="0" marL="0">
              <a:buNone/>
            </a:pPr>
            <a:r>
              <a:rPr lang="en-US" sz="1500" dirty="0">
                <a:solidFill>
                  <a:schemeClr val="tx1"/>
                </a:solidFill>
              </a:rPr>
              <a:t>Every side check points the same way: a real, broad gap that news does not explain.</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2800" b="1" dirty="0">
                <a:solidFill>
                  <a:schemeClr val="tx1"/>
                </a:solidFill>
              </a:rPr>
              <a:t>Backup: how Tier C was trained and checked</a:t>
            </a:r>
            <a:endParaRPr lang="en-US" sz="2800" dirty="0"/>
          </a:p>
        </p:txBody>
      </p:sp>
      <p:graphicFrame>
        <p:nvGraphicFramePr>
          <p:cNvPr id="3" name="tierc_chart" descr=""/>
          <p:cNvGraphicFramePr/>
          <p:nvPr/>
        </p:nvGraphicFramePr>
        <p:xfrm>
          <a:off x="548640" y="1325880"/>
          <a:ext cx="7406640" cy="4251960"/>
        </p:xfrm>
        <a:graphic xmlns:a="http://schemas.openxmlformats.org/drawingml/2006/main">
          <a:graphicData uri="http://schemas.openxmlformats.org/drawingml/2006/chart">
            <c:chart xmlns:c="http://schemas.openxmlformats.org/drawingml/2006/chart" r:id="rId1"/>
          </a:graphicData>
        </a:graphic>
      </p:graphicFrame>
      <p:sp>
        <p:nvSpPr>
          <p:cNvPr id="4" name="tierc_0_value"/>
          <p:cNvSpPr txBox="1"/>
          <p:nvPr/>
        </p:nvSpPr>
        <p:spPr>
          <a:xfrm>
            <a:off x="8412480" y="1417320"/>
            <a:ext cx="3291840" cy="685800"/>
          </a:xfrm>
          <a:prstGeom prst="rect">
            <a:avLst/>
          </a:prstGeom>
          <a:noFill/>
          <a:ln/>
        </p:spPr>
        <p:txBody>
          <a:bodyPr wrap="square" lIns="0" tIns="0" rIns="0" bIns="0" rtlCol="0" anchor="ctr"/>
          <a:lstStyle/>
          <a:p>
            <a:pPr indent="0" marL="0">
              <a:buNone/>
            </a:pPr>
            <a:r>
              <a:rPr lang="en-US" sz="3600" b="1" dirty="0">
                <a:solidFill>
                  <a:schemeClr val="accent2"/>
                </a:solidFill>
                <a:latin typeface="Cambria" pitchFamily="34" charset="0"/>
                <a:ea typeface="Cambria" pitchFamily="34" charset="-122"/>
                <a:cs typeface="Cambria" pitchFamily="34" charset="-120"/>
              </a:rPr>
              <a:t>8,173</a:t>
            </a:r>
            <a:endParaRPr lang="en-US" sz="3600" dirty="0"/>
          </a:p>
        </p:txBody>
      </p:sp>
      <p:sp>
        <p:nvSpPr>
          <p:cNvPr id="5" name="tierc_0_label"/>
          <p:cNvSpPr txBox="1"/>
          <p:nvPr/>
        </p:nvSpPr>
        <p:spPr>
          <a:xfrm>
            <a:off x="8412480" y="2103120"/>
            <a:ext cx="3291840" cy="685800"/>
          </a:xfrm>
          <a:prstGeom prst="rect">
            <a:avLst/>
          </a:prstGeom>
          <a:noFill/>
          <a:ln/>
        </p:spPr>
        <p:txBody>
          <a:bodyPr wrap="square" lIns="0" tIns="0" rIns="0" bIns="0" rtlCol="0" anchor="t"/>
          <a:lstStyle/>
          <a:p>
            <a:pPr indent="0" marL="0">
              <a:buNone/>
            </a:pPr>
            <a:r>
              <a:rPr lang="en-US" sz="1300" dirty="0">
                <a:solidFill>
                  <a:schemeClr val="tx2"/>
                </a:solidFill>
              </a:rPr>
              <a:t>Opus-labelled items it learned from (TF-IDF + logistic regression); gold items never used</a:t>
            </a:r>
            <a:endParaRPr lang="en-US" sz="1300" dirty="0"/>
          </a:p>
        </p:txBody>
      </p:sp>
      <p:sp>
        <p:nvSpPr>
          <p:cNvPr id="6" name="tierc_1_value"/>
          <p:cNvSpPr txBox="1"/>
          <p:nvPr/>
        </p:nvSpPr>
        <p:spPr>
          <a:xfrm>
            <a:off x="8412480" y="2852928"/>
            <a:ext cx="3291840" cy="685800"/>
          </a:xfrm>
          <a:prstGeom prst="rect">
            <a:avLst/>
          </a:prstGeom>
          <a:noFill/>
          <a:ln/>
        </p:spPr>
        <p:txBody>
          <a:bodyPr wrap="square" lIns="0" tIns="0" rIns="0" bIns="0" rtlCol="0" anchor="ctr"/>
          <a:lstStyle/>
          <a:p>
            <a:pPr indent="0" marL="0">
              <a:buNone/>
            </a:pPr>
            <a:r>
              <a:rPr lang="en-US" sz="3600" b="1" dirty="0">
                <a:solidFill>
                  <a:schemeClr val="accent2"/>
                </a:solidFill>
                <a:latin typeface="Cambria" pitchFamily="34" charset="0"/>
                <a:ea typeface="Cambria" pitchFamily="34" charset="-122"/>
                <a:cs typeface="Cambria" pitchFamily="34" charset="-120"/>
              </a:rPr>
              <a:t>r = 0.64</a:t>
            </a:r>
            <a:endParaRPr lang="en-US" sz="3600" dirty="0"/>
          </a:p>
        </p:txBody>
      </p:sp>
      <p:sp>
        <p:nvSpPr>
          <p:cNvPr id="7" name="tierc_1_label"/>
          <p:cNvSpPr txBox="1"/>
          <p:nvPr/>
        </p:nvSpPr>
        <p:spPr>
          <a:xfrm>
            <a:off x="8412480" y="3538728"/>
            <a:ext cx="3291840" cy="685800"/>
          </a:xfrm>
          <a:prstGeom prst="rect">
            <a:avLst/>
          </a:prstGeom>
          <a:noFill/>
          <a:ln/>
        </p:spPr>
        <p:txBody>
          <a:bodyPr wrap="square" lIns="0" tIns="0" rIns="0" bIns="0" rtlCol="0" anchor="t"/>
          <a:lstStyle/>
          <a:p>
            <a:pPr indent="0" marL="0">
              <a:buNone/>
            </a:pPr>
            <a:r>
              <a:rPr lang="en-US" sz="1300" dirty="0">
                <a:solidFill>
                  <a:schemeClr val="tx2"/>
                </a:solidFill>
              </a:rPr>
              <a:t>quarterly net negativity vs Opus's own labels, 50 quarters ("prices high" r = 0.89); not independent, as it learned from Opus</a:t>
            </a:r>
            <a:endParaRPr lang="en-US" sz="1300" dirty="0"/>
          </a:p>
        </p:txBody>
      </p:sp>
      <p:sp>
        <p:nvSpPr>
          <p:cNvPr id="8" name="tierc_2_value"/>
          <p:cNvSpPr txBox="1"/>
          <p:nvPr/>
        </p:nvSpPr>
        <p:spPr>
          <a:xfrm>
            <a:off x="8412480" y="4288536"/>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0.48 → 0.59</a:t>
            </a:r>
            <a:endParaRPr lang="en-US" sz="3600" dirty="0"/>
          </a:p>
        </p:txBody>
      </p:sp>
      <p:sp>
        <p:nvSpPr>
          <p:cNvPr id="9" name="tierc_2_label"/>
          <p:cNvSpPr txBox="1"/>
          <p:nvPr/>
        </p:nvSpPr>
        <p:spPr>
          <a:xfrm>
            <a:off x="8412480" y="4974336"/>
            <a:ext cx="3291840" cy="685800"/>
          </a:xfrm>
          <a:prstGeom prst="rect">
            <a:avLst/>
          </a:prstGeom>
          <a:noFill/>
          <a:ln/>
        </p:spPr>
        <p:txBody>
          <a:bodyPr wrap="square" lIns="0" tIns="0" rIns="0" bIns="0" rtlCol="0" anchor="t"/>
          <a:lstStyle/>
          <a:p>
            <a:pPr indent="0" marL="0">
              <a:buNone/>
            </a:pPr>
            <a:r>
              <a:rPr lang="en-US" sz="1300" dirty="0">
                <a:solidFill>
                  <a:schemeClr val="tx2"/>
                </a:solidFill>
              </a:rPr>
              <a:t>cross-validated tone F1 from 450 to 3,811 training labels: more labels, better</a:t>
            </a:r>
            <a:endParaRPr lang="en-US" sz="1300" dirty="0"/>
          </a:p>
        </p:txBody>
      </p:sp>
      <p:sp>
        <p:nvSpPr>
          <p:cNvPr id="10" name="takeaway_box"/>
          <p:cNvSpPr/>
          <p:nvPr/>
        </p:nvSpPr>
        <p:spPr>
          <a:xfrm>
            <a:off x="548640" y="5742432"/>
            <a:ext cx="11064240" cy="548640"/>
          </a:xfrm>
          <a:prstGeom prst="roundRect">
            <a:avLst>
              <a:gd name="adj" fmla="val 13333"/>
            </a:avLst>
          </a:prstGeom>
          <a:solidFill>
            <a:schemeClr val="bg2"/>
          </a:solidFill>
          <a:ln w="12700">
            <a:solidFill>
              <a:schemeClr val="bg2"/>
            </a:solidFill>
            <a:prstDash val="solid"/>
          </a:ln>
        </p:spPr>
      </p:sp>
      <p:sp>
        <p:nvSpPr>
          <p:cNvPr id="11" name="takeaway"/>
          <p:cNvSpPr txBox="1"/>
          <p:nvPr/>
        </p:nvSpPr>
        <p:spPr>
          <a:xfrm>
            <a:off x="777240" y="5742432"/>
            <a:ext cx="10698480" cy="548640"/>
          </a:xfrm>
          <a:prstGeom prst="rect">
            <a:avLst/>
          </a:prstGeom>
          <a:noFill/>
          <a:ln/>
        </p:spPr>
        <p:txBody>
          <a:bodyPr wrap="square" lIns="0" tIns="0" rIns="0" bIns="0" rtlCol="0" anchor="ctr"/>
          <a:lstStyle/>
          <a:p>
            <a:pPr indent="0" marL="0">
              <a:buNone/>
            </a:pPr>
            <a:r>
              <a:rPr lang="en-US" sz="1500" b="1" dirty="0">
                <a:solidFill>
                  <a:schemeClr val="accent1"/>
                </a:solidFill>
              </a:rPr>
              <a:t>Takeaway   </a:t>
            </a:r>
            <a:pPr indent="0" marL="0">
              <a:buNone/>
            </a:pPr>
            <a:r>
              <a:rPr lang="en-US" sz="1500" dirty="0">
                <a:solidFill>
                  <a:schemeClr val="tx1"/>
                </a:solidFill>
              </a:rPr>
              <a:t>Low training error, good on topics and relevance, weakest on tone, and it agrees with Opus over time.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2800" b="1" dirty="0">
                <a:solidFill>
                  <a:schemeClr val="tx1"/>
                </a:solidFill>
              </a:rPr>
              <a:t>Backup: the project from brief to hand-in</a:t>
            </a:r>
            <a:endParaRPr lang="en-US" sz="2800" dirty="0"/>
          </a:p>
        </p:txBody>
      </p:sp>
      <p:sp>
        <p:nvSpPr>
          <p:cNvPr id="3" name="flow_1_box"/>
          <p:cNvSpPr/>
          <p:nvPr/>
        </p:nvSpPr>
        <p:spPr>
          <a:xfrm>
            <a:off x="548640" y="1325880"/>
            <a:ext cx="3246120" cy="1280160"/>
          </a:xfrm>
          <a:prstGeom prst="roundRect">
            <a:avLst>
              <a:gd name="adj" fmla="val 5714"/>
            </a:avLst>
          </a:prstGeom>
          <a:solidFill>
            <a:schemeClr val="bg2"/>
          </a:solidFill>
          <a:ln w="9525">
            <a:solidFill>
              <a:srgbClr val="D5DBE3"/>
            </a:solidFill>
            <a:prstDash val="solid"/>
          </a:ln>
        </p:spPr>
      </p:sp>
      <p:sp>
        <p:nvSpPr>
          <p:cNvPr id="4" name="flow_1_circle"/>
          <p:cNvSpPr/>
          <p:nvPr/>
        </p:nvSpPr>
        <p:spPr>
          <a:xfrm>
            <a:off x="685800" y="1435608"/>
            <a:ext cx="365760" cy="365760"/>
          </a:xfrm>
          <a:prstGeom prst="ellipse">
            <a:avLst/>
          </a:prstGeom>
          <a:solidFill>
            <a:schemeClr val="accent4"/>
          </a:solidFill>
          <a:ln w="12700">
            <a:solidFill>
              <a:schemeClr val="accent4"/>
            </a:solidFill>
            <a:prstDash val="solid"/>
          </a:ln>
        </p:spPr>
      </p:sp>
      <p:sp>
        <p:nvSpPr>
          <p:cNvPr id="5" name="flow_1_tag"/>
          <p:cNvSpPr txBox="1"/>
          <p:nvPr/>
        </p:nvSpPr>
        <p:spPr>
          <a:xfrm>
            <a:off x="685800" y="143560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flow_1_title"/>
          <p:cNvSpPr txBox="1"/>
          <p:nvPr/>
        </p:nvSpPr>
        <p:spPr>
          <a:xfrm>
            <a:off x="1143000" y="1399032"/>
            <a:ext cx="2514600" cy="438912"/>
          </a:xfrm>
          <a:prstGeom prst="rect">
            <a:avLst/>
          </a:prstGeom>
          <a:noFill/>
          <a:ln/>
        </p:spPr>
        <p:txBody>
          <a:bodyPr wrap="square" lIns="0" tIns="0" rIns="0" bIns="0" rtlCol="0" anchor="ctr"/>
          <a:lstStyle/>
          <a:p>
            <a:pPr indent="0" marL="0">
              <a:buNone/>
            </a:pPr>
            <a:r>
              <a:rPr lang="en-US" sz="1500" b="1" dirty="0">
                <a:solidFill>
                  <a:schemeClr val="tx1"/>
                </a:solidFill>
              </a:rPr>
              <a:t>The question</a:t>
            </a:r>
            <a:endParaRPr lang="en-US" sz="1500" dirty="0"/>
          </a:p>
        </p:txBody>
      </p:sp>
      <p:sp>
        <p:nvSpPr>
          <p:cNvPr id="7" name="flow_1_body"/>
          <p:cNvSpPr txBox="1"/>
          <p:nvPr/>
        </p:nvSpPr>
        <p:spPr>
          <a:xfrm>
            <a:off x="713232" y="1856232"/>
            <a:ext cx="2916936" cy="694944"/>
          </a:xfrm>
          <a:prstGeom prst="rect">
            <a:avLst/>
          </a:prstGeom>
          <a:noFill/>
          <a:ln/>
        </p:spPr>
        <p:txBody>
          <a:bodyPr wrap="square" lIns="0" tIns="0" rIns="0" bIns="0" rtlCol="0" anchor="t"/>
          <a:lstStyle/>
          <a:p>
            <a:pPr indent="0" marL="0">
              <a:buNone/>
            </a:pPr>
            <a:r>
              <a:rPr lang="en-US" sz="1100" dirty="0">
                <a:solidFill>
                  <a:schemeClr val="tx2"/>
                </a:solidFill>
              </a:rPr>
              <a:t>Why is Michigan sentiment far below the economy before the midterms? H1 pressures, H2 media, H3 measurement; RQ1 to RQ6.</a:t>
            </a:r>
            <a:endParaRPr lang="en-US" sz="1100" dirty="0"/>
          </a:p>
        </p:txBody>
      </p:sp>
      <p:sp>
        <p:nvSpPr>
          <p:cNvPr id="8" name="flow_2_box"/>
          <p:cNvSpPr/>
          <p:nvPr/>
        </p:nvSpPr>
        <p:spPr>
          <a:xfrm>
            <a:off x="4457700" y="1325880"/>
            <a:ext cx="3246120" cy="1280160"/>
          </a:xfrm>
          <a:prstGeom prst="roundRect">
            <a:avLst>
              <a:gd name="adj" fmla="val 5714"/>
            </a:avLst>
          </a:prstGeom>
          <a:solidFill>
            <a:schemeClr val="bg2"/>
          </a:solidFill>
          <a:ln w="9525">
            <a:solidFill>
              <a:srgbClr val="D5DBE3"/>
            </a:solidFill>
            <a:prstDash val="solid"/>
          </a:ln>
        </p:spPr>
      </p:sp>
      <p:sp>
        <p:nvSpPr>
          <p:cNvPr id="9" name="flow_2_circle"/>
          <p:cNvSpPr/>
          <p:nvPr/>
        </p:nvSpPr>
        <p:spPr>
          <a:xfrm>
            <a:off x="4594860" y="1435608"/>
            <a:ext cx="365760" cy="365760"/>
          </a:xfrm>
          <a:prstGeom prst="ellipse">
            <a:avLst/>
          </a:prstGeom>
          <a:solidFill>
            <a:schemeClr val="accent6"/>
          </a:solidFill>
          <a:ln w="12700">
            <a:solidFill>
              <a:schemeClr val="accent6"/>
            </a:solidFill>
            <a:prstDash val="solid"/>
          </a:ln>
        </p:spPr>
      </p:sp>
      <p:sp>
        <p:nvSpPr>
          <p:cNvPr id="10" name="flow_2_tag"/>
          <p:cNvSpPr txBox="1"/>
          <p:nvPr/>
        </p:nvSpPr>
        <p:spPr>
          <a:xfrm>
            <a:off x="4594860" y="143560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1" name="flow_2_title"/>
          <p:cNvSpPr txBox="1"/>
          <p:nvPr/>
        </p:nvSpPr>
        <p:spPr>
          <a:xfrm>
            <a:off x="5052060" y="1399032"/>
            <a:ext cx="2514600" cy="438912"/>
          </a:xfrm>
          <a:prstGeom prst="rect">
            <a:avLst/>
          </a:prstGeom>
          <a:noFill/>
          <a:ln/>
        </p:spPr>
        <p:txBody>
          <a:bodyPr wrap="square" lIns="0" tIns="0" rIns="0" bIns="0" rtlCol="0" anchor="ctr"/>
          <a:lstStyle/>
          <a:p>
            <a:pPr indent="0" marL="0">
              <a:buNone/>
            </a:pPr>
            <a:r>
              <a:rPr lang="en-US" sz="1500" b="1" dirty="0">
                <a:solidFill>
                  <a:schemeClr val="tx1"/>
                </a:solidFill>
              </a:rPr>
              <a:t>Plan before tests</a:t>
            </a:r>
            <a:endParaRPr lang="en-US" sz="1500" dirty="0"/>
          </a:p>
        </p:txBody>
      </p:sp>
      <p:sp>
        <p:nvSpPr>
          <p:cNvPr id="12" name="flow_2_body"/>
          <p:cNvSpPr txBox="1"/>
          <p:nvPr/>
        </p:nvSpPr>
        <p:spPr>
          <a:xfrm>
            <a:off x="4622292" y="1856232"/>
            <a:ext cx="2916936" cy="694944"/>
          </a:xfrm>
          <a:prstGeom prst="rect">
            <a:avLst/>
          </a:prstGeom>
          <a:noFill/>
          <a:ln/>
        </p:spPr>
        <p:txBody>
          <a:bodyPr wrap="square" lIns="0" tIns="0" rIns="0" bIns="0" rtlCol="0" anchor="t"/>
          <a:lstStyle/>
          <a:p>
            <a:pPr indent="0" marL="0">
              <a:buNone/>
            </a:pPr>
            <a:r>
              <a:rPr lang="en-US" sz="1100" dirty="0">
                <a:solidFill>
                  <a:schemeClr val="tx2"/>
                </a:solidFill>
              </a:rPr>
              <a:t>Plan checked by verification agents; tests, signs and falsifiers pre-registered before any model, coding or test.</a:t>
            </a:r>
            <a:endParaRPr lang="en-US" sz="1100" dirty="0"/>
          </a:p>
        </p:txBody>
      </p:sp>
      <p:sp>
        <p:nvSpPr>
          <p:cNvPr id="13" name="flow_3_box"/>
          <p:cNvSpPr/>
          <p:nvPr/>
        </p:nvSpPr>
        <p:spPr>
          <a:xfrm>
            <a:off x="8366760" y="1325880"/>
            <a:ext cx="3246120" cy="1280160"/>
          </a:xfrm>
          <a:prstGeom prst="roundRect">
            <a:avLst>
              <a:gd name="adj" fmla="val 5714"/>
            </a:avLst>
          </a:prstGeom>
          <a:solidFill>
            <a:schemeClr val="bg2"/>
          </a:solidFill>
          <a:ln w="9525">
            <a:solidFill>
              <a:srgbClr val="D5DBE3"/>
            </a:solidFill>
            <a:prstDash val="solid"/>
          </a:ln>
        </p:spPr>
      </p:sp>
      <p:sp>
        <p:nvSpPr>
          <p:cNvPr id="14" name="flow_3_circle"/>
          <p:cNvSpPr/>
          <p:nvPr/>
        </p:nvSpPr>
        <p:spPr>
          <a:xfrm>
            <a:off x="8503920" y="1435608"/>
            <a:ext cx="365760" cy="365760"/>
          </a:xfrm>
          <a:prstGeom prst="ellipse">
            <a:avLst/>
          </a:prstGeom>
          <a:solidFill>
            <a:schemeClr val="accent5"/>
          </a:solidFill>
          <a:ln w="12700">
            <a:solidFill>
              <a:schemeClr val="accent5"/>
            </a:solidFill>
            <a:prstDash val="solid"/>
          </a:ln>
        </p:spPr>
      </p:sp>
      <p:sp>
        <p:nvSpPr>
          <p:cNvPr id="15" name="flow_3_tag"/>
          <p:cNvSpPr txBox="1"/>
          <p:nvPr/>
        </p:nvSpPr>
        <p:spPr>
          <a:xfrm>
            <a:off x="8503920" y="143560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flow_3_title"/>
          <p:cNvSpPr txBox="1"/>
          <p:nvPr/>
        </p:nvSpPr>
        <p:spPr>
          <a:xfrm>
            <a:off x="8961120" y="1399032"/>
            <a:ext cx="2514600" cy="438912"/>
          </a:xfrm>
          <a:prstGeom prst="rect">
            <a:avLst/>
          </a:prstGeom>
          <a:noFill/>
          <a:ln/>
        </p:spPr>
        <p:txBody>
          <a:bodyPr wrap="square" lIns="0" tIns="0" rIns="0" bIns="0" rtlCol="0" anchor="ctr"/>
          <a:lstStyle/>
          <a:p>
            <a:pPr indent="0" marL="0">
              <a:buNone/>
            </a:pPr>
            <a:r>
              <a:rPr lang="en-US" sz="1500" b="1" dirty="0">
                <a:solidFill>
                  <a:schemeClr val="tx1"/>
                </a:solidFill>
              </a:rPr>
              <a:t>Data</a:t>
            </a:r>
            <a:endParaRPr lang="en-US" sz="1500" dirty="0"/>
          </a:p>
        </p:txBody>
      </p:sp>
      <p:sp>
        <p:nvSpPr>
          <p:cNvPr id="17" name="flow_3_body"/>
          <p:cNvSpPr txBox="1"/>
          <p:nvPr/>
        </p:nvSpPr>
        <p:spPr>
          <a:xfrm>
            <a:off x="8531352" y="1856232"/>
            <a:ext cx="2916936" cy="694944"/>
          </a:xfrm>
          <a:prstGeom prst="rect">
            <a:avLst/>
          </a:prstGeom>
          <a:noFill/>
          <a:ln/>
        </p:spPr>
        <p:txBody>
          <a:bodyPr wrap="square" lIns="0" tIns="0" rIns="0" bIns="0" rtlCol="0" anchor="t"/>
          <a:lstStyle/>
          <a:p>
            <a:pPr indent="0" marL="0">
              <a:buNone/>
            </a:pPr>
            <a:r>
              <a:rPr lang="en-US" sz="1100" dirty="0">
                <a:solidFill>
                  <a:schemeClr val="tx2"/>
                </a:solidFill>
              </a:rPr>
              <a:t>Economy as published by day 14 of each month (ALFRED); 602,189 headlines from 34 outlets; 50,926 Reddit posts.</a:t>
            </a:r>
            <a:endParaRPr lang="en-US" sz="1100" dirty="0"/>
          </a:p>
        </p:txBody>
      </p:sp>
      <p:sp>
        <p:nvSpPr>
          <p:cNvPr id="18" name="flow_4_box"/>
          <p:cNvSpPr/>
          <p:nvPr/>
        </p:nvSpPr>
        <p:spPr>
          <a:xfrm>
            <a:off x="8366760" y="2834640"/>
            <a:ext cx="3246120" cy="1280160"/>
          </a:xfrm>
          <a:prstGeom prst="roundRect">
            <a:avLst>
              <a:gd name="adj" fmla="val 5714"/>
            </a:avLst>
          </a:prstGeom>
          <a:solidFill>
            <a:schemeClr val="bg2"/>
          </a:solidFill>
          <a:ln w="9525">
            <a:solidFill>
              <a:srgbClr val="D5DBE3"/>
            </a:solidFill>
            <a:prstDash val="solid"/>
          </a:ln>
        </p:spPr>
      </p:sp>
      <p:sp>
        <p:nvSpPr>
          <p:cNvPr id="19" name="flow_4_circle"/>
          <p:cNvSpPr/>
          <p:nvPr/>
        </p:nvSpPr>
        <p:spPr>
          <a:xfrm>
            <a:off x="8503920" y="2944368"/>
            <a:ext cx="365760" cy="365760"/>
          </a:xfrm>
          <a:prstGeom prst="ellipse">
            <a:avLst/>
          </a:prstGeom>
          <a:solidFill>
            <a:schemeClr val="accent2"/>
          </a:solidFill>
          <a:ln w="12700">
            <a:solidFill>
              <a:schemeClr val="accent2"/>
            </a:solidFill>
            <a:prstDash val="solid"/>
          </a:ln>
        </p:spPr>
      </p:sp>
      <p:sp>
        <p:nvSpPr>
          <p:cNvPr id="20" name="flow_4_tag"/>
          <p:cNvSpPr txBox="1"/>
          <p:nvPr/>
        </p:nvSpPr>
        <p:spPr>
          <a:xfrm>
            <a:off x="8503920" y="29443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1" name="flow_4_title"/>
          <p:cNvSpPr txBox="1"/>
          <p:nvPr/>
        </p:nvSpPr>
        <p:spPr>
          <a:xfrm>
            <a:off x="8961120" y="2907792"/>
            <a:ext cx="2514600" cy="438912"/>
          </a:xfrm>
          <a:prstGeom prst="rect">
            <a:avLst/>
          </a:prstGeom>
          <a:noFill/>
          <a:ln/>
        </p:spPr>
        <p:txBody>
          <a:bodyPr wrap="square" lIns="0" tIns="0" rIns="0" bIns="0" rtlCol="0" anchor="ctr"/>
          <a:lstStyle/>
          <a:p>
            <a:pPr indent="0" marL="0">
              <a:buNone/>
            </a:pPr>
            <a:r>
              <a:rPr lang="en-US" sz="1500" b="1" dirty="0">
                <a:solidFill>
                  <a:schemeClr val="tx1"/>
                </a:solidFill>
              </a:rPr>
              <a:t>Measuring</a:t>
            </a:r>
            <a:endParaRPr lang="en-US" sz="1500" dirty="0"/>
          </a:p>
        </p:txBody>
      </p:sp>
      <p:sp>
        <p:nvSpPr>
          <p:cNvPr id="22" name="flow_4_body"/>
          <p:cNvSpPr txBox="1"/>
          <p:nvPr/>
        </p:nvSpPr>
        <p:spPr>
          <a:xfrm>
            <a:off x="8531352" y="3364992"/>
            <a:ext cx="2916936" cy="694944"/>
          </a:xfrm>
          <a:prstGeom prst="rect">
            <a:avLst/>
          </a:prstGeom>
          <a:noFill/>
          <a:ln/>
        </p:spPr>
        <p:txBody>
          <a:bodyPr wrap="square" lIns="0" tIns="0" rIns="0" bIns="0" rtlCol="0" anchor="t"/>
          <a:lstStyle/>
          <a:p>
            <a:pPr indent="0" marL="0">
              <a:buNone/>
            </a:pPr>
            <a:r>
              <a:rPr lang="en-US" sz="1100" dirty="0">
                <a:solidFill>
                  <a:schemeClr val="tx2"/>
                </a:solidFill>
              </a:rPr>
              <a:t>Codebook with benchmarks; Claude Opus labels 9,373 items blind; Tier C, trained on Opus labels, scores every headline.</a:t>
            </a:r>
            <a:endParaRPr lang="en-US" sz="1100" dirty="0"/>
          </a:p>
        </p:txBody>
      </p:sp>
      <p:sp>
        <p:nvSpPr>
          <p:cNvPr id="23" name="flow_5_box"/>
          <p:cNvSpPr/>
          <p:nvPr/>
        </p:nvSpPr>
        <p:spPr>
          <a:xfrm>
            <a:off x="4457700" y="2834640"/>
            <a:ext cx="3246120" cy="1280160"/>
          </a:xfrm>
          <a:prstGeom prst="roundRect">
            <a:avLst>
              <a:gd name="adj" fmla="val 5714"/>
            </a:avLst>
          </a:prstGeom>
          <a:solidFill>
            <a:schemeClr val="bg2"/>
          </a:solidFill>
          <a:ln w="9525">
            <a:solidFill>
              <a:srgbClr val="D5DBE3"/>
            </a:solidFill>
            <a:prstDash val="solid"/>
          </a:ln>
        </p:spPr>
      </p:sp>
      <p:sp>
        <p:nvSpPr>
          <p:cNvPr id="24" name="flow_5_circle"/>
          <p:cNvSpPr/>
          <p:nvPr/>
        </p:nvSpPr>
        <p:spPr>
          <a:xfrm>
            <a:off x="4594860" y="2944368"/>
            <a:ext cx="365760" cy="365760"/>
          </a:xfrm>
          <a:prstGeom prst="ellipse">
            <a:avLst/>
          </a:prstGeom>
          <a:solidFill>
            <a:schemeClr val="accent3"/>
          </a:solidFill>
          <a:ln w="12700">
            <a:solidFill>
              <a:schemeClr val="accent3"/>
            </a:solidFill>
            <a:prstDash val="solid"/>
          </a:ln>
        </p:spPr>
      </p:sp>
      <p:sp>
        <p:nvSpPr>
          <p:cNvPr id="25" name="flow_5_tag"/>
          <p:cNvSpPr txBox="1"/>
          <p:nvPr/>
        </p:nvSpPr>
        <p:spPr>
          <a:xfrm>
            <a:off x="4594860" y="29443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6" name="flow_5_title"/>
          <p:cNvSpPr txBox="1"/>
          <p:nvPr/>
        </p:nvSpPr>
        <p:spPr>
          <a:xfrm>
            <a:off x="5052060" y="2907792"/>
            <a:ext cx="2514600" cy="438912"/>
          </a:xfrm>
          <a:prstGeom prst="rect">
            <a:avLst/>
          </a:prstGeom>
          <a:noFill/>
          <a:ln/>
        </p:spPr>
        <p:txBody>
          <a:bodyPr wrap="square" lIns="0" tIns="0" rIns="0" bIns="0" rtlCol="0" anchor="ctr"/>
          <a:lstStyle/>
          <a:p>
            <a:pPr indent="0" marL="0">
              <a:buNone/>
            </a:pPr>
            <a:r>
              <a:rPr lang="en-US" sz="1500" b="1" dirty="0">
                <a:solidFill>
                  <a:schemeClr val="tx1"/>
                </a:solidFill>
              </a:rPr>
              <a:t>Testing</a:t>
            </a:r>
            <a:endParaRPr lang="en-US" sz="1500" dirty="0"/>
          </a:p>
        </p:txBody>
      </p:sp>
      <p:sp>
        <p:nvSpPr>
          <p:cNvPr id="27" name="flow_5_body"/>
          <p:cNvSpPr txBox="1"/>
          <p:nvPr/>
        </p:nvSpPr>
        <p:spPr>
          <a:xfrm>
            <a:off x="4622292" y="3364992"/>
            <a:ext cx="2916936" cy="694944"/>
          </a:xfrm>
          <a:prstGeom prst="rect">
            <a:avLst/>
          </a:prstGeom>
          <a:noFill/>
          <a:ln/>
        </p:spPr>
        <p:txBody>
          <a:bodyPr wrap="square" lIns="0" tIns="0" rIns="0" bIns="0" rtlCol="0" anchor="t"/>
          <a:lstStyle/>
          <a:p>
            <a:pPr indent="0" marL="0">
              <a:buNone/>
            </a:pPr>
            <a:r>
              <a:rPr lang="en-US" sz="1100" dirty="0">
                <a:solidFill>
                  <a:schemeClr val="tx2"/>
                </a:solidFill>
              </a:rPr>
              <a:t>Economy-only model: 2026 gap −39.9 index points, 16% of the fall explained. Bias, impact, forecast and falsifier tests.</a:t>
            </a:r>
            <a:endParaRPr lang="en-US" sz="1100" dirty="0"/>
          </a:p>
        </p:txBody>
      </p:sp>
      <p:sp>
        <p:nvSpPr>
          <p:cNvPr id="28" name="flow_6_box"/>
          <p:cNvSpPr/>
          <p:nvPr/>
        </p:nvSpPr>
        <p:spPr>
          <a:xfrm>
            <a:off x="548640" y="2834640"/>
            <a:ext cx="3246120" cy="1280160"/>
          </a:xfrm>
          <a:prstGeom prst="roundRect">
            <a:avLst>
              <a:gd name="adj" fmla="val 5714"/>
            </a:avLst>
          </a:prstGeom>
          <a:solidFill>
            <a:schemeClr val="bg2"/>
          </a:solidFill>
          <a:ln w="9525">
            <a:solidFill>
              <a:srgbClr val="D5DBE3"/>
            </a:solidFill>
            <a:prstDash val="solid"/>
          </a:ln>
        </p:spPr>
      </p:sp>
      <p:sp>
        <p:nvSpPr>
          <p:cNvPr id="29" name="flow_6_circle"/>
          <p:cNvSpPr/>
          <p:nvPr/>
        </p:nvSpPr>
        <p:spPr>
          <a:xfrm>
            <a:off x="685800" y="2944368"/>
            <a:ext cx="365760" cy="365760"/>
          </a:xfrm>
          <a:prstGeom prst="ellipse">
            <a:avLst/>
          </a:prstGeom>
          <a:solidFill>
            <a:schemeClr val="accent1"/>
          </a:solidFill>
          <a:ln w="12700">
            <a:solidFill>
              <a:schemeClr val="accent1"/>
            </a:solidFill>
            <a:prstDash val="solid"/>
          </a:ln>
        </p:spPr>
      </p:sp>
      <p:sp>
        <p:nvSpPr>
          <p:cNvPr id="30" name="flow_6_tag"/>
          <p:cNvSpPr txBox="1"/>
          <p:nvPr/>
        </p:nvSpPr>
        <p:spPr>
          <a:xfrm>
            <a:off x="685800" y="29443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1" name="flow_6_title"/>
          <p:cNvSpPr txBox="1"/>
          <p:nvPr/>
        </p:nvSpPr>
        <p:spPr>
          <a:xfrm>
            <a:off x="1143000" y="2907792"/>
            <a:ext cx="2514600" cy="438912"/>
          </a:xfrm>
          <a:prstGeom prst="rect">
            <a:avLst/>
          </a:prstGeom>
          <a:noFill/>
          <a:ln/>
        </p:spPr>
        <p:txBody>
          <a:bodyPr wrap="square" lIns="0" tIns="0" rIns="0" bIns="0" rtlCol="0" anchor="ctr"/>
          <a:lstStyle/>
          <a:p>
            <a:pPr indent="0" marL="0">
              <a:buNone/>
            </a:pPr>
            <a:r>
              <a:rPr lang="en-US" sz="1500" b="1" dirty="0">
                <a:solidFill>
                  <a:schemeClr val="tx1"/>
                </a:solidFill>
              </a:rPr>
              <a:t>Building</a:t>
            </a:r>
            <a:endParaRPr lang="en-US" sz="1500" dirty="0"/>
          </a:p>
        </p:txBody>
      </p:sp>
      <p:sp>
        <p:nvSpPr>
          <p:cNvPr id="32" name="flow_6_body"/>
          <p:cNvSpPr txBox="1"/>
          <p:nvPr/>
        </p:nvSpPr>
        <p:spPr>
          <a:xfrm>
            <a:off x="713232" y="3364992"/>
            <a:ext cx="2916936" cy="694944"/>
          </a:xfrm>
          <a:prstGeom prst="rect">
            <a:avLst/>
          </a:prstGeom>
          <a:noFill/>
          <a:ln/>
        </p:spPr>
        <p:txBody>
          <a:bodyPr wrap="square" lIns="0" tIns="0" rIns="0" bIns="0" rtlCol="0" anchor="t"/>
          <a:lstStyle/>
          <a:p>
            <a:pPr indent="0" marL="0">
              <a:buNone/>
            </a:pPr>
            <a:r>
              <a:rPr lang="en-US" sz="1100" dirty="0">
                <a:solidFill>
                  <a:schemeClr val="tx2"/>
                </a:solidFill>
              </a:rPr>
              <a:t>Figures, dashboard, this deck, the 12-page report and the notebook, all rebuilt from the saved outputs.</a:t>
            </a:r>
            <a:endParaRPr lang="en-US" sz="1100" dirty="0"/>
          </a:p>
        </p:txBody>
      </p:sp>
      <p:sp>
        <p:nvSpPr>
          <p:cNvPr id="33" name="flow_7_box"/>
          <p:cNvSpPr/>
          <p:nvPr/>
        </p:nvSpPr>
        <p:spPr>
          <a:xfrm>
            <a:off x="548640" y="4343400"/>
            <a:ext cx="3246120" cy="1280160"/>
          </a:xfrm>
          <a:prstGeom prst="roundRect">
            <a:avLst>
              <a:gd name="adj" fmla="val 5714"/>
            </a:avLst>
          </a:prstGeom>
          <a:solidFill>
            <a:schemeClr val="bg2"/>
          </a:solidFill>
          <a:ln w="9525">
            <a:solidFill>
              <a:srgbClr val="D5DBE3"/>
            </a:solidFill>
            <a:prstDash val="solid"/>
          </a:ln>
        </p:spPr>
      </p:sp>
      <p:sp>
        <p:nvSpPr>
          <p:cNvPr id="34" name="flow_7_circle"/>
          <p:cNvSpPr/>
          <p:nvPr/>
        </p:nvSpPr>
        <p:spPr>
          <a:xfrm>
            <a:off x="685800" y="4453128"/>
            <a:ext cx="365760" cy="365760"/>
          </a:xfrm>
          <a:prstGeom prst="ellipse">
            <a:avLst/>
          </a:prstGeom>
          <a:solidFill>
            <a:schemeClr val="accent6"/>
          </a:solidFill>
          <a:ln w="12700">
            <a:solidFill>
              <a:schemeClr val="accent6"/>
            </a:solidFill>
            <a:prstDash val="solid"/>
          </a:ln>
        </p:spPr>
      </p:sp>
      <p:sp>
        <p:nvSpPr>
          <p:cNvPr id="35" name="flow_7_tag"/>
          <p:cNvSpPr txBox="1"/>
          <p:nvPr/>
        </p:nvSpPr>
        <p:spPr>
          <a:xfrm>
            <a:off x="685800" y="44531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36" name="flow_7_title"/>
          <p:cNvSpPr txBox="1"/>
          <p:nvPr/>
        </p:nvSpPr>
        <p:spPr>
          <a:xfrm>
            <a:off x="1143000" y="4416552"/>
            <a:ext cx="2514600" cy="438912"/>
          </a:xfrm>
          <a:prstGeom prst="rect">
            <a:avLst/>
          </a:prstGeom>
          <a:noFill/>
          <a:ln/>
        </p:spPr>
        <p:txBody>
          <a:bodyPr wrap="square" lIns="0" tIns="0" rIns="0" bIns="0" rtlCol="0" anchor="ctr"/>
          <a:lstStyle/>
          <a:p>
            <a:pPr indent="0" marL="0">
              <a:buNone/>
            </a:pPr>
            <a:r>
              <a:rPr lang="en-US" sz="1500" b="1" dirty="0">
                <a:solidFill>
                  <a:schemeClr val="tx1"/>
                </a:solidFill>
              </a:rPr>
              <a:t>Checking</a:t>
            </a:r>
            <a:endParaRPr lang="en-US" sz="1500" dirty="0"/>
          </a:p>
        </p:txBody>
      </p:sp>
      <p:sp>
        <p:nvSpPr>
          <p:cNvPr id="37" name="flow_7_body"/>
          <p:cNvSpPr txBox="1"/>
          <p:nvPr/>
        </p:nvSpPr>
        <p:spPr>
          <a:xfrm>
            <a:off x="713232" y="4873752"/>
            <a:ext cx="2916936" cy="694944"/>
          </a:xfrm>
          <a:prstGeom prst="rect">
            <a:avLst/>
          </a:prstGeom>
          <a:noFill/>
          <a:ln/>
        </p:spPr>
        <p:txBody>
          <a:bodyPr wrap="square" lIns="0" tIns="0" rIns="0" bIns="0" rtlCol="0" anchor="t"/>
          <a:lstStyle/>
          <a:p>
            <a:pPr indent="0" marL="0">
              <a:buNone/>
            </a:pPr>
            <a:r>
              <a:rPr lang="en-US" sz="1100" dirty="0">
                <a:solidFill>
                  <a:schemeClr val="tx2"/>
                </a:solidFill>
              </a:rPr>
              <a:t>Fresh reviewer agents recompute every number; each fix is a recorded note, then everything after it is rebuilt.</a:t>
            </a:r>
            <a:endParaRPr lang="en-US" sz="1100" dirty="0"/>
          </a:p>
        </p:txBody>
      </p:sp>
      <p:sp>
        <p:nvSpPr>
          <p:cNvPr id="38" name="flow_8_box"/>
          <p:cNvSpPr/>
          <p:nvPr/>
        </p:nvSpPr>
        <p:spPr>
          <a:xfrm>
            <a:off x="4457700" y="4343400"/>
            <a:ext cx="3246120" cy="1280160"/>
          </a:xfrm>
          <a:prstGeom prst="roundRect">
            <a:avLst>
              <a:gd name="adj" fmla="val 5714"/>
            </a:avLst>
          </a:prstGeom>
          <a:solidFill>
            <a:schemeClr val="bg2"/>
          </a:solidFill>
          <a:ln w="9525">
            <a:solidFill>
              <a:srgbClr val="D5DBE3"/>
            </a:solidFill>
            <a:prstDash val="solid"/>
          </a:ln>
        </p:spPr>
      </p:sp>
      <p:sp>
        <p:nvSpPr>
          <p:cNvPr id="39" name="flow_8_circle"/>
          <p:cNvSpPr/>
          <p:nvPr/>
        </p:nvSpPr>
        <p:spPr>
          <a:xfrm>
            <a:off x="4594860" y="4453128"/>
            <a:ext cx="365760" cy="365760"/>
          </a:xfrm>
          <a:prstGeom prst="ellipse">
            <a:avLst/>
          </a:prstGeom>
          <a:solidFill>
            <a:schemeClr val="accent2"/>
          </a:solidFill>
          <a:ln w="12700">
            <a:solidFill>
              <a:schemeClr val="accent2"/>
            </a:solidFill>
            <a:prstDash val="solid"/>
          </a:ln>
        </p:spPr>
      </p:sp>
      <p:sp>
        <p:nvSpPr>
          <p:cNvPr id="40" name="flow_8_tag"/>
          <p:cNvSpPr txBox="1"/>
          <p:nvPr/>
        </p:nvSpPr>
        <p:spPr>
          <a:xfrm>
            <a:off x="4594860" y="44531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41" name="flow_8_title"/>
          <p:cNvSpPr txBox="1"/>
          <p:nvPr/>
        </p:nvSpPr>
        <p:spPr>
          <a:xfrm>
            <a:off x="5052060" y="4416552"/>
            <a:ext cx="2514600" cy="438912"/>
          </a:xfrm>
          <a:prstGeom prst="rect">
            <a:avLst/>
          </a:prstGeom>
          <a:noFill/>
          <a:ln/>
        </p:spPr>
        <p:txBody>
          <a:bodyPr wrap="square" lIns="0" tIns="0" rIns="0" bIns="0" rtlCol="0" anchor="ctr"/>
          <a:lstStyle/>
          <a:p>
            <a:pPr indent="0" marL="0">
              <a:buNone/>
            </a:pPr>
            <a:r>
              <a:rPr lang="en-US" sz="1500" b="1" dirty="0">
                <a:solidFill>
                  <a:schemeClr val="tx1"/>
                </a:solidFill>
              </a:rPr>
              <a:t>Validating the coder</a:t>
            </a:r>
            <a:endParaRPr lang="en-US" sz="1500" dirty="0"/>
          </a:p>
        </p:txBody>
      </p:sp>
      <p:sp>
        <p:nvSpPr>
          <p:cNvPr id="42" name="flow_8_body"/>
          <p:cNvSpPr txBox="1"/>
          <p:nvPr/>
        </p:nvSpPr>
        <p:spPr>
          <a:xfrm>
            <a:off x="4622292" y="4873752"/>
            <a:ext cx="2916936" cy="694944"/>
          </a:xfrm>
          <a:prstGeom prst="rect">
            <a:avLst/>
          </a:prstGeom>
          <a:noFill/>
          <a:ln/>
        </p:spPr>
        <p:txBody>
          <a:bodyPr wrap="square" lIns="0" tIns="0" rIns="0" bIns="0" rtlCol="0" anchor="t"/>
          <a:lstStyle/>
          <a:p>
            <a:pPr indent="0" marL="0">
              <a:buNone/>
            </a:pPr>
            <a:r>
              <a:rPr lang="en-US" sz="1100" dirty="0">
                <a:solidFill>
                  <a:schemeClr val="tx2"/>
                </a:solidFill>
              </a:rPr>
              <a:t>Answer key: Sonnet and Haiku passes plus my corrections, Fable settles 163 items. Opus macro-F1 0.84 to 0.98.</a:t>
            </a:r>
            <a:endParaRPr lang="en-US" sz="1100" dirty="0"/>
          </a:p>
        </p:txBody>
      </p:sp>
      <p:sp>
        <p:nvSpPr>
          <p:cNvPr id="43" name="flow_9_box"/>
          <p:cNvSpPr/>
          <p:nvPr/>
        </p:nvSpPr>
        <p:spPr>
          <a:xfrm>
            <a:off x="8366760" y="4343400"/>
            <a:ext cx="3246120" cy="1280160"/>
          </a:xfrm>
          <a:prstGeom prst="roundRect">
            <a:avLst>
              <a:gd name="adj" fmla="val 5714"/>
            </a:avLst>
          </a:prstGeom>
          <a:solidFill>
            <a:schemeClr val="bg2"/>
          </a:solidFill>
          <a:ln w="9525">
            <a:solidFill>
              <a:srgbClr val="D5DBE3"/>
            </a:solidFill>
            <a:prstDash val="solid"/>
          </a:ln>
        </p:spPr>
      </p:sp>
      <p:sp>
        <p:nvSpPr>
          <p:cNvPr id="44" name="flow_9_circle"/>
          <p:cNvSpPr/>
          <p:nvPr/>
        </p:nvSpPr>
        <p:spPr>
          <a:xfrm>
            <a:off x="8503920" y="4453128"/>
            <a:ext cx="365760" cy="365760"/>
          </a:xfrm>
          <a:prstGeom prst="ellipse">
            <a:avLst/>
          </a:prstGeom>
          <a:solidFill>
            <a:schemeClr val="accent4"/>
          </a:solidFill>
          <a:ln w="12700">
            <a:solidFill>
              <a:schemeClr val="accent4"/>
            </a:solidFill>
            <a:prstDash val="solid"/>
          </a:ln>
        </p:spPr>
      </p:sp>
      <p:sp>
        <p:nvSpPr>
          <p:cNvPr id="45" name="flow_9_tag"/>
          <p:cNvSpPr txBox="1"/>
          <p:nvPr/>
        </p:nvSpPr>
        <p:spPr>
          <a:xfrm>
            <a:off x="8503920" y="44531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46" name="flow_9_title"/>
          <p:cNvSpPr txBox="1"/>
          <p:nvPr/>
        </p:nvSpPr>
        <p:spPr>
          <a:xfrm>
            <a:off x="8961120" y="4416552"/>
            <a:ext cx="2514600" cy="438912"/>
          </a:xfrm>
          <a:prstGeom prst="rect">
            <a:avLst/>
          </a:prstGeom>
          <a:noFill/>
          <a:ln/>
        </p:spPr>
        <p:txBody>
          <a:bodyPr wrap="square" lIns="0" tIns="0" rIns="0" bIns="0" rtlCol="0" anchor="ctr"/>
          <a:lstStyle/>
          <a:p>
            <a:pPr indent="0" marL="0">
              <a:buNone/>
            </a:pPr>
            <a:r>
              <a:rPr lang="en-US" sz="1500" b="1" dirty="0">
                <a:solidFill>
                  <a:schemeClr val="tx1"/>
                </a:solidFill>
              </a:rPr>
              <a:t>Hand-in</a:t>
            </a:r>
            <a:endParaRPr lang="en-US" sz="1500" dirty="0"/>
          </a:p>
        </p:txBody>
      </p:sp>
      <p:sp>
        <p:nvSpPr>
          <p:cNvPr id="47" name="flow_9_body"/>
          <p:cNvSpPr txBox="1"/>
          <p:nvPr/>
        </p:nvSpPr>
        <p:spPr>
          <a:xfrm>
            <a:off x="8531352" y="4873752"/>
            <a:ext cx="2916936" cy="694944"/>
          </a:xfrm>
          <a:prstGeom prst="rect">
            <a:avLst/>
          </a:prstGeom>
          <a:noFill/>
          <a:ln/>
        </p:spPr>
        <p:txBody>
          <a:bodyPr wrap="square" lIns="0" tIns="0" rIns="0" bIns="0" rtlCol="0" anchor="t"/>
          <a:lstStyle/>
          <a:p>
            <a:pPr indent="0" marL="0">
              <a:buNone/>
            </a:pPr>
            <a:r>
              <a:rPr lang="en-US" sz="1100" dirty="0">
                <a:solidFill>
                  <a:schemeClr val="tx2"/>
                </a:solidFill>
              </a:rPr>
              <a:t>Report, deck and repo; the dashboard's update plan covers data after the Oct 12 cutoff.</a:t>
            </a:r>
            <a:endParaRPr lang="en-US" sz="1100" dirty="0"/>
          </a:p>
        </p:txBody>
      </p:sp>
      <p:sp>
        <p:nvSpPr>
          <p:cNvPr id="48" name="flow_arrow_1"/>
          <p:cNvSpPr/>
          <p:nvPr/>
        </p:nvSpPr>
        <p:spPr>
          <a:xfrm>
            <a:off x="3886200" y="1965960"/>
            <a:ext cx="480060" cy="0"/>
          </a:xfrm>
          <a:prstGeom prst="line">
            <a:avLst/>
          </a:prstGeom>
          <a:noFill/>
          <a:ln w="22225">
            <a:solidFill>
              <a:srgbClr val="7A8699"/>
            </a:solidFill>
            <a:prstDash val="solid"/>
            <a:tailEnd type="triangle"/>
          </a:ln>
        </p:spPr>
      </p:sp>
      <p:sp>
        <p:nvSpPr>
          <p:cNvPr id="49" name="flow_arrow_2"/>
          <p:cNvSpPr/>
          <p:nvPr/>
        </p:nvSpPr>
        <p:spPr>
          <a:xfrm>
            <a:off x="7795260" y="1965960"/>
            <a:ext cx="480060" cy="0"/>
          </a:xfrm>
          <a:prstGeom prst="line">
            <a:avLst/>
          </a:prstGeom>
          <a:noFill/>
          <a:ln w="22225">
            <a:solidFill>
              <a:srgbClr val="7A8699"/>
            </a:solidFill>
            <a:prstDash val="solid"/>
            <a:tailEnd type="triangle"/>
          </a:ln>
        </p:spPr>
      </p:sp>
      <p:sp>
        <p:nvSpPr>
          <p:cNvPr id="50" name="flow_arrow_3"/>
          <p:cNvSpPr/>
          <p:nvPr/>
        </p:nvSpPr>
        <p:spPr>
          <a:xfrm>
            <a:off x="9989820" y="2633472"/>
            <a:ext cx="0" cy="173736"/>
          </a:xfrm>
          <a:prstGeom prst="line">
            <a:avLst/>
          </a:prstGeom>
          <a:noFill/>
          <a:ln w="22225">
            <a:solidFill>
              <a:srgbClr val="7A8699"/>
            </a:solidFill>
            <a:prstDash val="solid"/>
            <a:tailEnd type="triangle"/>
          </a:ln>
        </p:spPr>
      </p:sp>
      <p:sp>
        <p:nvSpPr>
          <p:cNvPr id="51" name="flow_arrow_4"/>
          <p:cNvSpPr/>
          <p:nvPr/>
        </p:nvSpPr>
        <p:spPr>
          <a:xfrm>
            <a:off x="7795260" y="3474720"/>
            <a:ext cx="480060" cy="0"/>
          </a:xfrm>
          <a:prstGeom prst="line">
            <a:avLst/>
          </a:prstGeom>
          <a:noFill/>
          <a:ln w="22225">
            <a:solidFill>
              <a:srgbClr val="7A8699"/>
            </a:solidFill>
            <a:prstDash val="solid"/>
            <a:headEnd type="triangle"/>
          </a:ln>
        </p:spPr>
      </p:sp>
      <p:sp>
        <p:nvSpPr>
          <p:cNvPr id="52" name="flow_arrow_5"/>
          <p:cNvSpPr/>
          <p:nvPr/>
        </p:nvSpPr>
        <p:spPr>
          <a:xfrm>
            <a:off x="3886200" y="3474720"/>
            <a:ext cx="480060" cy="0"/>
          </a:xfrm>
          <a:prstGeom prst="line">
            <a:avLst/>
          </a:prstGeom>
          <a:noFill/>
          <a:ln w="22225">
            <a:solidFill>
              <a:srgbClr val="7A8699"/>
            </a:solidFill>
            <a:prstDash val="solid"/>
            <a:headEnd type="triangle"/>
          </a:ln>
        </p:spPr>
      </p:sp>
      <p:sp>
        <p:nvSpPr>
          <p:cNvPr id="53" name="flow_arrow_6"/>
          <p:cNvSpPr/>
          <p:nvPr/>
        </p:nvSpPr>
        <p:spPr>
          <a:xfrm>
            <a:off x="2171700" y="4142232"/>
            <a:ext cx="0" cy="173736"/>
          </a:xfrm>
          <a:prstGeom prst="line">
            <a:avLst/>
          </a:prstGeom>
          <a:noFill/>
          <a:ln w="22225">
            <a:solidFill>
              <a:srgbClr val="7A8699"/>
            </a:solidFill>
            <a:prstDash val="solid"/>
            <a:tailEnd type="triangle"/>
          </a:ln>
        </p:spPr>
      </p:sp>
      <p:sp>
        <p:nvSpPr>
          <p:cNvPr id="54" name="flow_arrow_7"/>
          <p:cNvSpPr/>
          <p:nvPr/>
        </p:nvSpPr>
        <p:spPr>
          <a:xfrm>
            <a:off x="3886200" y="4983480"/>
            <a:ext cx="480060" cy="0"/>
          </a:xfrm>
          <a:prstGeom prst="line">
            <a:avLst/>
          </a:prstGeom>
          <a:noFill/>
          <a:ln w="22225">
            <a:solidFill>
              <a:srgbClr val="7A8699"/>
            </a:solidFill>
            <a:prstDash val="solid"/>
            <a:tailEnd type="triangle"/>
          </a:ln>
        </p:spPr>
      </p:sp>
      <p:sp>
        <p:nvSpPr>
          <p:cNvPr id="55" name="flow_arrow_8"/>
          <p:cNvSpPr/>
          <p:nvPr/>
        </p:nvSpPr>
        <p:spPr>
          <a:xfrm>
            <a:off x="7795260" y="4983480"/>
            <a:ext cx="480060" cy="0"/>
          </a:xfrm>
          <a:prstGeom prst="line">
            <a:avLst/>
          </a:prstGeom>
          <a:noFill/>
          <a:ln w="22225">
            <a:solidFill>
              <a:srgbClr val="7A8699"/>
            </a:solidFill>
            <a:prstDash val="solid"/>
            <a:tailEnd type="triangle"/>
          </a:ln>
        </p:spPr>
      </p:sp>
      <p:sp>
        <p:nvSpPr>
          <p:cNvPr id="56" name="takeaway_box"/>
          <p:cNvSpPr/>
          <p:nvPr/>
        </p:nvSpPr>
        <p:spPr>
          <a:xfrm>
            <a:off x="548640" y="5742432"/>
            <a:ext cx="11064240" cy="548640"/>
          </a:xfrm>
          <a:prstGeom prst="roundRect">
            <a:avLst>
              <a:gd name="adj" fmla="val 13333"/>
            </a:avLst>
          </a:prstGeom>
          <a:solidFill>
            <a:schemeClr val="bg2"/>
          </a:solidFill>
          <a:ln w="12700">
            <a:solidFill>
              <a:schemeClr val="bg2"/>
            </a:solidFill>
            <a:prstDash val="solid"/>
          </a:ln>
        </p:spPr>
      </p:sp>
      <p:sp>
        <p:nvSpPr>
          <p:cNvPr id="57" name="takeaway"/>
          <p:cNvSpPr txBox="1"/>
          <p:nvPr/>
        </p:nvSpPr>
        <p:spPr>
          <a:xfrm>
            <a:off x="777240" y="5742432"/>
            <a:ext cx="10698480" cy="548640"/>
          </a:xfrm>
          <a:prstGeom prst="rect">
            <a:avLst/>
          </a:prstGeom>
          <a:noFill/>
          <a:ln/>
        </p:spPr>
        <p:txBody>
          <a:bodyPr wrap="square" lIns="0" tIns="0" rIns="0" bIns="0" rtlCol="0" anchor="ctr"/>
          <a:lstStyle/>
          <a:p>
            <a:pPr indent="0" marL="0">
              <a:buNone/>
            </a:pPr>
            <a:r>
              <a:rPr lang="en-US" sz="1500" b="1" dirty="0">
                <a:solidFill>
                  <a:schemeClr val="accent1"/>
                </a:solidFill>
              </a:rPr>
              <a:t>Takeaway   </a:t>
            </a:r>
            <a:pPr indent="0" marL="0">
              <a:buNone/>
            </a:pPr>
            <a:r>
              <a:rPr lang="en-US" sz="1500" dirty="0">
                <a:solidFill>
                  <a:schemeClr val="tx1"/>
                </a:solidFill>
              </a:rPr>
              <a:t>Rules first, tests second, checks last; anything added after the main results is marked exploratory.</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l"/>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Deciphering the disconnect between economic data and the mood of American Consumers</dc:title>
  <dc:subject>PptxGenJS Presentation</dc:subject>
  <dc:creator>Aditya Gupta</dc:creator>
  <cp:lastModifiedBy>Aditya Gupta</cp:lastModifiedBy>
  <cp:revision>1</cp:revision>
</cp:coreProperties>
</file>