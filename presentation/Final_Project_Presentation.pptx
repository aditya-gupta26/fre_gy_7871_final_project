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b6956b3-feda-c264-c3d8-c467dfa16aa6}">
          <p14:sldIdLst>
            <p14:sldId id="256"/>
          </p14:sldIdLst>
        </p14:section>
        <p14:section name="The gap" id="{68d3629f-ea44-5446-80b9-14873b31ceac}">
          <p14:sldIdLst>
            <p14:sldId id="257"/>
          </p14:sldIdLst>
        </p14:section>
        <p14:section name="Approach" id="{e9ff5336-ca0e-b188-2115-d3416f797601}">
          <p14:sldIdLst>
            <p14:sldId id="258"/>
          </p14:sldIdLst>
        </p14:section>
        <p14:section name="Measuring the media" id="{c2ae2788-0502-fba2-61e1-fe79767da660}">
          <p14:sldIdLst>
            <p14:sldId id="259"/>
            <p14:sldId id="260"/>
          </p14:sldIdLst>
        </p14:section>
        <p14:section name="Impact" id="{4a6e6975-5060-b170-1ee4-c11158b6297a}">
          <p14:sldIdLst>
            <p14:sldId id="261"/>
            <p14:sldId id="262"/>
          </p14:sldIdLst>
        </p14:section>
        <p14:section name="Forecasting" id="{af4c7dd6-b234-3828-a6d2-04ca21826bdb}">
          <p14:sldIdLst>
            <p14:sldId id="263"/>
          </p14:sldIdLst>
        </p14:section>
        <p14:section name="Implication" id="{a0c1fd1d-e03a-1163-55d0-3e6d93e5c25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Michigan sentiment (ICS)</c:v>
                </c:pt>
              </c:strCache>
            </c:strRef>
          </c:tx>
          <c:spPr>
            <a:solidFill>
              <a:srgbClr val="1B2333"/>
            </a:solidFill>
            <a:ln w="25400" cap="flat">
              <a:solidFill>
                <a:srgbClr val="1B2333"/>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B2333"/>
              </a:solidFill>
              <a:ln w="9525" cap="flat">
                <a:solidFill>
                  <a:srgbClr val="1B2333"/>
                </a:solidFill>
                <a:prstDash val="solid"/>
                <a:round/>
              </a:ln>
              <a:effectLst/>
            </c:spPr>
          </c:marker>
          <c:cat>
            <c:multiLvlStrRef>
              <c:f>Sheet1!$A$2:$A$203</c:f>
              <c:multiLvlStrCache>
                <c:ptCount val="202"/>
                <c:lvl>
                  <c:pt idx="0">
                    <c:v>Jan 2010</c:v>
                  </c:pt>
                  <c:pt idx="1">
                    <c:v>Feb 2010</c:v>
                  </c:pt>
                  <c:pt idx="2">
                    <c:v>Mar 2010</c:v>
                  </c:pt>
                  <c:pt idx="3">
                    <c:v>Apr 2010</c:v>
                  </c:pt>
                  <c:pt idx="4">
                    <c:v>May 2010</c:v>
                  </c:pt>
                  <c:pt idx="5">
                    <c:v>Jun 2010</c:v>
                  </c:pt>
                  <c:pt idx="6">
                    <c:v>Jul 2010</c:v>
                  </c:pt>
                  <c:pt idx="7">
                    <c:v>Aug 2010</c:v>
                  </c:pt>
                  <c:pt idx="8">
                    <c:v>Sep 2010</c:v>
                  </c:pt>
                  <c:pt idx="9">
                    <c:v>Oct 2010</c:v>
                  </c:pt>
                  <c:pt idx="10">
                    <c:v>Nov 2010</c:v>
                  </c:pt>
                  <c:pt idx="11">
                    <c:v>Dec 2010</c:v>
                  </c:pt>
                  <c:pt idx="12">
                    <c:v>Jan 2011</c:v>
                  </c:pt>
                  <c:pt idx="13">
                    <c:v>Feb 2011</c:v>
                  </c:pt>
                  <c:pt idx="14">
                    <c:v>Mar 2011</c:v>
                  </c:pt>
                  <c:pt idx="15">
                    <c:v>Apr 2011</c:v>
                  </c:pt>
                  <c:pt idx="16">
                    <c:v>May 2011</c:v>
                  </c:pt>
                  <c:pt idx="17">
                    <c:v>Jun 2011</c:v>
                  </c:pt>
                  <c:pt idx="18">
                    <c:v>Jul 2011</c:v>
                  </c:pt>
                  <c:pt idx="19">
                    <c:v>Aug 2011</c:v>
                  </c:pt>
                  <c:pt idx="20">
                    <c:v>Sep 2011</c:v>
                  </c:pt>
                  <c:pt idx="21">
                    <c:v>Oct 2011</c:v>
                  </c:pt>
                  <c:pt idx="22">
                    <c:v>Nov 2011</c:v>
                  </c:pt>
                  <c:pt idx="23">
                    <c:v>Dec 2011</c:v>
                  </c:pt>
                  <c:pt idx="24">
                    <c:v>Jan 2012</c:v>
                  </c:pt>
                  <c:pt idx="25">
                    <c:v>Feb 2012</c:v>
                  </c:pt>
                  <c:pt idx="26">
                    <c:v>Mar 2012</c:v>
                  </c:pt>
                  <c:pt idx="27">
                    <c:v>Apr 2012</c:v>
                  </c:pt>
                  <c:pt idx="28">
                    <c:v>May 2012</c:v>
                  </c:pt>
                  <c:pt idx="29">
                    <c:v>Jun 2012</c:v>
                  </c:pt>
                  <c:pt idx="30">
                    <c:v>Jul 2012</c:v>
                  </c:pt>
                  <c:pt idx="31">
                    <c:v>Aug 2012</c:v>
                  </c:pt>
                  <c:pt idx="32">
                    <c:v>Sep 2012</c:v>
                  </c:pt>
                  <c:pt idx="33">
                    <c:v>Oct 2012</c:v>
                  </c:pt>
                  <c:pt idx="34">
                    <c:v>Nov 2012</c:v>
                  </c:pt>
                  <c:pt idx="35">
                    <c:v>Dec 2012</c:v>
                  </c:pt>
                  <c:pt idx="36">
                    <c:v>Jan 2013</c:v>
                  </c:pt>
                  <c:pt idx="37">
                    <c:v>Feb 2013</c:v>
                  </c:pt>
                  <c:pt idx="38">
                    <c:v>Mar 2013</c:v>
                  </c:pt>
                  <c:pt idx="39">
                    <c:v>Apr 2013</c:v>
                  </c:pt>
                  <c:pt idx="40">
                    <c:v>May 2013</c:v>
                  </c:pt>
                  <c:pt idx="41">
                    <c:v>Jun 2013</c:v>
                  </c:pt>
                  <c:pt idx="42">
                    <c:v>Jul 2013</c:v>
                  </c:pt>
                  <c:pt idx="43">
                    <c:v>Aug 2013</c:v>
                  </c:pt>
                  <c:pt idx="44">
                    <c:v>Sep 2013</c:v>
                  </c:pt>
                  <c:pt idx="45">
                    <c:v>Oct 2013</c:v>
                  </c:pt>
                  <c:pt idx="46">
                    <c:v>Nov 2013</c:v>
                  </c:pt>
                  <c:pt idx="47">
                    <c:v>Dec 2013</c:v>
                  </c:pt>
                  <c:pt idx="48">
                    <c:v>Jan 2014</c:v>
                  </c:pt>
                  <c:pt idx="49">
                    <c:v>Feb 2014</c:v>
                  </c:pt>
                  <c:pt idx="50">
                    <c:v>Mar 2014</c:v>
                  </c:pt>
                  <c:pt idx="51">
                    <c:v>Apr 2014</c:v>
                  </c:pt>
                  <c:pt idx="52">
                    <c:v>May 2014</c:v>
                  </c:pt>
                  <c:pt idx="53">
                    <c:v>Jun 2014</c:v>
                  </c:pt>
                  <c:pt idx="54">
                    <c:v>Jul 2014</c:v>
                  </c:pt>
                  <c:pt idx="55">
                    <c:v>Aug 2014</c:v>
                  </c:pt>
                  <c:pt idx="56">
                    <c:v>Sep 2014</c:v>
                  </c:pt>
                  <c:pt idx="57">
                    <c:v>Oct 2014</c:v>
                  </c:pt>
                  <c:pt idx="58">
                    <c:v>Nov 2014</c:v>
                  </c:pt>
                  <c:pt idx="59">
                    <c:v>Dec 2014</c:v>
                  </c:pt>
                  <c:pt idx="60">
                    <c:v>Jan 2015</c:v>
                  </c:pt>
                  <c:pt idx="61">
                    <c:v>Feb 2015</c:v>
                  </c:pt>
                  <c:pt idx="62">
                    <c:v>Mar 2015</c:v>
                  </c:pt>
                  <c:pt idx="63">
                    <c:v>Apr 2015</c:v>
                  </c:pt>
                  <c:pt idx="64">
                    <c:v>May 2015</c:v>
                  </c:pt>
                  <c:pt idx="65">
                    <c:v>Jun 2015</c:v>
                  </c:pt>
                  <c:pt idx="66">
                    <c:v>Jul 2015</c:v>
                  </c:pt>
                  <c:pt idx="67">
                    <c:v>Aug 2015</c:v>
                  </c:pt>
                  <c:pt idx="68">
                    <c:v>Sep 2015</c:v>
                  </c:pt>
                  <c:pt idx="69">
                    <c:v>Oct 2015</c:v>
                  </c:pt>
                  <c:pt idx="70">
                    <c:v>Nov 2015</c:v>
                  </c:pt>
                  <c:pt idx="71">
                    <c:v>Dec 2015</c:v>
                  </c:pt>
                  <c:pt idx="72">
                    <c:v>Jan 2016</c:v>
                  </c:pt>
                  <c:pt idx="73">
                    <c:v>Feb 2016</c:v>
                  </c:pt>
                  <c:pt idx="74">
                    <c:v>Mar 2016</c:v>
                  </c:pt>
                  <c:pt idx="75">
                    <c:v>Apr 2016</c:v>
                  </c:pt>
                  <c:pt idx="76">
                    <c:v>May 2016</c:v>
                  </c:pt>
                  <c:pt idx="77">
                    <c:v>Jun 2016</c:v>
                  </c:pt>
                  <c:pt idx="78">
                    <c:v>Jul 2016</c:v>
                  </c:pt>
                  <c:pt idx="79">
                    <c:v>Aug 2016</c:v>
                  </c:pt>
                  <c:pt idx="80">
                    <c:v>Sep 2016</c:v>
                  </c:pt>
                  <c:pt idx="81">
                    <c:v>Oct 2016</c:v>
                  </c:pt>
                  <c:pt idx="82">
                    <c:v>Nov 2016</c:v>
                  </c:pt>
                  <c:pt idx="83">
                    <c:v>Dec 2016</c:v>
                  </c:pt>
                  <c:pt idx="84">
                    <c:v>Jan 2017</c:v>
                  </c:pt>
                  <c:pt idx="85">
                    <c:v>Feb 2017</c:v>
                  </c:pt>
                  <c:pt idx="86">
                    <c:v>Mar 2017</c:v>
                  </c:pt>
                  <c:pt idx="87">
                    <c:v>Apr 2017</c:v>
                  </c:pt>
                  <c:pt idx="88">
                    <c:v>May 2017</c:v>
                  </c:pt>
                  <c:pt idx="89">
                    <c:v>Jun 2017</c:v>
                  </c:pt>
                  <c:pt idx="90">
                    <c:v>Jul 2017</c:v>
                  </c:pt>
                  <c:pt idx="91">
                    <c:v>Aug 2017</c:v>
                  </c:pt>
                  <c:pt idx="92">
                    <c:v>Sep 2017</c:v>
                  </c:pt>
                  <c:pt idx="93">
                    <c:v>Oct 2017</c:v>
                  </c:pt>
                  <c:pt idx="94">
                    <c:v>Nov 2017</c:v>
                  </c:pt>
                  <c:pt idx="95">
                    <c:v>Dec 2017</c:v>
                  </c:pt>
                  <c:pt idx="96">
                    <c:v>Jan 2018</c:v>
                  </c:pt>
                  <c:pt idx="97">
                    <c:v>Feb 2018</c:v>
                  </c:pt>
                  <c:pt idx="98">
                    <c:v>Mar 2018</c:v>
                  </c:pt>
                  <c:pt idx="99">
                    <c:v>Apr 2018</c:v>
                  </c:pt>
                  <c:pt idx="100">
                    <c:v>May 2018</c:v>
                  </c:pt>
                  <c:pt idx="101">
                    <c:v>Jun 2018</c:v>
                  </c:pt>
                  <c:pt idx="102">
                    <c:v>Jul 2018</c:v>
                  </c:pt>
                  <c:pt idx="103">
                    <c:v>Aug 2018</c:v>
                  </c:pt>
                  <c:pt idx="104">
                    <c:v>Sep 2018</c:v>
                  </c:pt>
                  <c:pt idx="105">
                    <c:v>Oct 2018</c:v>
                  </c:pt>
                  <c:pt idx="106">
                    <c:v>Nov 2018</c:v>
                  </c:pt>
                  <c:pt idx="107">
                    <c:v>Dec 2018</c:v>
                  </c:pt>
                  <c:pt idx="108">
                    <c:v>Jan 2019</c:v>
                  </c:pt>
                  <c:pt idx="109">
                    <c:v>Feb 2019</c:v>
                  </c:pt>
                  <c:pt idx="110">
                    <c:v>Mar 2019</c:v>
                  </c:pt>
                  <c:pt idx="111">
                    <c:v>Apr 2019</c:v>
                  </c:pt>
                  <c:pt idx="112">
                    <c:v>May 2019</c:v>
                  </c:pt>
                  <c:pt idx="113">
                    <c:v>Jun 2019</c:v>
                  </c:pt>
                  <c:pt idx="114">
                    <c:v>Jul 2019</c:v>
                  </c:pt>
                  <c:pt idx="115">
                    <c:v>Aug 2019</c:v>
                  </c:pt>
                  <c:pt idx="116">
                    <c:v>Sep 2019</c:v>
                  </c:pt>
                  <c:pt idx="117">
                    <c:v>Oct 2019</c:v>
                  </c:pt>
                  <c:pt idx="118">
                    <c:v>Nov 2019</c:v>
                  </c:pt>
                  <c:pt idx="119">
                    <c:v>Dec 2019</c:v>
                  </c:pt>
                  <c:pt idx="120">
                    <c:v>Jan 2020</c:v>
                  </c:pt>
                  <c:pt idx="121">
                    <c:v>Feb 2020</c:v>
                  </c:pt>
                  <c:pt idx="122">
                    <c:v>Mar 2020</c:v>
                  </c:pt>
                  <c:pt idx="123">
                    <c:v>Apr 2020</c:v>
                  </c:pt>
                  <c:pt idx="124">
                    <c:v>May 2020</c:v>
                  </c:pt>
                  <c:pt idx="125">
                    <c:v>Jun 2020</c:v>
                  </c:pt>
                  <c:pt idx="126">
                    <c:v>Jul 2020</c:v>
                  </c:pt>
                  <c:pt idx="127">
                    <c:v>Aug 2020</c:v>
                  </c:pt>
                  <c:pt idx="128">
                    <c:v>Sep 2020</c:v>
                  </c:pt>
                  <c:pt idx="129">
                    <c:v>Oct 2020</c:v>
                  </c:pt>
                  <c:pt idx="130">
                    <c:v>Nov 2020</c:v>
                  </c:pt>
                  <c:pt idx="131">
                    <c:v>Dec 2020</c:v>
                  </c:pt>
                  <c:pt idx="132">
                    <c:v>Jan 2021</c:v>
                  </c:pt>
                  <c:pt idx="133">
                    <c:v>Feb 2021</c:v>
                  </c:pt>
                  <c:pt idx="134">
                    <c:v>Mar 2021</c:v>
                  </c:pt>
                  <c:pt idx="135">
                    <c:v>Apr 2021</c:v>
                  </c:pt>
                  <c:pt idx="136">
                    <c:v>May 2021</c:v>
                  </c:pt>
                  <c:pt idx="137">
                    <c:v>Jun 2021</c:v>
                  </c:pt>
                  <c:pt idx="138">
                    <c:v>Jul 2021</c:v>
                  </c:pt>
                  <c:pt idx="139">
                    <c:v>Aug 2021</c:v>
                  </c:pt>
                  <c:pt idx="140">
                    <c:v>Sep 2021</c:v>
                  </c:pt>
                  <c:pt idx="141">
                    <c:v>Oct 2021</c:v>
                  </c:pt>
                  <c:pt idx="142">
                    <c:v>Nov 2021</c:v>
                  </c:pt>
                  <c:pt idx="143">
                    <c:v>Dec 2021</c:v>
                  </c:pt>
                  <c:pt idx="144">
                    <c:v>Jan 2022</c:v>
                  </c:pt>
                  <c:pt idx="145">
                    <c:v>Feb 2022</c:v>
                  </c:pt>
                  <c:pt idx="146">
                    <c:v>Mar 2022</c:v>
                  </c:pt>
                  <c:pt idx="147">
                    <c:v>Apr 2022</c:v>
                  </c:pt>
                  <c:pt idx="148">
                    <c:v>May 2022</c:v>
                  </c:pt>
                  <c:pt idx="149">
                    <c:v>Jun 2022</c:v>
                  </c:pt>
                  <c:pt idx="150">
                    <c:v>Jul 2022</c:v>
                  </c:pt>
                  <c:pt idx="151">
                    <c:v>Aug 2022</c:v>
                  </c:pt>
                  <c:pt idx="152">
                    <c:v>Sep 2022</c:v>
                  </c:pt>
                  <c:pt idx="153">
                    <c:v>Oct 2022</c:v>
                  </c:pt>
                  <c:pt idx="154">
                    <c:v>Nov 2022</c:v>
                  </c:pt>
                  <c:pt idx="155">
                    <c:v>Dec 2022</c:v>
                  </c:pt>
                  <c:pt idx="156">
                    <c:v>Jan 2023</c:v>
                  </c:pt>
                  <c:pt idx="157">
                    <c:v>Feb 2023</c:v>
                  </c:pt>
                  <c:pt idx="158">
                    <c:v>Mar 2023</c:v>
                  </c:pt>
                  <c:pt idx="159">
                    <c:v>Apr 2023</c:v>
                  </c:pt>
                  <c:pt idx="160">
                    <c:v>May 2023</c:v>
                  </c:pt>
                  <c:pt idx="161">
                    <c:v>Jun 2023</c:v>
                  </c:pt>
                  <c:pt idx="162">
                    <c:v>Jul 2023</c:v>
                  </c:pt>
                  <c:pt idx="163">
                    <c:v>Aug 2023</c:v>
                  </c:pt>
                  <c:pt idx="164">
                    <c:v>Sep 2023</c:v>
                  </c:pt>
                  <c:pt idx="165">
                    <c:v>Oct 2023</c:v>
                  </c:pt>
                  <c:pt idx="166">
                    <c:v>Nov 2023</c:v>
                  </c:pt>
                  <c:pt idx="167">
                    <c:v>Dec 2023</c:v>
                  </c:pt>
                  <c:pt idx="168">
                    <c:v>Jan 2024</c:v>
                  </c:pt>
                  <c:pt idx="169">
                    <c:v>Feb 2024</c:v>
                  </c:pt>
                  <c:pt idx="170">
                    <c:v>Mar 2024</c:v>
                  </c:pt>
                  <c:pt idx="171">
                    <c:v>Apr 2024</c:v>
                  </c:pt>
                  <c:pt idx="172">
                    <c:v>May 2024</c:v>
                  </c:pt>
                  <c:pt idx="173">
                    <c:v>Jun 2024</c:v>
                  </c:pt>
                  <c:pt idx="174">
                    <c:v>Jul 2024</c:v>
                  </c:pt>
                  <c:pt idx="175">
                    <c:v>Aug 2024</c:v>
                  </c:pt>
                  <c:pt idx="176">
                    <c:v>Sep 2024</c:v>
                  </c:pt>
                  <c:pt idx="177">
                    <c:v>Oct 2024</c:v>
                  </c:pt>
                  <c:pt idx="178">
                    <c:v>Nov 2024</c:v>
                  </c:pt>
                  <c:pt idx="179">
                    <c:v>Dec 2024</c:v>
                  </c:pt>
                  <c:pt idx="180">
                    <c:v>Jan 2025</c:v>
                  </c:pt>
                  <c:pt idx="181">
                    <c:v>Feb 2025</c:v>
                  </c:pt>
                  <c:pt idx="182">
                    <c:v>Mar 2025</c:v>
                  </c:pt>
                  <c:pt idx="183">
                    <c:v>Apr 2025</c:v>
                  </c:pt>
                  <c:pt idx="184">
                    <c:v>May 2025</c:v>
                  </c:pt>
                  <c:pt idx="185">
                    <c:v>Jun 2025</c:v>
                  </c:pt>
                  <c:pt idx="186">
                    <c:v>Jul 2025</c:v>
                  </c:pt>
                  <c:pt idx="187">
                    <c:v>Aug 2025</c:v>
                  </c:pt>
                  <c:pt idx="188">
                    <c:v>Sep 2025</c:v>
                  </c:pt>
                  <c:pt idx="189">
                    <c:v>Oct 2025</c:v>
                  </c:pt>
                  <c:pt idx="190">
                    <c:v>Nov 2025</c:v>
                  </c:pt>
                  <c:pt idx="191">
                    <c:v>Dec 2025</c:v>
                  </c:pt>
                  <c:pt idx="192">
                    <c:v>Jan 2026</c:v>
                  </c:pt>
                  <c:pt idx="193">
                    <c:v>Feb 2026</c:v>
                  </c:pt>
                  <c:pt idx="194">
                    <c:v>Mar 2026</c:v>
                  </c:pt>
                  <c:pt idx="195">
                    <c:v>Apr 2026</c:v>
                  </c:pt>
                  <c:pt idx="196">
                    <c:v>May 2026</c:v>
                  </c:pt>
                  <c:pt idx="197">
                    <c:v>Jun 2026</c:v>
                  </c:pt>
                  <c:pt idx="198">
                    <c:v>Jul 2026</c:v>
                  </c:pt>
                  <c:pt idx="199">
                    <c:v>Aug 2026</c:v>
                  </c:pt>
                  <c:pt idx="200">
                    <c:v>Sep 2026</c:v>
                  </c:pt>
                  <c:pt idx="201">
                    <c:v>Oct 2026</c:v>
                  </c:pt>
                </c:lvl>
              </c:multiLvlStrCache>
            </c:multiLvlStrRef>
          </c:cat>
          <c:val>
            <c:numRef>
              <c:f>Sheet1!$B$2:$B$203</c:f>
              <c:numCache>
                <c:formatCode>General</c:formatCode>
                <c:ptCount val="202"/>
                <c:pt idx="0">
                  <c:v>74.4</c:v>
                </c:pt>
                <c:pt idx="1">
                  <c:v>73.6</c:v>
                </c:pt>
                <c:pt idx="2">
                  <c:v>73.6</c:v>
                </c:pt>
                <c:pt idx="3">
                  <c:v>72.2</c:v>
                </c:pt>
                <c:pt idx="4">
                  <c:v>73.6</c:v>
                </c:pt>
                <c:pt idx="5">
                  <c:v>76</c:v>
                </c:pt>
                <c:pt idx="6">
                  <c:v>67.8</c:v>
                </c:pt>
                <c:pt idx="7">
                  <c:v>68.9</c:v>
                </c:pt>
                <c:pt idx="8">
                  <c:v>68.2</c:v>
                </c:pt>
                <c:pt idx="9">
                  <c:v>67.7</c:v>
                </c:pt>
                <c:pt idx="10">
                  <c:v>71.6</c:v>
                </c:pt>
                <c:pt idx="11">
                  <c:v>74.5</c:v>
                </c:pt>
                <c:pt idx="12">
                  <c:v>74.2</c:v>
                </c:pt>
                <c:pt idx="13">
                  <c:v>77.5</c:v>
                </c:pt>
                <c:pt idx="14">
                  <c:v>67.5</c:v>
                </c:pt>
                <c:pt idx="15">
                  <c:v>69.8</c:v>
                </c:pt>
                <c:pt idx="16">
                  <c:v>74.3</c:v>
                </c:pt>
                <c:pt idx="17">
                  <c:v>71.5</c:v>
                </c:pt>
                <c:pt idx="18">
                  <c:v>63.7</c:v>
                </c:pt>
                <c:pt idx="19">
                  <c:v>55.8</c:v>
                </c:pt>
                <c:pt idx="20">
                  <c:v>59.5</c:v>
                </c:pt>
                <c:pt idx="21">
                  <c:v>60.8</c:v>
                </c:pt>
                <c:pt idx="22">
                  <c:v>63.7</c:v>
                </c:pt>
                <c:pt idx="23">
                  <c:v>69.9</c:v>
                </c:pt>
                <c:pt idx="24">
                  <c:v>75</c:v>
                </c:pt>
                <c:pt idx="25">
                  <c:v>75.3</c:v>
                </c:pt>
                <c:pt idx="26">
                  <c:v>76.2</c:v>
                </c:pt>
                <c:pt idx="27">
                  <c:v>76.4</c:v>
                </c:pt>
                <c:pt idx="28">
                  <c:v>79.3</c:v>
                </c:pt>
                <c:pt idx="29">
                  <c:v>73.2</c:v>
                </c:pt>
                <c:pt idx="30">
                  <c:v>72.3</c:v>
                </c:pt>
                <c:pt idx="31">
                  <c:v>74.3</c:v>
                </c:pt>
                <c:pt idx="32">
                  <c:v>78.3</c:v>
                </c:pt>
                <c:pt idx="33">
                  <c:v>82.6</c:v>
                </c:pt>
                <c:pt idx="34">
                  <c:v>82.7</c:v>
                </c:pt>
                <c:pt idx="35">
                  <c:v>72.9</c:v>
                </c:pt>
                <c:pt idx="36">
                  <c:v>73.8</c:v>
                </c:pt>
                <c:pt idx="37">
                  <c:v>77.6</c:v>
                </c:pt>
                <c:pt idx="38">
                  <c:v>78.6</c:v>
                </c:pt>
                <c:pt idx="39">
                  <c:v>76.4</c:v>
                </c:pt>
                <c:pt idx="40">
                  <c:v>84.5</c:v>
                </c:pt>
                <c:pt idx="41">
                  <c:v>84.1</c:v>
                </c:pt>
                <c:pt idx="42">
                  <c:v>85.1</c:v>
                </c:pt>
                <c:pt idx="43">
                  <c:v>82.1</c:v>
                </c:pt>
                <c:pt idx="44">
                  <c:v>77.5</c:v>
                </c:pt>
                <c:pt idx="45">
                  <c:v>73.2</c:v>
                </c:pt>
                <c:pt idx="46">
                  <c:v>75.1</c:v>
                </c:pt>
                <c:pt idx="47">
                  <c:v>82.5</c:v>
                </c:pt>
                <c:pt idx="48">
                  <c:v>81.2</c:v>
                </c:pt>
                <c:pt idx="49">
                  <c:v>81.6</c:v>
                </c:pt>
                <c:pt idx="50">
                  <c:v>80</c:v>
                </c:pt>
                <c:pt idx="51">
                  <c:v>84.1</c:v>
                </c:pt>
                <c:pt idx="52">
                  <c:v>81.9</c:v>
                </c:pt>
                <c:pt idx="53">
                  <c:v>82.5</c:v>
                </c:pt>
                <c:pt idx="54">
                  <c:v>81.8</c:v>
                </c:pt>
                <c:pt idx="55">
                  <c:v>82.5</c:v>
                </c:pt>
                <c:pt idx="56">
                  <c:v>84.6</c:v>
                </c:pt>
                <c:pt idx="57">
                  <c:v>86.9</c:v>
                </c:pt>
                <c:pt idx="58">
                  <c:v>88.8</c:v>
                </c:pt>
                <c:pt idx="59">
                  <c:v>93.6</c:v>
                </c:pt>
                <c:pt idx="60">
                  <c:v>98.1</c:v>
                </c:pt>
                <c:pt idx="61">
                  <c:v>95.4</c:v>
                </c:pt>
                <c:pt idx="62">
                  <c:v>93</c:v>
                </c:pt>
                <c:pt idx="63">
                  <c:v>95.9</c:v>
                </c:pt>
                <c:pt idx="64">
                  <c:v>90.7</c:v>
                </c:pt>
                <c:pt idx="65">
                  <c:v>96.1</c:v>
                </c:pt>
                <c:pt idx="66">
                  <c:v>93.1</c:v>
                </c:pt>
                <c:pt idx="67">
                  <c:v>91.9</c:v>
                </c:pt>
                <c:pt idx="68">
                  <c:v>87.2</c:v>
                </c:pt>
                <c:pt idx="69">
                  <c:v>90</c:v>
                </c:pt>
                <c:pt idx="70">
                  <c:v>91.3</c:v>
                </c:pt>
                <c:pt idx="71">
                  <c:v>92.6</c:v>
                </c:pt>
                <c:pt idx="72">
                  <c:v>92</c:v>
                </c:pt>
                <c:pt idx="73">
                  <c:v>91.7</c:v>
                </c:pt>
                <c:pt idx="74">
                  <c:v>91</c:v>
                </c:pt>
                <c:pt idx="75">
                  <c:v>89</c:v>
                </c:pt>
                <c:pt idx="76">
                  <c:v>94.7</c:v>
                </c:pt>
                <c:pt idx="77">
                  <c:v>93.5</c:v>
                </c:pt>
                <c:pt idx="78">
                  <c:v>90</c:v>
                </c:pt>
                <c:pt idx="79">
                  <c:v>89.8</c:v>
                </c:pt>
                <c:pt idx="80">
                  <c:v>91.2</c:v>
                </c:pt>
                <c:pt idx="81">
                  <c:v>87.2</c:v>
                </c:pt>
                <c:pt idx="82">
                  <c:v>93.8</c:v>
                </c:pt>
                <c:pt idx="83">
                  <c:v>98.2</c:v>
                </c:pt>
                <c:pt idx="84">
                  <c:v>98.5</c:v>
                </c:pt>
                <c:pt idx="85">
                  <c:v>96.3</c:v>
                </c:pt>
                <c:pt idx="86">
                  <c:v>96.9</c:v>
                </c:pt>
                <c:pt idx="87">
                  <c:v>97</c:v>
                </c:pt>
                <c:pt idx="88">
                  <c:v>97.1</c:v>
                </c:pt>
                <c:pt idx="89">
                  <c:v>95</c:v>
                </c:pt>
                <c:pt idx="90">
                  <c:v>93.4</c:v>
                </c:pt>
                <c:pt idx="91">
                  <c:v>96.8</c:v>
                </c:pt>
                <c:pt idx="92">
                  <c:v>95.1</c:v>
                </c:pt>
                <c:pt idx="93">
                  <c:v>100.7</c:v>
                </c:pt>
                <c:pt idx="94">
                  <c:v>98.5</c:v>
                </c:pt>
                <c:pt idx="95">
                  <c:v>95.9</c:v>
                </c:pt>
                <c:pt idx="96">
                  <c:v>95.7</c:v>
                </c:pt>
                <c:pt idx="97">
                  <c:v>99.7</c:v>
                </c:pt>
                <c:pt idx="98">
                  <c:v>101.4</c:v>
                </c:pt>
                <c:pt idx="99">
                  <c:v>98.8</c:v>
                </c:pt>
                <c:pt idx="100">
                  <c:v>98</c:v>
                </c:pt>
                <c:pt idx="101">
                  <c:v>98.2</c:v>
                </c:pt>
                <c:pt idx="102">
                  <c:v>97.9</c:v>
                </c:pt>
                <c:pt idx="103">
                  <c:v>96.2</c:v>
                </c:pt>
                <c:pt idx="104">
                  <c:v>100.1</c:v>
                </c:pt>
                <c:pt idx="105">
                  <c:v>98.6</c:v>
                </c:pt>
                <c:pt idx="106">
                  <c:v>97.5</c:v>
                </c:pt>
                <c:pt idx="107">
                  <c:v>98.3</c:v>
                </c:pt>
                <c:pt idx="108">
                  <c:v>91.2</c:v>
                </c:pt>
                <c:pt idx="109">
                  <c:v>93.8</c:v>
                </c:pt>
                <c:pt idx="110">
                  <c:v>98.4</c:v>
                </c:pt>
                <c:pt idx="111">
                  <c:v>97.2</c:v>
                </c:pt>
                <c:pt idx="112">
                  <c:v>100</c:v>
                </c:pt>
                <c:pt idx="113">
                  <c:v>98.2</c:v>
                </c:pt>
                <c:pt idx="114">
                  <c:v>98.4</c:v>
                </c:pt>
                <c:pt idx="115">
                  <c:v>89.8</c:v>
                </c:pt>
                <c:pt idx="116">
                  <c:v>93.2</c:v>
                </c:pt>
                <c:pt idx="117">
                  <c:v>95.5</c:v>
                </c:pt>
                <c:pt idx="118">
                  <c:v>96.8</c:v>
                </c:pt>
                <c:pt idx="119">
                  <c:v>99.3</c:v>
                </c:pt>
                <c:pt idx="120">
                  <c:v>99.8</c:v>
                </c:pt>
                <c:pt idx="121">
                  <c:v>101</c:v>
                </c:pt>
                <c:pt idx="122">
                  <c:v>89.1</c:v>
                </c:pt>
                <c:pt idx="123">
                  <c:v>71.8</c:v>
                </c:pt>
                <c:pt idx="124">
                  <c:v>72.3</c:v>
                </c:pt>
                <c:pt idx="125">
                  <c:v>78.1</c:v>
                </c:pt>
                <c:pt idx="126">
                  <c:v>72.5</c:v>
                </c:pt>
                <c:pt idx="127">
                  <c:v>74.1</c:v>
                </c:pt>
                <c:pt idx="128">
                  <c:v>80.4</c:v>
                </c:pt>
                <c:pt idx="129">
                  <c:v>81.8</c:v>
                </c:pt>
                <c:pt idx="130">
                  <c:v>76.9</c:v>
                </c:pt>
                <c:pt idx="131">
                  <c:v>80.7</c:v>
                </c:pt>
                <c:pt idx="132">
                  <c:v>79</c:v>
                </c:pt>
                <c:pt idx="133">
                  <c:v>76.8</c:v>
                </c:pt>
                <c:pt idx="134">
                  <c:v>84.9</c:v>
                </c:pt>
                <c:pt idx="135">
                  <c:v>88.3</c:v>
                </c:pt>
                <c:pt idx="136">
                  <c:v>82.9</c:v>
                </c:pt>
                <c:pt idx="137">
                  <c:v>85.5</c:v>
                </c:pt>
                <c:pt idx="138">
                  <c:v>81.2</c:v>
                </c:pt>
                <c:pt idx="139">
                  <c:v>70.3</c:v>
                </c:pt>
                <c:pt idx="140">
                  <c:v>72.8</c:v>
                </c:pt>
                <c:pt idx="141">
                  <c:v>71.7</c:v>
                </c:pt>
                <c:pt idx="142">
                  <c:v>67.4</c:v>
                </c:pt>
                <c:pt idx="143">
                  <c:v>70.6</c:v>
                </c:pt>
                <c:pt idx="144">
                  <c:v>67.2</c:v>
                </c:pt>
                <c:pt idx="145">
                  <c:v>62.8</c:v>
                </c:pt>
                <c:pt idx="146">
                  <c:v>59.4</c:v>
                </c:pt>
                <c:pt idx="147">
                  <c:v>65.2</c:v>
                </c:pt>
                <c:pt idx="148">
                  <c:v>58.4</c:v>
                </c:pt>
                <c:pt idx="149">
                  <c:v>50</c:v>
                </c:pt>
                <c:pt idx="150">
                  <c:v>51.5</c:v>
                </c:pt>
                <c:pt idx="151">
                  <c:v>58.2</c:v>
                </c:pt>
                <c:pt idx="152">
                  <c:v>58.6</c:v>
                </c:pt>
                <c:pt idx="153">
                  <c:v>59.9</c:v>
                </c:pt>
                <c:pt idx="154">
                  <c:v>56.7</c:v>
                </c:pt>
                <c:pt idx="155">
                  <c:v>59.8</c:v>
                </c:pt>
                <c:pt idx="156">
                  <c:v>64.9</c:v>
                </c:pt>
                <c:pt idx="157">
                  <c:v>66.9</c:v>
                </c:pt>
                <c:pt idx="158">
                  <c:v>62</c:v>
                </c:pt>
                <c:pt idx="159">
                  <c:v>63.7</c:v>
                </c:pt>
                <c:pt idx="160">
                  <c:v>59</c:v>
                </c:pt>
                <c:pt idx="161">
                  <c:v>64.2</c:v>
                </c:pt>
                <c:pt idx="162">
                  <c:v>71.5</c:v>
                </c:pt>
                <c:pt idx="163">
                  <c:v>69.4</c:v>
                </c:pt>
                <c:pt idx="164">
                  <c:v>67.8</c:v>
                </c:pt>
                <c:pt idx="165">
                  <c:v>63.8</c:v>
                </c:pt>
                <c:pt idx="166">
                  <c:v>61.3</c:v>
                </c:pt>
                <c:pt idx="167">
                  <c:v>69.7</c:v>
                </c:pt>
                <c:pt idx="168">
                  <c:v>79</c:v>
                </c:pt>
                <c:pt idx="169">
                  <c:v>76.9</c:v>
                </c:pt>
                <c:pt idx="170">
                  <c:v>79.4</c:v>
                </c:pt>
                <c:pt idx="171">
                  <c:v>77.2</c:v>
                </c:pt>
                <c:pt idx="172">
                  <c:v>69.1</c:v>
                </c:pt>
                <c:pt idx="173">
                  <c:v>68.2</c:v>
                </c:pt>
                <c:pt idx="174">
                  <c:v>66.4</c:v>
                </c:pt>
                <c:pt idx="175">
                  <c:v>67.9</c:v>
                </c:pt>
                <c:pt idx="176">
                  <c:v>70.1</c:v>
                </c:pt>
                <c:pt idx="177">
                  <c:v>70.5</c:v>
                </c:pt>
                <c:pt idx="178">
                  <c:v>71.8</c:v>
                </c:pt>
                <c:pt idx="179">
                  <c:v>74</c:v>
                </c:pt>
                <c:pt idx="180">
                  <c:v>71.7</c:v>
                </c:pt>
                <c:pt idx="181">
                  <c:v>64.7</c:v>
                </c:pt>
                <c:pt idx="182">
                  <c:v>57</c:v>
                </c:pt>
                <c:pt idx="183">
                  <c:v>52.2</c:v>
                </c:pt>
                <c:pt idx="184">
                  <c:v>52.2</c:v>
                </c:pt>
                <c:pt idx="185">
                  <c:v>60.7</c:v>
                </c:pt>
                <c:pt idx="186">
                  <c:v>61.7</c:v>
                </c:pt>
                <c:pt idx="187">
                  <c:v>58.2</c:v>
                </c:pt>
                <c:pt idx="188">
                  <c:v>55.1</c:v>
                </c:pt>
                <c:pt idx="189">
                  <c:v>53.6</c:v>
                </c:pt>
                <c:pt idx="190">
                  <c:v>51</c:v>
                </c:pt>
                <c:pt idx="191">
                  <c:v>52.9</c:v>
                </c:pt>
                <c:pt idx="192">
                  <c:v>56.4</c:v>
                </c:pt>
                <c:pt idx="193">
                  <c:v>56.6</c:v>
                </c:pt>
                <c:pt idx="194">
                  <c:v>53.3</c:v>
                </c:pt>
                <c:pt idx="195">
                  <c:v>49.8</c:v>
                </c:pt>
                <c:pt idx="196">
                  <c:v>44.8</c:v>
                </c:pt>
                <c:pt idx="197">
                  <c:v>49.5</c:v>
                </c:pt>
                <c:pt idx="198">
                  <c:v>55.2</c:v>
                </c:pt>
                <c:pt idx="199">
                  <c:v>51.7</c:v>
                </c:pt>
                <c:pt idx="200">
                  <c:v>48.1</c:v>
                </c:pt>
                <c:pt idx="201">
                  <c:v>46.3</c:v>
                </c:pt>
              </c:numCache>
            </c:numRef>
          </c:val>
          <c:smooth val="0"/>
        </c:ser>
        <c:ser>
          <c:idx val="1"/>
          <c:order val="1"/>
          <c:tx>
            <c:strRef>
              <c:f>Sheet1!$C$1</c:f>
              <c:strCache>
                <c:ptCount val="1"/>
                <c:pt idx="0">
                  <c:v>Economy-only model (U, PCE inflation, GDP)</c:v>
                </c:pt>
              </c:strCache>
            </c:strRef>
          </c:tx>
          <c:spPr>
            <a:solidFill>
              <a:srgbClr val="2A7F86"/>
            </a:solidFill>
            <a:ln w="25400" cap="flat">
              <a:solidFill>
                <a:srgbClr val="2A7F8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F86"/>
              </a:solidFill>
              <a:ln w="9525" cap="flat">
                <a:solidFill>
                  <a:srgbClr val="2A7F86"/>
                </a:solidFill>
                <a:prstDash val="solid"/>
                <a:round/>
              </a:ln>
              <a:effectLst/>
            </c:spPr>
          </c:marker>
          <c:cat>
            <c:multiLvlStrRef>
              <c:f>Sheet1!$A$2:$A$203</c:f>
              <c:multiLvlStrCache>
                <c:ptCount val="202"/>
                <c:lvl>
                  <c:pt idx="0">
                    <c:v>Jan 2010</c:v>
                  </c:pt>
                  <c:pt idx="1">
                    <c:v>Feb 2010</c:v>
                  </c:pt>
                  <c:pt idx="2">
                    <c:v>Mar 2010</c:v>
                  </c:pt>
                  <c:pt idx="3">
                    <c:v>Apr 2010</c:v>
                  </c:pt>
                  <c:pt idx="4">
                    <c:v>May 2010</c:v>
                  </c:pt>
                  <c:pt idx="5">
                    <c:v>Jun 2010</c:v>
                  </c:pt>
                  <c:pt idx="6">
                    <c:v>Jul 2010</c:v>
                  </c:pt>
                  <c:pt idx="7">
                    <c:v>Aug 2010</c:v>
                  </c:pt>
                  <c:pt idx="8">
                    <c:v>Sep 2010</c:v>
                  </c:pt>
                  <c:pt idx="9">
                    <c:v>Oct 2010</c:v>
                  </c:pt>
                  <c:pt idx="10">
                    <c:v>Nov 2010</c:v>
                  </c:pt>
                  <c:pt idx="11">
                    <c:v>Dec 2010</c:v>
                  </c:pt>
                  <c:pt idx="12">
                    <c:v>Jan 2011</c:v>
                  </c:pt>
                  <c:pt idx="13">
                    <c:v>Feb 2011</c:v>
                  </c:pt>
                  <c:pt idx="14">
                    <c:v>Mar 2011</c:v>
                  </c:pt>
                  <c:pt idx="15">
                    <c:v>Apr 2011</c:v>
                  </c:pt>
                  <c:pt idx="16">
                    <c:v>May 2011</c:v>
                  </c:pt>
                  <c:pt idx="17">
                    <c:v>Jun 2011</c:v>
                  </c:pt>
                  <c:pt idx="18">
                    <c:v>Jul 2011</c:v>
                  </c:pt>
                  <c:pt idx="19">
                    <c:v>Aug 2011</c:v>
                  </c:pt>
                  <c:pt idx="20">
                    <c:v>Sep 2011</c:v>
                  </c:pt>
                  <c:pt idx="21">
                    <c:v>Oct 2011</c:v>
                  </c:pt>
                  <c:pt idx="22">
                    <c:v>Nov 2011</c:v>
                  </c:pt>
                  <c:pt idx="23">
                    <c:v>Dec 2011</c:v>
                  </c:pt>
                  <c:pt idx="24">
                    <c:v>Jan 2012</c:v>
                  </c:pt>
                  <c:pt idx="25">
                    <c:v>Feb 2012</c:v>
                  </c:pt>
                  <c:pt idx="26">
                    <c:v>Mar 2012</c:v>
                  </c:pt>
                  <c:pt idx="27">
                    <c:v>Apr 2012</c:v>
                  </c:pt>
                  <c:pt idx="28">
                    <c:v>May 2012</c:v>
                  </c:pt>
                  <c:pt idx="29">
                    <c:v>Jun 2012</c:v>
                  </c:pt>
                  <c:pt idx="30">
                    <c:v>Jul 2012</c:v>
                  </c:pt>
                  <c:pt idx="31">
                    <c:v>Aug 2012</c:v>
                  </c:pt>
                  <c:pt idx="32">
                    <c:v>Sep 2012</c:v>
                  </c:pt>
                  <c:pt idx="33">
                    <c:v>Oct 2012</c:v>
                  </c:pt>
                  <c:pt idx="34">
                    <c:v>Nov 2012</c:v>
                  </c:pt>
                  <c:pt idx="35">
                    <c:v>Dec 2012</c:v>
                  </c:pt>
                  <c:pt idx="36">
                    <c:v>Jan 2013</c:v>
                  </c:pt>
                  <c:pt idx="37">
                    <c:v>Feb 2013</c:v>
                  </c:pt>
                  <c:pt idx="38">
                    <c:v>Mar 2013</c:v>
                  </c:pt>
                  <c:pt idx="39">
                    <c:v>Apr 2013</c:v>
                  </c:pt>
                  <c:pt idx="40">
                    <c:v>May 2013</c:v>
                  </c:pt>
                  <c:pt idx="41">
                    <c:v>Jun 2013</c:v>
                  </c:pt>
                  <c:pt idx="42">
                    <c:v>Jul 2013</c:v>
                  </c:pt>
                  <c:pt idx="43">
                    <c:v>Aug 2013</c:v>
                  </c:pt>
                  <c:pt idx="44">
                    <c:v>Sep 2013</c:v>
                  </c:pt>
                  <c:pt idx="45">
                    <c:v>Oct 2013</c:v>
                  </c:pt>
                  <c:pt idx="46">
                    <c:v>Nov 2013</c:v>
                  </c:pt>
                  <c:pt idx="47">
                    <c:v>Dec 2013</c:v>
                  </c:pt>
                  <c:pt idx="48">
                    <c:v>Jan 2014</c:v>
                  </c:pt>
                  <c:pt idx="49">
                    <c:v>Feb 2014</c:v>
                  </c:pt>
                  <c:pt idx="50">
                    <c:v>Mar 2014</c:v>
                  </c:pt>
                  <c:pt idx="51">
                    <c:v>Apr 2014</c:v>
                  </c:pt>
                  <c:pt idx="52">
                    <c:v>May 2014</c:v>
                  </c:pt>
                  <c:pt idx="53">
                    <c:v>Jun 2014</c:v>
                  </c:pt>
                  <c:pt idx="54">
                    <c:v>Jul 2014</c:v>
                  </c:pt>
                  <c:pt idx="55">
                    <c:v>Aug 2014</c:v>
                  </c:pt>
                  <c:pt idx="56">
                    <c:v>Sep 2014</c:v>
                  </c:pt>
                  <c:pt idx="57">
                    <c:v>Oct 2014</c:v>
                  </c:pt>
                  <c:pt idx="58">
                    <c:v>Nov 2014</c:v>
                  </c:pt>
                  <c:pt idx="59">
                    <c:v>Dec 2014</c:v>
                  </c:pt>
                  <c:pt idx="60">
                    <c:v>Jan 2015</c:v>
                  </c:pt>
                  <c:pt idx="61">
                    <c:v>Feb 2015</c:v>
                  </c:pt>
                  <c:pt idx="62">
                    <c:v>Mar 2015</c:v>
                  </c:pt>
                  <c:pt idx="63">
                    <c:v>Apr 2015</c:v>
                  </c:pt>
                  <c:pt idx="64">
                    <c:v>May 2015</c:v>
                  </c:pt>
                  <c:pt idx="65">
                    <c:v>Jun 2015</c:v>
                  </c:pt>
                  <c:pt idx="66">
                    <c:v>Jul 2015</c:v>
                  </c:pt>
                  <c:pt idx="67">
                    <c:v>Aug 2015</c:v>
                  </c:pt>
                  <c:pt idx="68">
                    <c:v>Sep 2015</c:v>
                  </c:pt>
                  <c:pt idx="69">
                    <c:v>Oct 2015</c:v>
                  </c:pt>
                  <c:pt idx="70">
                    <c:v>Nov 2015</c:v>
                  </c:pt>
                  <c:pt idx="71">
                    <c:v>Dec 2015</c:v>
                  </c:pt>
                  <c:pt idx="72">
                    <c:v>Jan 2016</c:v>
                  </c:pt>
                  <c:pt idx="73">
                    <c:v>Feb 2016</c:v>
                  </c:pt>
                  <c:pt idx="74">
                    <c:v>Mar 2016</c:v>
                  </c:pt>
                  <c:pt idx="75">
                    <c:v>Apr 2016</c:v>
                  </c:pt>
                  <c:pt idx="76">
                    <c:v>May 2016</c:v>
                  </c:pt>
                  <c:pt idx="77">
                    <c:v>Jun 2016</c:v>
                  </c:pt>
                  <c:pt idx="78">
                    <c:v>Jul 2016</c:v>
                  </c:pt>
                  <c:pt idx="79">
                    <c:v>Aug 2016</c:v>
                  </c:pt>
                  <c:pt idx="80">
                    <c:v>Sep 2016</c:v>
                  </c:pt>
                  <c:pt idx="81">
                    <c:v>Oct 2016</c:v>
                  </c:pt>
                  <c:pt idx="82">
                    <c:v>Nov 2016</c:v>
                  </c:pt>
                  <c:pt idx="83">
                    <c:v>Dec 2016</c:v>
                  </c:pt>
                  <c:pt idx="84">
                    <c:v>Jan 2017</c:v>
                  </c:pt>
                  <c:pt idx="85">
                    <c:v>Feb 2017</c:v>
                  </c:pt>
                  <c:pt idx="86">
                    <c:v>Mar 2017</c:v>
                  </c:pt>
                  <c:pt idx="87">
                    <c:v>Apr 2017</c:v>
                  </c:pt>
                  <c:pt idx="88">
                    <c:v>May 2017</c:v>
                  </c:pt>
                  <c:pt idx="89">
                    <c:v>Jun 2017</c:v>
                  </c:pt>
                  <c:pt idx="90">
                    <c:v>Jul 2017</c:v>
                  </c:pt>
                  <c:pt idx="91">
                    <c:v>Aug 2017</c:v>
                  </c:pt>
                  <c:pt idx="92">
                    <c:v>Sep 2017</c:v>
                  </c:pt>
                  <c:pt idx="93">
                    <c:v>Oct 2017</c:v>
                  </c:pt>
                  <c:pt idx="94">
                    <c:v>Nov 2017</c:v>
                  </c:pt>
                  <c:pt idx="95">
                    <c:v>Dec 2017</c:v>
                  </c:pt>
                  <c:pt idx="96">
                    <c:v>Jan 2018</c:v>
                  </c:pt>
                  <c:pt idx="97">
                    <c:v>Feb 2018</c:v>
                  </c:pt>
                  <c:pt idx="98">
                    <c:v>Mar 2018</c:v>
                  </c:pt>
                  <c:pt idx="99">
                    <c:v>Apr 2018</c:v>
                  </c:pt>
                  <c:pt idx="100">
                    <c:v>May 2018</c:v>
                  </c:pt>
                  <c:pt idx="101">
                    <c:v>Jun 2018</c:v>
                  </c:pt>
                  <c:pt idx="102">
                    <c:v>Jul 2018</c:v>
                  </c:pt>
                  <c:pt idx="103">
                    <c:v>Aug 2018</c:v>
                  </c:pt>
                  <c:pt idx="104">
                    <c:v>Sep 2018</c:v>
                  </c:pt>
                  <c:pt idx="105">
                    <c:v>Oct 2018</c:v>
                  </c:pt>
                  <c:pt idx="106">
                    <c:v>Nov 2018</c:v>
                  </c:pt>
                  <c:pt idx="107">
                    <c:v>Dec 2018</c:v>
                  </c:pt>
                  <c:pt idx="108">
                    <c:v>Jan 2019</c:v>
                  </c:pt>
                  <c:pt idx="109">
                    <c:v>Feb 2019</c:v>
                  </c:pt>
                  <c:pt idx="110">
                    <c:v>Mar 2019</c:v>
                  </c:pt>
                  <c:pt idx="111">
                    <c:v>Apr 2019</c:v>
                  </c:pt>
                  <c:pt idx="112">
                    <c:v>May 2019</c:v>
                  </c:pt>
                  <c:pt idx="113">
                    <c:v>Jun 2019</c:v>
                  </c:pt>
                  <c:pt idx="114">
                    <c:v>Jul 2019</c:v>
                  </c:pt>
                  <c:pt idx="115">
                    <c:v>Aug 2019</c:v>
                  </c:pt>
                  <c:pt idx="116">
                    <c:v>Sep 2019</c:v>
                  </c:pt>
                  <c:pt idx="117">
                    <c:v>Oct 2019</c:v>
                  </c:pt>
                  <c:pt idx="118">
                    <c:v>Nov 2019</c:v>
                  </c:pt>
                  <c:pt idx="119">
                    <c:v>Dec 2019</c:v>
                  </c:pt>
                  <c:pt idx="120">
                    <c:v>Jan 2020</c:v>
                  </c:pt>
                  <c:pt idx="121">
                    <c:v>Feb 2020</c:v>
                  </c:pt>
                  <c:pt idx="122">
                    <c:v>Mar 2020</c:v>
                  </c:pt>
                  <c:pt idx="123">
                    <c:v>Apr 2020</c:v>
                  </c:pt>
                  <c:pt idx="124">
                    <c:v>May 2020</c:v>
                  </c:pt>
                  <c:pt idx="125">
                    <c:v>Jun 2020</c:v>
                  </c:pt>
                  <c:pt idx="126">
                    <c:v>Jul 2020</c:v>
                  </c:pt>
                  <c:pt idx="127">
                    <c:v>Aug 2020</c:v>
                  </c:pt>
                  <c:pt idx="128">
                    <c:v>Sep 2020</c:v>
                  </c:pt>
                  <c:pt idx="129">
                    <c:v>Oct 2020</c:v>
                  </c:pt>
                  <c:pt idx="130">
                    <c:v>Nov 2020</c:v>
                  </c:pt>
                  <c:pt idx="131">
                    <c:v>Dec 2020</c:v>
                  </c:pt>
                  <c:pt idx="132">
                    <c:v>Jan 2021</c:v>
                  </c:pt>
                  <c:pt idx="133">
                    <c:v>Feb 2021</c:v>
                  </c:pt>
                  <c:pt idx="134">
                    <c:v>Mar 2021</c:v>
                  </c:pt>
                  <c:pt idx="135">
                    <c:v>Apr 2021</c:v>
                  </c:pt>
                  <c:pt idx="136">
                    <c:v>May 2021</c:v>
                  </c:pt>
                  <c:pt idx="137">
                    <c:v>Jun 2021</c:v>
                  </c:pt>
                  <c:pt idx="138">
                    <c:v>Jul 2021</c:v>
                  </c:pt>
                  <c:pt idx="139">
                    <c:v>Aug 2021</c:v>
                  </c:pt>
                  <c:pt idx="140">
                    <c:v>Sep 2021</c:v>
                  </c:pt>
                  <c:pt idx="141">
                    <c:v>Oct 2021</c:v>
                  </c:pt>
                  <c:pt idx="142">
                    <c:v>Nov 2021</c:v>
                  </c:pt>
                  <c:pt idx="143">
                    <c:v>Dec 2021</c:v>
                  </c:pt>
                  <c:pt idx="144">
                    <c:v>Jan 2022</c:v>
                  </c:pt>
                  <c:pt idx="145">
                    <c:v>Feb 2022</c:v>
                  </c:pt>
                  <c:pt idx="146">
                    <c:v>Mar 2022</c:v>
                  </c:pt>
                  <c:pt idx="147">
                    <c:v>Apr 2022</c:v>
                  </c:pt>
                  <c:pt idx="148">
                    <c:v>May 2022</c:v>
                  </c:pt>
                  <c:pt idx="149">
                    <c:v>Jun 2022</c:v>
                  </c:pt>
                  <c:pt idx="150">
                    <c:v>Jul 2022</c:v>
                  </c:pt>
                  <c:pt idx="151">
                    <c:v>Aug 2022</c:v>
                  </c:pt>
                  <c:pt idx="152">
                    <c:v>Sep 2022</c:v>
                  </c:pt>
                  <c:pt idx="153">
                    <c:v>Oct 2022</c:v>
                  </c:pt>
                  <c:pt idx="154">
                    <c:v>Nov 2022</c:v>
                  </c:pt>
                  <c:pt idx="155">
                    <c:v>Dec 2022</c:v>
                  </c:pt>
                  <c:pt idx="156">
                    <c:v>Jan 2023</c:v>
                  </c:pt>
                  <c:pt idx="157">
                    <c:v>Feb 2023</c:v>
                  </c:pt>
                  <c:pt idx="158">
                    <c:v>Mar 2023</c:v>
                  </c:pt>
                  <c:pt idx="159">
                    <c:v>Apr 2023</c:v>
                  </c:pt>
                  <c:pt idx="160">
                    <c:v>May 2023</c:v>
                  </c:pt>
                  <c:pt idx="161">
                    <c:v>Jun 2023</c:v>
                  </c:pt>
                  <c:pt idx="162">
                    <c:v>Jul 2023</c:v>
                  </c:pt>
                  <c:pt idx="163">
                    <c:v>Aug 2023</c:v>
                  </c:pt>
                  <c:pt idx="164">
                    <c:v>Sep 2023</c:v>
                  </c:pt>
                  <c:pt idx="165">
                    <c:v>Oct 2023</c:v>
                  </c:pt>
                  <c:pt idx="166">
                    <c:v>Nov 2023</c:v>
                  </c:pt>
                  <c:pt idx="167">
                    <c:v>Dec 2023</c:v>
                  </c:pt>
                  <c:pt idx="168">
                    <c:v>Jan 2024</c:v>
                  </c:pt>
                  <c:pt idx="169">
                    <c:v>Feb 2024</c:v>
                  </c:pt>
                  <c:pt idx="170">
                    <c:v>Mar 2024</c:v>
                  </c:pt>
                  <c:pt idx="171">
                    <c:v>Apr 2024</c:v>
                  </c:pt>
                  <c:pt idx="172">
                    <c:v>May 2024</c:v>
                  </c:pt>
                  <c:pt idx="173">
                    <c:v>Jun 2024</c:v>
                  </c:pt>
                  <c:pt idx="174">
                    <c:v>Jul 2024</c:v>
                  </c:pt>
                  <c:pt idx="175">
                    <c:v>Aug 2024</c:v>
                  </c:pt>
                  <c:pt idx="176">
                    <c:v>Sep 2024</c:v>
                  </c:pt>
                  <c:pt idx="177">
                    <c:v>Oct 2024</c:v>
                  </c:pt>
                  <c:pt idx="178">
                    <c:v>Nov 2024</c:v>
                  </c:pt>
                  <c:pt idx="179">
                    <c:v>Dec 2024</c:v>
                  </c:pt>
                  <c:pt idx="180">
                    <c:v>Jan 2025</c:v>
                  </c:pt>
                  <c:pt idx="181">
                    <c:v>Feb 2025</c:v>
                  </c:pt>
                  <c:pt idx="182">
                    <c:v>Mar 2025</c:v>
                  </c:pt>
                  <c:pt idx="183">
                    <c:v>Apr 2025</c:v>
                  </c:pt>
                  <c:pt idx="184">
                    <c:v>May 2025</c:v>
                  </c:pt>
                  <c:pt idx="185">
                    <c:v>Jun 2025</c:v>
                  </c:pt>
                  <c:pt idx="186">
                    <c:v>Jul 2025</c:v>
                  </c:pt>
                  <c:pt idx="187">
                    <c:v>Aug 2025</c:v>
                  </c:pt>
                  <c:pt idx="188">
                    <c:v>Sep 2025</c:v>
                  </c:pt>
                  <c:pt idx="189">
                    <c:v>Oct 2025</c:v>
                  </c:pt>
                  <c:pt idx="190">
                    <c:v>Nov 2025</c:v>
                  </c:pt>
                  <c:pt idx="191">
                    <c:v>Dec 2025</c:v>
                  </c:pt>
                  <c:pt idx="192">
                    <c:v>Jan 2026</c:v>
                  </c:pt>
                  <c:pt idx="193">
                    <c:v>Feb 2026</c:v>
                  </c:pt>
                  <c:pt idx="194">
                    <c:v>Mar 2026</c:v>
                  </c:pt>
                  <c:pt idx="195">
                    <c:v>Apr 2026</c:v>
                  </c:pt>
                  <c:pt idx="196">
                    <c:v>May 2026</c:v>
                  </c:pt>
                  <c:pt idx="197">
                    <c:v>Jun 2026</c:v>
                  </c:pt>
                  <c:pt idx="198">
                    <c:v>Jul 2026</c:v>
                  </c:pt>
                  <c:pt idx="199">
                    <c:v>Aug 2026</c:v>
                  </c:pt>
                  <c:pt idx="200">
                    <c:v>Sep 2026</c:v>
                  </c:pt>
                  <c:pt idx="201">
                    <c:v>Oct 2026</c:v>
                  </c:pt>
                </c:lvl>
              </c:multiLvlStrCache>
            </c:multiLvlStrRef>
          </c:cat>
          <c:val>
            <c:numRef>
              <c:f>Sheet1!$C$2:$C$203</c:f>
              <c:numCache>
                <c:formatCode>General</c:formatCode>
                <c:ptCount val="202"/>
                <c:pt idx="0">
                  <c:v>67.3</c:v>
                </c:pt>
                <c:pt idx="1">
                  <c:v>70.4</c:v>
                </c:pt>
                <c:pt idx="2">
                  <c:v>70.7</c:v>
                </c:pt>
                <c:pt idx="3">
                  <c:v>71</c:v>
                </c:pt>
                <c:pt idx="4">
                  <c:v>67.5</c:v>
                </c:pt>
                <c:pt idx="5">
                  <c:v>68.4</c:v>
                </c:pt>
                <c:pt idx="6">
                  <c:v>69.3</c:v>
                </c:pt>
                <c:pt idx="7">
                  <c:v>70.1</c:v>
                </c:pt>
                <c:pt idx="8">
                  <c:v>68.6</c:v>
                </c:pt>
                <c:pt idx="9">
                  <c:v>68.8</c:v>
                </c:pt>
                <c:pt idx="10">
                  <c:v>69.3</c:v>
                </c:pt>
                <c:pt idx="11">
                  <c:v>69</c:v>
                </c:pt>
                <c:pt idx="12">
                  <c:v>71.5</c:v>
                </c:pt>
                <c:pt idx="13">
                  <c:v>73.6</c:v>
                </c:pt>
                <c:pt idx="14">
                  <c:v>73.7</c:v>
                </c:pt>
                <c:pt idx="15">
                  <c:v>73.7</c:v>
                </c:pt>
                <c:pt idx="16">
                  <c:v>71</c:v>
                </c:pt>
                <c:pt idx="17">
                  <c:v>69.8</c:v>
                </c:pt>
                <c:pt idx="18">
                  <c:v>68.7</c:v>
                </c:pt>
                <c:pt idx="19">
                  <c:v>68.5</c:v>
                </c:pt>
                <c:pt idx="20">
                  <c:v>67.8</c:v>
                </c:pt>
                <c:pt idx="21">
                  <c:v>67.9</c:v>
                </c:pt>
                <c:pt idx="22">
                  <c:v>69.2</c:v>
                </c:pt>
                <c:pt idx="23">
                  <c:v>71.3</c:v>
                </c:pt>
                <c:pt idx="24">
                  <c:v>71.9</c:v>
                </c:pt>
                <c:pt idx="25">
                  <c:v>74</c:v>
                </c:pt>
                <c:pt idx="26">
                  <c:v>74.3</c:v>
                </c:pt>
                <c:pt idx="27">
                  <c:v>74.9</c:v>
                </c:pt>
                <c:pt idx="28">
                  <c:v>75.1</c:v>
                </c:pt>
                <c:pt idx="29">
                  <c:v>75</c:v>
                </c:pt>
                <c:pt idx="30">
                  <c:v>75.7</c:v>
                </c:pt>
                <c:pt idx="31">
                  <c:v>74.9</c:v>
                </c:pt>
                <c:pt idx="32">
                  <c:v>76.5</c:v>
                </c:pt>
                <c:pt idx="33">
                  <c:v>77.1</c:v>
                </c:pt>
                <c:pt idx="34">
                  <c:v>76.8</c:v>
                </c:pt>
                <c:pt idx="35">
                  <c:v>78.3</c:v>
                </c:pt>
                <c:pt idx="36">
                  <c:v>78.9</c:v>
                </c:pt>
                <c:pt idx="37">
                  <c:v>75.8</c:v>
                </c:pt>
                <c:pt idx="38">
                  <c:v>77.3</c:v>
                </c:pt>
                <c:pt idx="39">
                  <c:v>77.7</c:v>
                </c:pt>
                <c:pt idx="40">
                  <c:v>80.8</c:v>
                </c:pt>
                <c:pt idx="41">
                  <c:v>80.7</c:v>
                </c:pt>
                <c:pt idx="42">
                  <c:v>79.6</c:v>
                </c:pt>
                <c:pt idx="43">
                  <c:v>79.8</c:v>
                </c:pt>
                <c:pt idx="44">
                  <c:v>80.9</c:v>
                </c:pt>
                <c:pt idx="45">
                  <c:v>81.4</c:v>
                </c:pt>
                <c:pt idx="46">
                  <c:v>82.2</c:v>
                </c:pt>
                <c:pt idx="47">
                  <c:v>84.7</c:v>
                </c:pt>
                <c:pt idx="48">
                  <c:v>86.4</c:v>
                </c:pt>
                <c:pt idx="49">
                  <c:v>85.6</c:v>
                </c:pt>
                <c:pt idx="50">
                  <c:v>84.1</c:v>
                </c:pt>
                <c:pt idx="51">
                  <c:v>85</c:v>
                </c:pt>
                <c:pt idx="52">
                  <c:v>84.2</c:v>
                </c:pt>
                <c:pt idx="53">
                  <c:v>82.2</c:v>
                </c:pt>
                <c:pt idx="54">
                  <c:v>81.1</c:v>
                </c:pt>
                <c:pt idx="55">
                  <c:v>87</c:v>
                </c:pt>
                <c:pt idx="56">
                  <c:v>87.8</c:v>
                </c:pt>
                <c:pt idx="57">
                  <c:v>89.4</c:v>
                </c:pt>
                <c:pt idx="58">
                  <c:v>89</c:v>
                </c:pt>
                <c:pt idx="59">
                  <c:v>89.3</c:v>
                </c:pt>
                <c:pt idx="60">
                  <c:v>91.8</c:v>
                </c:pt>
                <c:pt idx="61">
                  <c:v>90.2</c:v>
                </c:pt>
                <c:pt idx="62">
                  <c:v>91.9</c:v>
                </c:pt>
                <c:pt idx="63">
                  <c:v>91.7</c:v>
                </c:pt>
                <c:pt idx="64">
                  <c:v>90.5</c:v>
                </c:pt>
                <c:pt idx="65">
                  <c:v>89.6</c:v>
                </c:pt>
                <c:pt idx="66">
                  <c:v>90.8</c:v>
                </c:pt>
                <c:pt idx="67">
                  <c:v>92.8</c:v>
                </c:pt>
                <c:pt idx="68">
                  <c:v>95</c:v>
                </c:pt>
                <c:pt idx="69">
                  <c:v>95.1</c:v>
                </c:pt>
                <c:pt idx="70">
                  <c:v>93.9</c:v>
                </c:pt>
                <c:pt idx="71">
                  <c:v>94.2</c:v>
                </c:pt>
                <c:pt idx="72">
                  <c:v>93.8</c:v>
                </c:pt>
                <c:pt idx="73">
                  <c:v>92.7</c:v>
                </c:pt>
                <c:pt idx="74">
                  <c:v>91.5</c:v>
                </c:pt>
                <c:pt idx="75">
                  <c:v>92</c:v>
                </c:pt>
                <c:pt idx="76">
                  <c:v>91.6</c:v>
                </c:pt>
                <c:pt idx="77">
                  <c:v>92.7</c:v>
                </c:pt>
                <c:pt idx="78">
                  <c:v>92.3</c:v>
                </c:pt>
                <c:pt idx="79">
                  <c:v>92.5</c:v>
                </c:pt>
                <c:pt idx="80">
                  <c:v>92.6</c:v>
                </c:pt>
                <c:pt idx="81">
                  <c:v>92</c:v>
                </c:pt>
                <c:pt idx="82">
                  <c:v>93.2</c:v>
                </c:pt>
                <c:pt idx="83">
                  <c:v>94.5</c:v>
                </c:pt>
                <c:pt idx="84">
                  <c:v>94.4</c:v>
                </c:pt>
                <c:pt idx="85">
                  <c:v>92</c:v>
                </c:pt>
                <c:pt idx="86">
                  <c:v>91.9</c:v>
                </c:pt>
                <c:pt idx="87">
                  <c:v>92.5</c:v>
                </c:pt>
                <c:pt idx="88">
                  <c:v>92.4</c:v>
                </c:pt>
                <c:pt idx="89">
                  <c:v>93.6</c:v>
                </c:pt>
                <c:pt idx="90">
                  <c:v>93.9</c:v>
                </c:pt>
                <c:pt idx="91">
                  <c:v>95.5</c:v>
                </c:pt>
                <c:pt idx="92">
                  <c:v>95.4</c:v>
                </c:pt>
                <c:pt idx="93">
                  <c:v>96.4</c:v>
                </c:pt>
                <c:pt idx="94">
                  <c:v>96.3</c:v>
                </c:pt>
                <c:pt idx="95">
                  <c:v>96.7</c:v>
                </c:pt>
                <c:pt idx="96">
                  <c:v>96.2</c:v>
                </c:pt>
                <c:pt idx="97">
                  <c:v>95.8</c:v>
                </c:pt>
                <c:pt idx="98">
                  <c:v>95.9</c:v>
                </c:pt>
                <c:pt idx="99">
                  <c:v>96</c:v>
                </c:pt>
                <c:pt idx="100">
                  <c:v>95.9</c:v>
                </c:pt>
                <c:pt idx="101">
                  <c:v>96.4</c:v>
                </c:pt>
                <c:pt idx="102">
                  <c:v>94.6</c:v>
                </c:pt>
                <c:pt idx="103">
                  <c:v>96.9</c:v>
                </c:pt>
                <c:pt idx="104">
                  <c:v>96.9</c:v>
                </c:pt>
                <c:pt idx="105">
                  <c:v>98</c:v>
                </c:pt>
                <c:pt idx="106">
                  <c:v>97.9</c:v>
                </c:pt>
                <c:pt idx="107">
                  <c:v>98</c:v>
                </c:pt>
                <c:pt idx="108">
                  <c:v>97.2</c:v>
                </c:pt>
                <c:pt idx="109">
                  <c:v>96.7</c:v>
                </c:pt>
                <c:pt idx="110">
                  <c:v>97.2</c:v>
                </c:pt>
                <c:pt idx="111">
                  <c:v>97.7</c:v>
                </c:pt>
                <c:pt idx="112">
                  <c:v>99.2</c:v>
                </c:pt>
                <c:pt idx="113">
                  <c:v>99.1</c:v>
                </c:pt>
                <c:pt idx="114">
                  <c:v>98.7</c:v>
                </c:pt>
                <c:pt idx="115">
                  <c:v>98.1</c:v>
                </c:pt>
                <c:pt idx="116">
                  <c:v>98</c:v>
                </c:pt>
                <c:pt idx="117">
                  <c:v>98.8</c:v>
                </c:pt>
                <c:pt idx="118">
                  <c:v>98.5</c:v>
                </c:pt>
                <c:pt idx="119">
                  <c:v>99.2</c:v>
                </c:pt>
                <c:pt idx="120">
                  <c:v>98.8</c:v>
                </c:pt>
                <c:pt idx="121">
                  <c:v>98</c:v>
                </c:pt>
                <c:pt idx="122">
                  <c:v/>
                </c:pt>
                <c:pt idx="123">
                  <c:v/>
                </c:pt>
                <c:pt idx="124">
                  <c:v/>
                </c:pt>
                <c:pt idx="125">
                  <c:v/>
                </c:pt>
                <c:pt idx="126">
                  <c:v/>
                </c:pt>
                <c:pt idx="127">
                  <c:v/>
                </c:pt>
                <c:pt idx="128">
                  <c:v/>
                </c:pt>
                <c:pt idx="129">
                  <c:v/>
                </c:pt>
                <c:pt idx="130">
                  <c:v/>
                </c:pt>
                <c:pt idx="131">
                  <c:v/>
                </c:pt>
                <c:pt idx="132">
                  <c:v/>
                </c:pt>
                <c:pt idx="133">
                  <c:v>87.3</c:v>
                </c:pt>
                <c:pt idx="134">
                  <c:v>87.5</c:v>
                </c:pt>
                <c:pt idx="135">
                  <c:v>88.4</c:v>
                </c:pt>
                <c:pt idx="136">
                  <c:v>88.1</c:v>
                </c:pt>
                <c:pt idx="137">
                  <c:v>86.8</c:v>
                </c:pt>
                <c:pt idx="138">
                  <c:v>85.5</c:v>
                </c:pt>
                <c:pt idx="139">
                  <c:v>87.9</c:v>
                </c:pt>
                <c:pt idx="140">
                  <c:v>88.6</c:v>
                </c:pt>
                <c:pt idx="141">
                  <c:v>90.5</c:v>
                </c:pt>
                <c:pt idx="142">
                  <c:v>87.1</c:v>
                </c:pt>
                <c:pt idx="143">
                  <c:v>87.6</c:v>
                </c:pt>
                <c:pt idx="144">
                  <c:v>87.8</c:v>
                </c:pt>
                <c:pt idx="145">
                  <c:v>91.2</c:v>
                </c:pt>
                <c:pt idx="146">
                  <c:v>91.6</c:v>
                </c:pt>
                <c:pt idx="147">
                  <c:v>91.9</c:v>
                </c:pt>
                <c:pt idx="148">
                  <c:v>84.1</c:v>
                </c:pt>
                <c:pt idx="149">
                  <c:v>84.7</c:v>
                </c:pt>
                <c:pt idx="150">
                  <c:v>84.5</c:v>
                </c:pt>
                <c:pt idx="151">
                  <c:v>84.7</c:v>
                </c:pt>
                <c:pt idx="152">
                  <c:v>85</c:v>
                </c:pt>
                <c:pt idx="153">
                  <c:v>86.1</c:v>
                </c:pt>
                <c:pt idx="154">
                  <c:v>87.9</c:v>
                </c:pt>
                <c:pt idx="155">
                  <c:v>88.7</c:v>
                </c:pt>
                <c:pt idx="156">
                  <c:v>91</c:v>
                </c:pt>
                <c:pt idx="157">
                  <c:v>92.3</c:v>
                </c:pt>
                <c:pt idx="158">
                  <c:v>90.3</c:v>
                </c:pt>
                <c:pt idx="159">
                  <c:v>91.6</c:v>
                </c:pt>
                <c:pt idx="160">
                  <c:v>92.5</c:v>
                </c:pt>
                <c:pt idx="161">
                  <c:v>90.8</c:v>
                </c:pt>
                <c:pt idx="162">
                  <c:v>93.1</c:v>
                </c:pt>
                <c:pt idx="163">
                  <c:v>95.8</c:v>
                </c:pt>
                <c:pt idx="164">
                  <c:v>93.4</c:v>
                </c:pt>
                <c:pt idx="165">
                  <c:v>93</c:v>
                </c:pt>
                <c:pt idx="166">
                  <c:v>95</c:v>
                </c:pt>
                <c:pt idx="167">
                  <c:v>97.2</c:v>
                </c:pt>
                <c:pt idx="168">
                  <c:v>97.7</c:v>
                </c:pt>
                <c:pt idx="169">
                  <c:v>96.4</c:v>
                </c:pt>
                <c:pt idx="170">
                  <c:v>95.8</c:v>
                </c:pt>
                <c:pt idx="171">
                  <c:v>96.4</c:v>
                </c:pt>
                <c:pt idx="172">
                  <c:v>93.7</c:v>
                </c:pt>
                <c:pt idx="173">
                  <c:v>93.1</c:v>
                </c:pt>
                <c:pt idx="174">
                  <c:v>92.9</c:v>
                </c:pt>
                <c:pt idx="175">
                  <c:v>93.3</c:v>
                </c:pt>
                <c:pt idx="176">
                  <c:v>93.9</c:v>
                </c:pt>
                <c:pt idx="177">
                  <c:v>95</c:v>
                </c:pt>
                <c:pt idx="178">
                  <c:v>95.2</c:v>
                </c:pt>
                <c:pt idx="179">
                  <c:v>94.2</c:v>
                </c:pt>
                <c:pt idx="180">
                  <c:v>94.6</c:v>
                </c:pt>
                <c:pt idx="181">
                  <c:v>94.2</c:v>
                </c:pt>
                <c:pt idx="182">
                  <c:v>93.9</c:v>
                </c:pt>
                <c:pt idx="183">
                  <c:v>93.4</c:v>
                </c:pt>
                <c:pt idx="184">
                  <c:v>91.6</c:v>
                </c:pt>
                <c:pt idx="185">
                  <c:v>91.9</c:v>
                </c:pt>
                <c:pt idx="186">
                  <c:v>91.7</c:v>
                </c:pt>
                <c:pt idx="187">
                  <c:v>93.8</c:v>
                </c:pt>
                <c:pt idx="188">
                  <c:v>93.5</c:v>
                </c:pt>
                <c:pt idx="189">
                  <c:v>93.7</c:v>
                </c:pt>
                <c:pt idx="190">
                  <c:v>93.7</c:v>
                </c:pt>
                <c:pt idx="191">
                  <c:v>93.1</c:v>
                </c:pt>
                <c:pt idx="192">
                  <c:v>93.5</c:v>
                </c:pt>
                <c:pt idx="193">
                  <c:v>94.1</c:v>
                </c:pt>
                <c:pt idx="194">
                  <c:v>90.2</c:v>
                </c:pt>
                <c:pt idx="195">
                  <c:v>90.6</c:v>
                </c:pt>
                <c:pt idx="196">
                  <c:v>90.4</c:v>
                </c:pt>
                <c:pt idx="197">
                  <c:v>89.5</c:v>
                </c:pt>
                <c:pt idx="198">
                  <c:v>89.7</c:v>
                </c:pt>
                <c:pt idx="199">
                  <c:v>90.6</c:v>
                </c:pt>
                <c:pt idx="200">
                  <c:v>90.5</c:v>
                </c:pt>
                <c:pt idx="201">
                  <c:v>91.3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tickLblSkip val="24"/>
      </c:catAx>
      <c:valAx>
        <c:axId val="2094734552"/>
        <c:scaling>
          <c:orientation val="minMax"/>
          <c:max val="120"/>
          <c:min val="40"/>
        </c:scaling>
        <c:delete val="0"/>
        <c:axPos val="l"/>
        <c:majorGridlines>
          <c:spPr>
            <a:ln w="9525"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Macro-F1 against 450 double-labelled items</a:t>
            </a:r>
          </a:p>
        </c:rich>
      </c:tx>
      <c:layout/>
      <c:overlay val="0"/>
    </c:title>
    <c:autoTitleDeleted val="0"/>
    <c:plotArea>
      <c:layout/>
      <c:barChart>
        <c:barDir val="bar"/>
        <c:grouping val="clustered"/>
        <c:varyColors val="0"/>
        <c:ser>
          <c:idx val="0"/>
          <c:order val="0"/>
          <c:tx>
            <c:strRef>
              <c:f>Sheet1!$B$1</c:f>
              <c:strCache>
                <c:ptCount val="1"/>
                <c:pt idx="0">
                  <c:v>Relevance</c:v>
                </c:pt>
              </c:strCache>
            </c:strRef>
          </c:tx>
          <c:spPr>
            <a:solidFill>
              <a:srgbClr val="7A8699"/>
            </a:solidFill>
            <a:effectLst/>
          </c:spPr>
          <c:invertIfNegative val="0"/>
          <c:dLbls>
            <c:numFmt formatCode="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Claude Opus coder</c:v>
                  </c:pt>
                  <c:pt idx="1">
                    <c:v>TF-IDF trained on Opus codes</c:v>
                  </c:pt>
                  <c:pt idx="2">
                    <c:v>TF-IDF trained on gold</c:v>
                  </c:pt>
                  <c:pt idx="3">
                    <c:v>Loughran-McDonald dictionary</c:v>
                  </c:pt>
                </c:lvl>
              </c:multiLvlStrCache>
            </c:multiLvlStrRef>
          </c:cat>
          <c:val>
            <c:numRef>
              <c:f>Sheet1!$B$2:$B$5</c:f>
              <c:numCache>
                <c:formatCode>General</c:formatCode>
                <c:ptCount val="4"/>
                <c:pt idx="0">
                  <c:v>0.96</c:v>
                </c:pt>
                <c:pt idx="1">
                  <c:v>0.83</c:v>
                </c:pt>
                <c:pt idx="2">
                  <c:v>0.72</c:v>
                </c:pt>
                <c:pt idx="3">
                  <c:v>0.33</c:v>
                </c:pt>
              </c:numCache>
            </c:numRef>
          </c:val>
        </c:ser>
        <c:ser>
          <c:idx val="1"/>
          <c:order val="1"/>
          <c:tx>
            <c:strRef>
              <c:f>Sheet1!$C$1</c:f>
              <c:strCache>
                <c:ptCount val="1"/>
                <c:pt idx="0">
                  <c:v>Tone</c:v>
                </c:pt>
              </c:strCache>
            </c:strRef>
          </c:tx>
          <c:spPr>
            <a:solidFill>
              <a:srgbClr val="2A7F86"/>
            </a:solidFill>
            <a:effectLst/>
          </c:spPr>
          <c:invertIfNegative val="0"/>
          <c:dLbls>
            <c:numFmt formatCode="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Claude Opus coder</c:v>
                  </c:pt>
                  <c:pt idx="1">
                    <c:v>TF-IDF trained on Opus codes</c:v>
                  </c:pt>
                  <c:pt idx="2">
                    <c:v>TF-IDF trained on gold</c:v>
                  </c:pt>
                  <c:pt idx="3">
                    <c:v>Loughran-McDonald dictionary</c:v>
                  </c:pt>
                </c:lvl>
              </c:multiLvlStrCache>
            </c:multiLvlStrRef>
          </c:cat>
          <c:val>
            <c:numRef>
              <c:f>Sheet1!$C$2:$C$5</c:f>
              <c:numCache>
                <c:formatCode>General</c:formatCode>
                <c:ptCount val="4"/>
                <c:pt idx="0">
                  <c:v>0.94</c:v>
                </c:pt>
                <c:pt idx="1">
                  <c:v>0.63</c:v>
                </c:pt>
                <c:pt idx="2">
                  <c:v>0.48</c:v>
                </c:pt>
                <c:pt idx="3">
                  <c:v>0.38</c:v>
                </c:pt>
              </c:numCache>
            </c:numRef>
          </c:val>
        </c:ser>
        <c:dLbls>
          <c:numFmt formatCode="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majorGridlines>
          <c:spPr>
            <a:ln w="9525" cap="flat">
              <a:solidFill>
                <a:srgbClr val="DDE2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Share of inflation-direction stories saying inflation is rising</a:t>
            </a:r>
          </a:p>
        </c:rich>
      </c:tx>
      <c:layout/>
      <c:overlay val="0"/>
    </c:title>
    <c:autoTitleDeleted val="0"/>
    <c:plotArea>
      <c:layout/>
      <c:barChart>
        <c:barDir val="col"/>
        <c:grouping val="clustered"/>
        <c:varyColors val="0"/>
        <c:ser>
          <c:idx val="0"/>
          <c:order val="0"/>
          <c:tx>
            <c:strRef>
              <c:f>Sheet1!$B$1</c:f>
              <c:strCache>
                <c:ptCount val="1"/>
                <c:pt idx="0">
                  <c:v>Share of inflation stories saying 'rising'</c:v>
                </c:pt>
              </c:strCache>
            </c:strRef>
          </c:tx>
          <c:spPr>
            <a:solidFill>
              <a:srgbClr val="3F6FB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3F6FB5"/>
              </a:solidFill>
              <a:effectLst/>
            </c:spPr>
          </c:dPt>
          <c:dPt>
            <c:idx val="1"/>
            <c:invertIfNegative val="0"/>
            <c:bubble3D val="0"/>
            <c:spPr>
              <a:solidFill>
                <a:srgbClr val="D9822B"/>
              </a:solidFill>
              <a:effectLst/>
            </c:spPr>
          </c:dPt>
          <c:cat>
            <c:multiLvlStrRef>
              <c:f>Sheet1!$A$2:$A$3</c:f>
              <c:multiLvlStrCache>
                <c:ptCount val="2"/>
                <c:lvl>
                  <c:pt idx="0">
                    <c:v>Months when inflation fell</c:v>
                  </c:pt>
                  <c:pt idx="1">
                    <c:v>Months when inflation rose</c:v>
                  </c:pt>
                </c:lvl>
              </c:multiLvlStrCache>
            </c:multiLvlStrRef>
          </c:cat>
          <c:val>
            <c:numRef>
              <c:f>Sheet1!$B$2:$B$3</c:f>
              <c:numCache>
                <c:formatCode>General</c:formatCode>
                <c:ptCount val="2"/>
                <c:pt idx="0">
                  <c:v>0.33</c:v>
                </c:pt>
                <c:pt idx="1">
                  <c:v>0.59</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DDE2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Index points below the economy-only model, 2026</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C2453A"/>
            </a:solidFill>
            <a:effectLst/>
          </c:spPr>
          <c:invertIfNegative val="0"/>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C2453A"/>
              </a:solidFill>
              <a:effectLst/>
            </c:spPr>
          </c:dPt>
          <c:dPt>
            <c:idx val="1"/>
            <c:invertIfNegative val="0"/>
            <c:bubble3D val="0"/>
            <c:spPr>
              <a:solidFill>
                <a:srgbClr val="7A8699"/>
              </a:solidFill>
              <a:effectLst/>
            </c:spPr>
          </c:dPt>
          <c:dPt>
            <c:idx val="2"/>
            <c:invertIfNegative val="0"/>
            <c:bubble3D val="0"/>
            <c:spPr>
              <a:solidFill>
                <a:srgbClr val="D9822B"/>
              </a:solidFill>
              <a:effectLst/>
            </c:spPr>
          </c:dPt>
          <c:cat>
            <c:multiLvlStrRef>
              <c:f>Sheet1!$A$2:$A$4</c:f>
              <c:multiLvlStrCache>
                <c:ptCount val="3"/>
                <c:lvl>
                  <c:pt idx="0">
                    <c:v>Sentiment gap, 2026 mean</c:v>
                  </c:pt>
                  <c:pt idx="1">
                    <c:v>Survey switch to web interviews</c:v>
                  </c:pt>
                  <c:pt idx="2">
                    <c:v>News tone, if fully causal (90% bound)</c:v>
                  </c:pt>
                </c:lvl>
              </c:multiLvlStrCache>
            </c:multiLvlStrRef>
          </c:cat>
          <c:val>
            <c:numRef>
              <c:f>Sheet1!$B$2:$B$4</c:f>
              <c:numCache>
                <c:formatCode>General</c:formatCode>
                <c:ptCount val="3"/>
                <c:pt idx="0">
                  <c:v>39.9</c:v>
                </c:pt>
                <c:pt idx="1">
                  <c:v>6.6</c:v>
                </c:pt>
                <c:pt idx="2">
                  <c:v>2.4</c:v>
                </c:pt>
              </c:numCache>
            </c:numRef>
          </c:val>
        </c:ser>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b"/>
        <c:majorGridlines>
          <c:spPr>
            <a:ln w="9525" cap="flat">
              <a:solidFill>
                <a:srgbClr val="DDE2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Share worse off because of higher prices (%)</a:t>
            </a:r>
          </a:p>
        </c:rich>
      </c:tx>
      <c:layout/>
      <c:overlay val="0"/>
    </c:title>
    <c:autoTitleDeleted val="0"/>
    <c:plotArea>
      <c:layout/>
      <c:lineChart>
        <c:varyColors val="0"/>
        <c:ser>
          <c:idx val="0"/>
          <c:order val="0"/>
          <c:tx>
            <c:strRef>
              <c:f>Sheet1!$B$1</c:f>
              <c:strCache>
                <c:ptCount val="1"/>
                <c:pt idx="0">
                  <c:v>% worse off because of higher prices</c:v>
                </c:pt>
              </c:strCache>
            </c:strRef>
          </c:tx>
          <c:spPr>
            <a:solidFill>
              <a:srgbClr val="D9822B"/>
            </a:solidFill>
            <a:ln w="38100" cap="flat">
              <a:solidFill>
                <a:srgbClr val="D9822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9822B"/>
              </a:solidFill>
              <a:ln w="9525" cap="flat">
                <a:solidFill>
                  <a:srgbClr val="D9822B"/>
                </a:solidFill>
                <a:prstDash val="solid"/>
                <a:round/>
              </a:ln>
              <a:effectLst/>
            </c:spPr>
          </c:marker>
          <c:cat>
            <c:multiLvlStrRef>
              <c:f>Sheet1!$A$2:$A$18</c:f>
              <c:multiLvlStrCache>
                <c:ptCount val="17"/>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lvl>
              </c:multiLvlStrCache>
            </c:multiLvlStrRef>
          </c:cat>
          <c:val>
            <c:numRef>
              <c:f>Sheet1!$B$2:$B$18</c:f>
              <c:numCache>
                <c:formatCode>General</c:formatCode>
                <c:ptCount val="17"/>
                <c:pt idx="0">
                  <c:v>16.8</c:v>
                </c:pt>
                <c:pt idx="1">
                  <c:v>25.2</c:v>
                </c:pt>
                <c:pt idx="2">
                  <c:v>23.1</c:v>
                </c:pt>
                <c:pt idx="3">
                  <c:v>18.2</c:v>
                </c:pt>
                <c:pt idx="4">
                  <c:v>16.5</c:v>
                </c:pt>
                <c:pt idx="5">
                  <c:v>11.8</c:v>
                </c:pt>
                <c:pt idx="6">
                  <c:v>10.2</c:v>
                </c:pt>
                <c:pt idx="7">
                  <c:v>7.1</c:v>
                </c:pt>
                <c:pt idx="8">
                  <c:v>7.6</c:v>
                </c:pt>
                <c:pt idx="9">
                  <c:v>7.3</c:v>
                </c:pt>
                <c:pt idx="10">
                  <c:v>4.8</c:v>
                </c:pt>
                <c:pt idx="11">
                  <c:v>14.2</c:v>
                </c:pt>
                <c:pt idx="12">
                  <c:v>39.8</c:v>
                </c:pt>
                <c:pt idx="13">
                  <c:v>39.2</c:v>
                </c:pt>
                <c:pt idx="14">
                  <c:v>40.3</c:v>
                </c:pt>
                <c:pt idx="15">
                  <c:v>40.9</c:v>
                </c:pt>
                <c:pt idx="16">
                  <c:v>50.5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tickLblSkip val="4"/>
      </c:catAx>
      <c:valAx>
        <c:axId val="2094734552"/>
        <c:scaling>
          <c:orientation val="minMax"/>
          <c:max val="60"/>
          <c:min val="0"/>
        </c:scaling>
        <c:delete val="0"/>
        <c:axPos val="l"/>
        <c:majorGridlines>
          <c:spPr>
            <a:ln w="9525"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Sentiment by party around the Nov 2024 election</a:t>
            </a:r>
          </a:p>
        </c:rich>
      </c:tx>
      <c:layout/>
      <c:overlay val="0"/>
    </c:title>
    <c:autoTitleDeleted val="0"/>
    <c:plotArea>
      <c:layout/>
      <c:lineChart>
        <c:varyColors val="0"/>
        <c:ser>
          <c:idx val="0"/>
          <c:order val="0"/>
          <c:tx>
            <c:strRef>
              <c:f>Sheet1!$B$1</c:f>
              <c:strCache>
                <c:ptCount val="1"/>
                <c:pt idx="0">
                  <c:v>Democrats</c:v>
                </c:pt>
              </c:strCache>
            </c:strRef>
          </c:tx>
          <c:spPr>
            <a:solidFill>
              <a:srgbClr val="3F6FB5"/>
            </a:solidFill>
            <a:ln w="38100" cap="flat">
              <a:solidFill>
                <a:srgbClr val="3F6FB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3F6FB5"/>
              </a:solidFill>
              <a:ln w="9525" cap="flat">
                <a:solidFill>
                  <a:srgbClr val="3F6FB5"/>
                </a:solidFill>
                <a:prstDash val="solid"/>
                <a:round/>
              </a:ln>
              <a:effectLst/>
            </c:spPr>
          </c:marker>
          <c:cat>
            <c:multiLvlStrRef>
              <c:f>Sheet1!$A$2:$A$9</c:f>
              <c:multiLvlStrCache>
                <c:ptCount val="8"/>
                <c:lvl>
                  <c:pt idx="0">
                    <c:v>Aug 24</c:v>
                  </c:pt>
                  <c:pt idx="1">
                    <c:v>Sep 24</c:v>
                  </c:pt>
                  <c:pt idx="2">
                    <c:v>Oct 24</c:v>
                  </c:pt>
                  <c:pt idx="3">
                    <c:v>Nov 24</c:v>
                  </c:pt>
                  <c:pt idx="4">
                    <c:v>Dec 24</c:v>
                  </c:pt>
                  <c:pt idx="5">
                    <c:v>Jan 25</c:v>
                  </c:pt>
                  <c:pt idx="6">
                    <c:v>Feb 25</c:v>
                  </c:pt>
                  <c:pt idx="7">
                    <c:v>Mar 25</c:v>
                  </c:pt>
                </c:lvl>
              </c:multiLvlStrCache>
            </c:multiLvlStrRef>
          </c:cat>
          <c:val>
            <c:numRef>
              <c:f>Sheet1!$B$2:$B$9</c:f>
              <c:numCache>
                <c:formatCode>General</c:formatCode>
                <c:ptCount val="8"/>
                <c:pt idx="0">
                  <c:v>90.9</c:v>
                </c:pt>
                <c:pt idx="1">
                  <c:v>92.6</c:v>
                </c:pt>
                <c:pt idx="2">
                  <c:v>91.4</c:v>
                </c:pt>
                <c:pt idx="3">
                  <c:v>81.3</c:v>
                </c:pt>
                <c:pt idx="4">
                  <c:v>69.6</c:v>
                </c:pt>
                <c:pt idx="5">
                  <c:v>65</c:v>
                </c:pt>
                <c:pt idx="6">
                  <c:v>51.3</c:v>
                </c:pt>
                <c:pt idx="7">
                  <c:v>41.3</c:v>
                </c:pt>
              </c:numCache>
            </c:numRef>
          </c:val>
          <c:smooth val="0"/>
        </c:ser>
        <c:ser>
          <c:idx val="1"/>
          <c:order val="1"/>
          <c:tx>
            <c:strRef>
              <c:f>Sheet1!$C$1</c:f>
              <c:strCache>
                <c:ptCount val="1"/>
                <c:pt idx="0">
                  <c:v>Republicans</c:v>
                </c:pt>
              </c:strCache>
            </c:strRef>
          </c:tx>
          <c:spPr>
            <a:solidFill>
              <a:srgbClr val="C2453A"/>
            </a:solidFill>
            <a:ln w="38100" cap="flat">
              <a:solidFill>
                <a:srgbClr val="C2453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C2453A"/>
              </a:solidFill>
              <a:ln w="9525" cap="flat">
                <a:solidFill>
                  <a:srgbClr val="C2453A"/>
                </a:solidFill>
                <a:prstDash val="solid"/>
                <a:round/>
              </a:ln>
              <a:effectLst/>
            </c:spPr>
          </c:marker>
          <c:cat>
            <c:multiLvlStrRef>
              <c:f>Sheet1!$A$2:$A$9</c:f>
              <c:multiLvlStrCache>
                <c:ptCount val="8"/>
                <c:lvl>
                  <c:pt idx="0">
                    <c:v>Aug 24</c:v>
                  </c:pt>
                  <c:pt idx="1">
                    <c:v>Sep 24</c:v>
                  </c:pt>
                  <c:pt idx="2">
                    <c:v>Oct 24</c:v>
                  </c:pt>
                  <c:pt idx="3">
                    <c:v>Nov 24</c:v>
                  </c:pt>
                  <c:pt idx="4">
                    <c:v>Dec 24</c:v>
                  </c:pt>
                  <c:pt idx="5">
                    <c:v>Jan 25</c:v>
                  </c:pt>
                  <c:pt idx="6">
                    <c:v>Feb 25</c:v>
                  </c:pt>
                  <c:pt idx="7">
                    <c:v>Mar 25</c:v>
                  </c:pt>
                </c:lvl>
              </c:multiLvlStrCache>
            </c:multiLvlStrRef>
          </c:cat>
          <c:val>
            <c:numRef>
              <c:f>Sheet1!$C$2:$C$9</c:f>
              <c:numCache>
                <c:formatCode>General</c:formatCode>
                <c:ptCount val="8"/>
                <c:pt idx="0">
                  <c:v>47.4</c:v>
                </c:pt>
                <c:pt idx="1">
                  <c:v>49.7</c:v>
                </c:pt>
                <c:pt idx="2">
                  <c:v>53.6</c:v>
                </c:pt>
                <c:pt idx="3">
                  <c:v>69.1</c:v>
                </c:pt>
                <c:pt idx="4">
                  <c:v>85.4</c:v>
                </c:pt>
                <c:pt idx="5">
                  <c:v>86.7</c:v>
                </c:pt>
                <c:pt idx="6">
                  <c:v>86.7</c:v>
                </c:pt>
                <c:pt idx="7">
                  <c:v>87.4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9525"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659"/>
                </a:solidFill>
                <a:latin typeface="+mn-lt"/>
              </a:defRPr>
            </a:pPr>
            <a:r>
              <a:rPr sz="1400" b="0" i="0" u="none" strike="noStrike">
                <a:solidFill>
                  <a:srgbClr val="3A4659"/>
                </a:solidFill>
                <a:latin typeface="+mn-lt"/>
              </a:rPr>
              <a:t>Out-of-sample error, 107 monthly nowcasts 2017-2026 (index points)</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7A8699"/>
            </a:solidFill>
            <a:effectLst/>
          </c:spPr>
          <c:invertIfNegative val="0"/>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7A8699"/>
              </a:solidFill>
              <a:effectLst/>
            </c:spPr>
          </c:dPt>
          <c:dPt>
            <c:idx val="1"/>
            <c:invertIfNegative val="0"/>
            <c:bubble3D val="0"/>
            <c:spPr>
              <a:solidFill>
                <a:srgbClr val="C2453A"/>
              </a:solidFill>
              <a:effectLst/>
            </c:spPr>
          </c:dPt>
          <c:dPt>
            <c:idx val="2"/>
            <c:invertIfNegative val="0"/>
            <c:bubble3D val="0"/>
            <c:spPr>
              <a:solidFill>
                <a:srgbClr val="D9822B"/>
              </a:solidFill>
              <a:effectLst/>
            </c:spPr>
          </c:dPt>
          <c:dPt>
            <c:idx val="3"/>
            <c:invertIfNegative val="0"/>
            <c:bubble3D val="0"/>
            <c:spPr>
              <a:solidFill>
                <a:srgbClr val="2A7F86"/>
              </a:solidFill>
              <a:effectLst/>
            </c:spPr>
          </c:dPt>
          <c:cat>
            <c:multiLvlStrRef>
              <c:f>Sheet1!$A$2:$A$5</c:f>
              <c:multiLvlStrCache>
                <c:ptCount val="4"/>
                <c:lvl>
                  <c:pt idx="0">
                    <c:v>Economy only</c:v>
                  </c:pt>
                  <c:pt idx="1">
                    <c:v>+ news tone</c:v>
                  </c:pt>
                  <c:pt idx="2">
                    <c:v>+ household pressures</c:v>
                  </c:pt>
                  <c:pt idx="3">
                    <c:v>+ both</c:v>
                  </c:pt>
                </c:lvl>
              </c:multiLvlStrCache>
            </c:multiLvlStrRef>
          </c:cat>
          <c:val>
            <c:numRef>
              <c:f>Sheet1!$B$2:$B$5</c:f>
              <c:numCache>
                <c:formatCode>General</c:formatCode>
                <c:ptCount val="4"/>
                <c:pt idx="0">
                  <c:v>13.5</c:v>
                </c:pt>
                <c:pt idx="1">
                  <c:v>13.1</c:v>
                </c:pt>
                <c:pt idx="2">
                  <c:v>9.2</c:v>
                </c:pt>
                <c:pt idx="3">
                  <c:v>9</c:v>
                </c:pt>
              </c:numCache>
            </c:numRef>
          </c:val>
        </c:ser>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DD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6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Michigan sentiment hit a record low of 44.8 in May 2026, below anything in 2008 or 2022, while unemployment sat near 4.2% and the economy kept growing. My question is why, and what a forecaster or risk manager should do with that number. The answer I will defend in the next seven minutes: the gap is real and huge, but it is mostly about the price level and partisanship, news coverage explains very little of it, and in my sample it has not predicted spending. So do not plan on the headline sentiment number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fit sentiment on unemployment, headline PCE inflation and real GDP growth over 2010 to 2019, using only data that was actually published by mid-month, and predict forward. The model expects sentiment around 91.1 in 2026; actual sentiment averaged 51.2. The mean gap is -39.9 points, against a no-change band of about plus or minus 5. From 2019 to 2026 sentiment fell 45 points and these three indicators explain only 16 percent of it. The gap itself held for every data variant I tried: core PCE, CPI, year-on-year GDP, revised data. So the question is what fills the other 84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us to separate three stories and not to assume any of them. Before running any test I wrote down, with a timestamp, what result would count as support for each one. H1: household pressures that the headline numbers miss. H2: perceptions shaped by coverage. H3: measurement, timing or a broken model. The verdicts by those rules are on the cards. For H1 the rule was that controls like mortgage rates and real income close at least half the gap; for H2, that news tone passes a strict multi-gate test and improves forecasts; for H3, that survey mode, revisions or model instability account for at least a quarter. The next slides show the evidence, starting with how I measured the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coded about 8,600 distinct headlines and Reddit posts with Claude Opus on five dimensions: tone, which topics get attention, framing such as price levels versus inflation rates, whether numbers match official data, and who gets blamed. Against 450 items labelled by two independent annotators, Opus scores 0.94 on tone; a classic finance dictionary scores 0.38. Opus also passed every minimal-pair check, and swapping party names did not change tone more than a meaningless edit. One honest caveat: the gold labels are also from Opus instances, not humans, so treat these as upper bounds. The guide is in the repo for human relabelling.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bias needs a benchmark. Benchmarked against what inflation actually did: in the 97 months when inflation fell, a third of inflation-direction stories still said it was rising. Tone gets darker when inflation rises and does not brighten when it falls, one-sided p of 0.002. For jobs I find no significant asymmetry, and most jobs numbers are reported accurately. So the media bias is specific: cooling inflation is under-reported. Right-leaning outlets are also more negative, more so under Democratic presidents, but that part is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that bias depress sentiment? With 17 years of monthly data and household controls, news negativity has the right sign but fails the pre-registered test. If I take the association as fully causal, it accounts for about one point of the 40-point gap, and at most 2.4 points. The survey's own switch to web interviews moves the index by 6.6. And in Granger terms sentiment leads the SF Fed news index, not the reverse. So media coverage looks more like a mirror than a driver; a proper causal answer would need a randomized framing experiment, which I lay out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do track the gap. First the price level: the share of people who say they are worse off because of higher prices went from about 7 percent in 2019 to about half in 2026, and it follows the level of prices against trend, R squared 0.81, far better than the inflation rate. Falling inflation does not undo a higher bill. Second, party: after the 2024 election Democrats dropped 22 points and Republicans jumped 32 in two months, with fundamentals unchanged and partisan outlets' tone barely moving. The gap is also broad: every income, age and region group sits 33 to 45 points below its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prediction I re-estimated each model every month using only past data, 107 nowcasts from 2017. Adding news tone to the economy cuts the error from 13.5 to 13.1: borderline, p = 0.053, and tiny. The news classifier is re-trained every month on codes available at the time, so nothing published later enters a forecast. Adding household pressures, cumulative inflation, mortgage rates, affordability, real income, cuts the error to 9.2, and news then adds a similar, borderline amount on top. That household comparison was not pre-registered, so I flag it as exploratory, but the gap is large. The small news gain holds with a rolling window and across six variants of the news measure, but a placebo that shifts the news series in time gets almost as many hits, so I read it as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one practical implication for forecasting and risk: do not treat the record low as a signal of weaker consumer spending on its own. In this sample neither sentiment nor the gap predicted real consumer spending one or three months ahead, which matches research showing partisan pessimism does not reach the wallet. That is a null with modest power, from an exploratory test, and I did not test recession risk directly. In practice: in a spending forecast or a consumer-credit risk model, do not give the headline index weight on its own. Separately, for nowcasting sentiment itself, household-pressure data beat news tone. Limitations: AI labels are not human labels, I used headlines only, and the media evidence is observational.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FRE-GY 7871 Final Project · Aditya Gupta · data to Oct 12,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Record-low sentiment is not, by itself, a spending signal</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en-US" sz="2000" dirty="0">
                <a:solidFill>
                  <a:schemeClr val="bg2"/>
                </a:solidFill>
              </a:rPr>
              <a:t>AI, economic perceptions and Michigan consumer sentiment before the 2026 midterms</a:t>
            </a:r>
            <a:endParaRPr lang="en-US" sz="2000" dirty="0"/>
          </a:p>
          <a:p>
            <a:pPr indent="0" marL="0">
              <a:buNone/>
            </a:pPr>
            <a:r>
              <a:rPr lang="en-US" sz="1600" dirty="0">
                <a:solidFill>
                  <a:schemeClr val="bg2"/>
                </a:solidFill>
              </a:rPr>
              <a:t>Aditya Gupta · FRE-GY 7871 NLP and the Investment Process · Final Project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Sentiment is 40 points below what the economy predicts</a:t>
            </a:r>
            <a:endParaRPr lang="en-US" sz="3000" dirty="0"/>
          </a:p>
        </p:txBody>
      </p:sp>
      <p:graphicFrame>
        <p:nvGraphicFramePr>
          <p:cNvPr id="3" name="gap_chart" descr=""/>
          <p:cNvGraphicFramePr/>
          <p:nvPr/>
        </p:nvGraphicFramePr>
        <p:xfrm>
          <a:off x="548640" y="132588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4" name="gap_value"/>
          <p:cNvSpPr txBox="1"/>
          <p:nvPr/>
        </p:nvSpPr>
        <p:spPr>
          <a:xfrm>
            <a:off x="8412480" y="1463040"/>
            <a:ext cx="3291840" cy="86868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-39.9</a:t>
            </a:r>
            <a:endParaRPr lang="en-US" sz="4800" dirty="0"/>
          </a:p>
        </p:txBody>
      </p:sp>
      <p:sp>
        <p:nvSpPr>
          <p:cNvPr id="5" name="gap_label"/>
          <p:cNvSpPr txBox="1"/>
          <p:nvPr/>
        </p:nvSpPr>
        <p:spPr>
          <a:xfrm>
            <a:off x="8412480" y="2331720"/>
            <a:ext cx="3291840" cy="685800"/>
          </a:xfrm>
          <a:prstGeom prst="rect">
            <a:avLst/>
          </a:prstGeom>
          <a:noFill/>
          <a:ln/>
        </p:spPr>
        <p:txBody>
          <a:bodyPr wrap="square" lIns="0" tIns="0" rIns="0" bIns="0" rtlCol="0" anchor="t"/>
          <a:lstStyle/>
          <a:p>
            <a:pPr indent="0" marL="0">
              <a:buNone/>
            </a:pPr>
            <a:r>
              <a:rPr lang="en-US" sz="1400" dirty="0">
                <a:solidFill>
                  <a:schemeClr val="tx2"/>
                </a:solidFill>
              </a:rPr>
              <a:t>points: mean gap Jan to Oct 2026 (no-change band -5.6 to +5.2)</a:t>
            </a:r>
            <a:endParaRPr lang="en-US" sz="1400" dirty="0"/>
          </a:p>
        </p:txBody>
      </p:sp>
      <p:sp>
        <p:nvSpPr>
          <p:cNvPr id="6" name="explained_value"/>
          <p:cNvSpPr txBox="1"/>
          <p:nvPr/>
        </p:nvSpPr>
        <p:spPr>
          <a:xfrm>
            <a:off x="8412480" y="3154680"/>
            <a:ext cx="329184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16%</a:t>
            </a:r>
            <a:endParaRPr lang="en-US" sz="4800" dirty="0"/>
          </a:p>
        </p:txBody>
      </p:sp>
      <p:sp>
        <p:nvSpPr>
          <p:cNvPr id="7" name="explained_label"/>
          <p:cNvSpPr txBox="1"/>
          <p:nvPr/>
        </p:nvSpPr>
        <p:spPr>
          <a:xfrm>
            <a:off x="8412480" y="4023360"/>
            <a:ext cx="3291840" cy="685800"/>
          </a:xfrm>
          <a:prstGeom prst="rect">
            <a:avLst/>
          </a:prstGeom>
          <a:noFill/>
          <a:ln/>
        </p:spPr>
        <p:txBody>
          <a:bodyPr wrap="square" lIns="0" tIns="0" rIns="0" bIns="0" rtlCol="0" anchor="t"/>
          <a:lstStyle/>
          <a:p>
            <a:pPr indent="0" marL="0">
              <a:buNone/>
            </a:pPr>
            <a:r>
              <a:rPr lang="en-US" sz="1400" dirty="0">
                <a:solidFill>
                  <a:schemeClr val="tx2"/>
                </a:solidFill>
              </a:rPr>
              <a:t>of the 2019 to 2026 fall explained by unemployment, inflation and growth (CI 5 to 26%)</a:t>
            </a:r>
            <a:endParaRPr lang="en-US" sz="1400" dirty="0"/>
          </a:p>
        </p:txBody>
      </p:sp>
      <p:sp>
        <p:nvSpPr>
          <p:cNvPr id="8" name="low_value"/>
          <p:cNvSpPr txBox="1"/>
          <p:nvPr/>
        </p:nvSpPr>
        <p:spPr>
          <a:xfrm>
            <a:off x="8412480" y="4846320"/>
            <a:ext cx="3291840" cy="86868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44.8</a:t>
            </a:r>
            <a:endParaRPr lang="en-US" sz="4800" dirty="0"/>
          </a:p>
        </p:txBody>
      </p:sp>
      <p:sp>
        <p:nvSpPr>
          <p:cNvPr id="9" name="low_label"/>
          <p:cNvSpPr txBox="1"/>
          <p:nvPr/>
        </p:nvSpPr>
        <p:spPr>
          <a:xfrm>
            <a:off x="8412480" y="5715000"/>
            <a:ext cx="3291840" cy="685800"/>
          </a:xfrm>
          <a:prstGeom prst="rect">
            <a:avLst/>
          </a:prstGeom>
          <a:noFill/>
          <a:ln/>
        </p:spPr>
        <p:txBody>
          <a:bodyPr wrap="square" lIns="0" tIns="0" rIns="0" bIns="0" rtlCol="0" anchor="t"/>
          <a:lstStyle/>
          <a:p>
            <a:pPr indent="0" marL="0">
              <a:buNone/>
            </a:pPr>
            <a:r>
              <a:rPr lang="en-US" sz="1400" dirty="0">
                <a:solidFill>
                  <a:schemeClr val="tx2"/>
                </a:solidFill>
              </a:rPr>
              <a:t>May 2026, the lowest reading on record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Three explanations, judged by rules written before the data</a:t>
            </a:r>
            <a:endParaRPr lang="en-US" sz="3000" dirty="0"/>
          </a:p>
        </p:txBody>
      </p:sp>
      <p:sp>
        <p:nvSpPr>
          <p:cNvPr id="3" name="card_H1"/>
          <p:cNvSpPr/>
          <p:nvPr/>
        </p:nvSpPr>
        <p:spPr>
          <a:xfrm>
            <a:off x="548640" y="1463040"/>
            <a:ext cx="3520440" cy="4572000"/>
          </a:xfrm>
          <a:prstGeom prst="roundRect">
            <a:avLst>
              <a:gd name="adj" fmla="val 3117"/>
            </a:avLst>
          </a:prstGeom>
          <a:solidFill>
            <a:schemeClr val="bg2"/>
          </a:solidFill>
          <a:ln w="12700">
            <a:solidFill>
              <a:schemeClr val="bg2"/>
            </a:solidFill>
            <a:prstDash val="solid"/>
          </a:ln>
        </p:spPr>
      </p:sp>
      <p:sp>
        <p:nvSpPr>
          <p:cNvPr id="4" name="card_H1_circle"/>
          <p:cNvSpPr/>
          <p:nvPr/>
        </p:nvSpPr>
        <p:spPr>
          <a:xfrm>
            <a:off x="822960" y="1691640"/>
            <a:ext cx="777240" cy="777240"/>
          </a:xfrm>
          <a:prstGeom prst="ellipse">
            <a:avLst/>
          </a:prstGeom>
          <a:solidFill>
            <a:schemeClr val="accent1"/>
          </a:solidFill>
          <a:ln w="12700">
            <a:solidFill>
              <a:schemeClr val="accent1"/>
            </a:solidFill>
            <a:prstDash val="solid"/>
          </a:ln>
        </p:spPr>
      </p:sp>
      <p:sp>
        <p:nvSpPr>
          <p:cNvPr id="5" name="card_H1_tag"/>
          <p:cNvSpPr txBox="1"/>
          <p:nvPr/>
        </p:nvSpPr>
        <p:spPr>
          <a:xfrm>
            <a:off x="82296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H1</a:t>
            </a:r>
            <a:endParaRPr lang="en-US" sz="2000" dirty="0"/>
          </a:p>
        </p:txBody>
      </p:sp>
      <p:sp>
        <p:nvSpPr>
          <p:cNvPr id="6" name="card_H1_head"/>
          <p:cNvSpPr txBox="1"/>
          <p:nvPr/>
        </p:nvSpPr>
        <p:spPr>
          <a:xfrm>
            <a:off x="1737360" y="1691640"/>
            <a:ext cx="2194560" cy="777240"/>
          </a:xfrm>
          <a:prstGeom prst="rect">
            <a:avLst/>
          </a:prstGeom>
          <a:noFill/>
          <a:ln/>
        </p:spPr>
        <p:txBody>
          <a:bodyPr wrap="square" lIns="0" tIns="0" rIns="0" bIns="0" rtlCol="0" anchor="ctr"/>
          <a:lstStyle/>
          <a:p>
            <a:pPr indent="0" marL="0">
              <a:buNone/>
            </a:pPr>
            <a:r>
              <a:rPr lang="en-US" sz="2000" b="1" dirty="0">
                <a:solidFill>
                  <a:schemeClr val="tx1"/>
                </a:solidFill>
              </a:rPr>
              <a:t>Household pressures</a:t>
            </a:r>
            <a:endParaRPr lang="en-US" sz="2000" dirty="0"/>
          </a:p>
        </p:txBody>
      </p:sp>
      <p:sp>
        <p:nvSpPr>
          <p:cNvPr id="7" name="card_H1_what"/>
          <p:cNvSpPr txBox="1"/>
          <p:nvPr/>
        </p:nvSpPr>
        <p:spPr>
          <a:xfrm>
            <a:off x="822960" y="2697480"/>
            <a:ext cx="3017520" cy="1097280"/>
          </a:xfrm>
          <a:prstGeom prst="rect">
            <a:avLst/>
          </a:prstGeom>
          <a:noFill/>
          <a:ln/>
        </p:spPr>
        <p:txBody>
          <a:bodyPr wrap="square" lIns="0" tIns="0" rIns="0" bIns="0" rtlCol="0" anchor="t"/>
          <a:lstStyle/>
          <a:p>
            <a:pPr indent="0" marL="0">
              <a:buNone/>
            </a:pPr>
            <a:r>
              <a:rPr lang="en-US" sz="1500" dirty="0">
                <a:solidFill>
                  <a:schemeClr val="tx2"/>
                </a:solidFill>
              </a:rPr>
              <a:t>Price level, borrowing costs, real income, housing</a:t>
            </a:r>
            <a:endParaRPr lang="en-US" sz="1500" dirty="0"/>
          </a:p>
        </p:txBody>
      </p:sp>
      <p:sp>
        <p:nvSpPr>
          <p:cNvPr id="8" name="card_H1_verdict"/>
          <p:cNvSpPr txBox="1"/>
          <p:nvPr/>
        </p:nvSpPr>
        <p:spPr>
          <a:xfrm>
            <a:off x="822960" y="3931920"/>
            <a:ext cx="3017520" cy="1828800"/>
          </a:xfrm>
          <a:prstGeom prst="rect">
            <a:avLst/>
          </a:prstGeom>
          <a:noFill/>
          <a:ln/>
        </p:spPr>
        <p:txBody>
          <a:bodyPr wrap="square" lIns="0" tIns="0" rIns="0" bIns="0" rtlCol="0" anchor="t"/>
          <a:lstStyle/>
          <a:p>
            <a:pPr indent="0" marL="0">
              <a:buNone/>
            </a:pPr>
            <a:r>
              <a:rPr lang="en-US" sz="1500" b="1" dirty="0">
                <a:solidFill>
                  <a:schemeClr val="tx1"/>
                </a:solidFill>
              </a:rPr>
              <a:t>Not supported by the rule: six household controls close none of the gap in a fixed 2010-19 model; three close 6% in 1992-2019</a:t>
            </a:r>
            <a:endParaRPr lang="en-US" sz="1500" dirty="0"/>
          </a:p>
        </p:txBody>
      </p:sp>
      <p:sp>
        <p:nvSpPr>
          <p:cNvPr id="9" name="card_H2"/>
          <p:cNvSpPr/>
          <p:nvPr/>
        </p:nvSpPr>
        <p:spPr>
          <a:xfrm>
            <a:off x="4343400" y="1463040"/>
            <a:ext cx="3520440" cy="4572000"/>
          </a:xfrm>
          <a:prstGeom prst="roundRect">
            <a:avLst>
              <a:gd name="adj" fmla="val 3117"/>
            </a:avLst>
          </a:prstGeom>
          <a:solidFill>
            <a:schemeClr val="bg2"/>
          </a:solidFill>
          <a:ln w="12700">
            <a:solidFill>
              <a:schemeClr val="bg2"/>
            </a:solidFill>
            <a:prstDash val="solid"/>
          </a:ln>
        </p:spPr>
      </p:sp>
      <p:sp>
        <p:nvSpPr>
          <p:cNvPr id="10" name="card_H2_circle"/>
          <p:cNvSpPr/>
          <p:nvPr/>
        </p:nvSpPr>
        <p:spPr>
          <a:xfrm>
            <a:off x="4617720" y="1691640"/>
            <a:ext cx="777240" cy="777240"/>
          </a:xfrm>
          <a:prstGeom prst="ellipse">
            <a:avLst/>
          </a:prstGeom>
          <a:solidFill>
            <a:schemeClr val="accent3"/>
          </a:solidFill>
          <a:ln w="12700">
            <a:solidFill>
              <a:schemeClr val="accent3"/>
            </a:solidFill>
            <a:prstDash val="solid"/>
          </a:ln>
        </p:spPr>
      </p:sp>
      <p:sp>
        <p:nvSpPr>
          <p:cNvPr id="11" name="card_H2_tag"/>
          <p:cNvSpPr txBox="1"/>
          <p:nvPr/>
        </p:nvSpPr>
        <p:spPr>
          <a:xfrm>
            <a:off x="461772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H2</a:t>
            </a:r>
            <a:endParaRPr lang="en-US" sz="2000" dirty="0"/>
          </a:p>
        </p:txBody>
      </p:sp>
      <p:sp>
        <p:nvSpPr>
          <p:cNvPr id="12" name="card_H2_head"/>
          <p:cNvSpPr txBox="1"/>
          <p:nvPr/>
        </p:nvSpPr>
        <p:spPr>
          <a:xfrm>
            <a:off x="5532120" y="1691640"/>
            <a:ext cx="2194560" cy="777240"/>
          </a:xfrm>
          <a:prstGeom prst="rect">
            <a:avLst/>
          </a:prstGeom>
          <a:noFill/>
          <a:ln/>
        </p:spPr>
        <p:txBody>
          <a:bodyPr wrap="square" lIns="0" tIns="0" rIns="0" bIns="0" rtlCol="0" anchor="ctr"/>
          <a:lstStyle/>
          <a:p>
            <a:pPr indent="0" marL="0">
              <a:buNone/>
            </a:pPr>
            <a:r>
              <a:rPr lang="en-US" sz="2000" b="1" dirty="0">
                <a:solidFill>
                  <a:schemeClr val="tx1"/>
                </a:solidFill>
              </a:rPr>
              <a:t>Perceptions and media</a:t>
            </a:r>
            <a:endParaRPr lang="en-US" sz="2000" dirty="0"/>
          </a:p>
        </p:txBody>
      </p:sp>
      <p:sp>
        <p:nvSpPr>
          <p:cNvPr id="13" name="card_H2_what"/>
          <p:cNvSpPr txBox="1"/>
          <p:nvPr/>
        </p:nvSpPr>
        <p:spPr>
          <a:xfrm>
            <a:off x="4617720" y="2697480"/>
            <a:ext cx="3017520" cy="1097280"/>
          </a:xfrm>
          <a:prstGeom prst="rect">
            <a:avLst/>
          </a:prstGeom>
          <a:noFill/>
          <a:ln/>
        </p:spPr>
        <p:txBody>
          <a:bodyPr wrap="square" lIns="0" tIns="0" rIns="0" bIns="0" rtlCol="0" anchor="t"/>
          <a:lstStyle/>
          <a:p>
            <a:pPr indent="0" marL="0">
              <a:buNone/>
            </a:pPr>
            <a:r>
              <a:rPr lang="en-US" sz="1500" dirty="0">
                <a:solidFill>
                  <a:schemeClr val="tx2"/>
                </a:solidFill>
              </a:rPr>
              <a:t>Negative, selective or framed coverage; partisan filters</a:t>
            </a:r>
            <a:endParaRPr lang="en-US" sz="1500" dirty="0"/>
          </a:p>
        </p:txBody>
      </p:sp>
      <p:sp>
        <p:nvSpPr>
          <p:cNvPr id="14" name="card_H2_verdict"/>
          <p:cNvSpPr txBox="1"/>
          <p:nvPr/>
        </p:nvSpPr>
        <p:spPr>
          <a:xfrm>
            <a:off x="4617720" y="3931920"/>
            <a:ext cx="3017520" cy="1828800"/>
          </a:xfrm>
          <a:prstGeom prst="rect">
            <a:avLst/>
          </a:prstGeom>
          <a:noFill/>
          <a:ln/>
        </p:spPr>
        <p:txBody>
          <a:bodyPr wrap="square" lIns="0" tIns="0" rIns="0" bIns="0" rtlCol="0" anchor="t"/>
          <a:lstStyle/>
          <a:p>
            <a:pPr indent="0" marL="0">
              <a:buNone/>
            </a:pPr>
            <a:r>
              <a:rPr lang="en-US" sz="1500" b="1" dirty="0">
                <a:solidFill>
                  <a:schemeClr val="tx1"/>
                </a:solidFill>
              </a:rPr>
              <a:t>Partly: a small, borderline forecast gain from news tone; no effect on the gap that survives the controls</a:t>
            </a:r>
            <a:endParaRPr lang="en-US" sz="1500" dirty="0"/>
          </a:p>
        </p:txBody>
      </p:sp>
      <p:sp>
        <p:nvSpPr>
          <p:cNvPr id="15" name="card_H3"/>
          <p:cNvSpPr/>
          <p:nvPr/>
        </p:nvSpPr>
        <p:spPr>
          <a:xfrm>
            <a:off x="8138160" y="1463040"/>
            <a:ext cx="3520440" cy="4572000"/>
          </a:xfrm>
          <a:prstGeom prst="roundRect">
            <a:avLst>
              <a:gd name="adj" fmla="val 3117"/>
            </a:avLst>
          </a:prstGeom>
          <a:solidFill>
            <a:schemeClr val="bg2"/>
          </a:solidFill>
          <a:ln w="12700">
            <a:solidFill>
              <a:schemeClr val="bg2"/>
            </a:solidFill>
            <a:prstDash val="solid"/>
          </a:ln>
        </p:spPr>
      </p:sp>
      <p:sp>
        <p:nvSpPr>
          <p:cNvPr id="16" name="card_H3_circle"/>
          <p:cNvSpPr/>
          <p:nvPr/>
        </p:nvSpPr>
        <p:spPr>
          <a:xfrm>
            <a:off x="8412480" y="1691640"/>
            <a:ext cx="777240" cy="777240"/>
          </a:xfrm>
          <a:prstGeom prst="ellipse">
            <a:avLst/>
          </a:prstGeom>
          <a:solidFill>
            <a:schemeClr val="accent2"/>
          </a:solidFill>
          <a:ln w="12700">
            <a:solidFill>
              <a:schemeClr val="accent2"/>
            </a:solidFill>
            <a:prstDash val="solid"/>
          </a:ln>
        </p:spPr>
      </p:sp>
      <p:sp>
        <p:nvSpPr>
          <p:cNvPr id="17" name="card_H3_tag"/>
          <p:cNvSpPr txBox="1"/>
          <p:nvPr/>
        </p:nvSpPr>
        <p:spPr>
          <a:xfrm>
            <a:off x="841248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H3</a:t>
            </a:r>
            <a:endParaRPr lang="en-US" sz="2000" dirty="0"/>
          </a:p>
        </p:txBody>
      </p:sp>
      <p:sp>
        <p:nvSpPr>
          <p:cNvPr id="18" name="card_H3_head"/>
          <p:cNvSpPr txBox="1"/>
          <p:nvPr/>
        </p:nvSpPr>
        <p:spPr>
          <a:xfrm>
            <a:off x="9326880" y="1691640"/>
            <a:ext cx="2194560" cy="777240"/>
          </a:xfrm>
          <a:prstGeom prst="rect">
            <a:avLst/>
          </a:prstGeom>
          <a:noFill/>
          <a:ln/>
        </p:spPr>
        <p:txBody>
          <a:bodyPr wrap="square" lIns="0" tIns="0" rIns="0" bIns="0" rtlCol="0" anchor="ctr"/>
          <a:lstStyle/>
          <a:p>
            <a:pPr indent="0" marL="0">
              <a:buNone/>
            </a:pPr>
            <a:r>
              <a:rPr lang="en-US" sz="2000" b="1" dirty="0">
                <a:solidFill>
                  <a:schemeClr val="tx1"/>
                </a:solidFill>
              </a:rPr>
              <a:t>Measurement and model</a:t>
            </a:r>
            <a:endParaRPr lang="en-US" sz="2000" dirty="0"/>
          </a:p>
        </p:txBody>
      </p:sp>
      <p:sp>
        <p:nvSpPr>
          <p:cNvPr id="19" name="card_H3_what"/>
          <p:cNvSpPr txBox="1"/>
          <p:nvPr/>
        </p:nvSpPr>
        <p:spPr>
          <a:xfrm>
            <a:off x="8412480" y="2697480"/>
            <a:ext cx="3017520" cy="1097280"/>
          </a:xfrm>
          <a:prstGeom prst="rect">
            <a:avLst/>
          </a:prstGeom>
          <a:noFill/>
          <a:ln/>
        </p:spPr>
        <p:txBody>
          <a:bodyPr wrap="square" lIns="0" tIns="0" rIns="0" bIns="0" rtlCol="0" anchor="t"/>
          <a:lstStyle/>
          <a:p>
            <a:pPr indent="0" marL="0">
              <a:buNone/>
            </a:pPr>
            <a:r>
              <a:rPr lang="en-US" sz="1500" dirty="0">
                <a:solidFill>
                  <a:schemeClr val="tx2"/>
                </a:solidFill>
              </a:rPr>
              <a:t>Survey mode, data timing and revisions, unstable model</a:t>
            </a:r>
            <a:endParaRPr lang="en-US" sz="1500" dirty="0"/>
          </a:p>
        </p:txBody>
      </p:sp>
      <p:sp>
        <p:nvSpPr>
          <p:cNvPr id="20" name="card_H3_verdict"/>
          <p:cNvSpPr txBox="1"/>
          <p:nvPr/>
        </p:nvSpPr>
        <p:spPr>
          <a:xfrm>
            <a:off x="8412480" y="3931920"/>
            <a:ext cx="3017520" cy="1828800"/>
          </a:xfrm>
          <a:prstGeom prst="rect">
            <a:avLst/>
          </a:prstGeom>
          <a:noFill/>
          <a:ln/>
        </p:spPr>
        <p:txBody>
          <a:bodyPr wrap="square" lIns="0" tIns="0" rIns="0" bIns="0" rtlCol="0" anchor="t"/>
          <a:lstStyle/>
          <a:p>
            <a:pPr indent="0" marL="0">
              <a:buNone/>
            </a:pPr>
            <a:r>
              <a:rPr lang="en-US" sz="1500" b="1" dirty="0">
                <a:solidFill>
                  <a:schemeClr val="tx1"/>
                </a:solidFill>
              </a:rPr>
              <a:t>Partly: the 2010s model is unstable; web interviewing is 17% of the gap, revisions 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Claude Opus reads economic news far better than word lists</a:t>
            </a:r>
            <a:endParaRPr lang="en-US" sz="3000" dirty="0"/>
          </a:p>
        </p:txBody>
      </p:sp>
      <p:graphicFrame>
        <p:nvGraphicFramePr>
          <p:cNvPr id="3" name="f1_chart"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heck_0_value"/>
          <p:cNvSpPr txBox="1"/>
          <p:nvPr/>
        </p:nvSpPr>
        <p:spPr>
          <a:xfrm>
            <a:off x="7955280" y="1463040"/>
            <a:ext cx="374904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654 / 654</a:t>
            </a:r>
            <a:endParaRPr lang="en-US" sz="3200" dirty="0"/>
          </a:p>
        </p:txBody>
      </p:sp>
      <p:sp>
        <p:nvSpPr>
          <p:cNvPr id="5" name="check_0_label"/>
          <p:cNvSpPr txBox="1"/>
          <p:nvPr/>
        </p:nvSpPr>
        <p:spPr>
          <a:xfrm>
            <a:off x="7955280" y="2148840"/>
            <a:ext cx="3749040" cy="685800"/>
          </a:xfrm>
          <a:prstGeom prst="rect">
            <a:avLst/>
          </a:prstGeom>
          <a:noFill/>
          <a:ln/>
        </p:spPr>
        <p:txBody>
          <a:bodyPr wrap="square" lIns="0" tIns="0" rIns="0" bIns="0" rtlCol="0" anchor="t"/>
          <a:lstStyle/>
          <a:p>
            <a:pPr indent="0" marL="0">
              <a:buNone/>
            </a:pPr>
            <a:r>
              <a:rPr lang="en-US" sz="1400" dirty="0">
                <a:solidFill>
                  <a:schemeClr val="tx2"/>
                </a:solidFill>
              </a:rPr>
              <a:t>minimal-pair checks right (labels known by construction)</a:t>
            </a:r>
            <a:endParaRPr lang="en-US" sz="1400" dirty="0"/>
          </a:p>
        </p:txBody>
      </p:sp>
      <p:sp>
        <p:nvSpPr>
          <p:cNvPr id="6" name="check_1_value"/>
          <p:cNvSpPr txBox="1"/>
          <p:nvPr/>
        </p:nvSpPr>
        <p:spPr>
          <a:xfrm>
            <a:off x="7955280" y="3017520"/>
            <a:ext cx="374904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0.91 to 0.98</a:t>
            </a:r>
            <a:endParaRPr lang="en-US" sz="3200" dirty="0"/>
          </a:p>
        </p:txBody>
      </p:sp>
      <p:sp>
        <p:nvSpPr>
          <p:cNvPr id="7" name="check_1_label"/>
          <p:cNvSpPr txBox="1"/>
          <p:nvPr/>
        </p:nvSpPr>
        <p:spPr>
          <a:xfrm>
            <a:off x="7955280" y="3703320"/>
            <a:ext cx="3749040" cy="685800"/>
          </a:xfrm>
          <a:prstGeom prst="rect">
            <a:avLst/>
          </a:prstGeom>
          <a:noFill/>
          <a:ln/>
        </p:spPr>
        <p:txBody>
          <a:bodyPr wrap="square" lIns="0" tIns="0" rIns="0" bIns="0" rtlCol="0" anchor="t"/>
          <a:lstStyle/>
          <a:p>
            <a:pPr indent="0" marL="0">
              <a:buNone/>
            </a:pPr>
            <a:r>
              <a:rPr lang="en-US" sz="1400" dirty="0">
                <a:solidFill>
                  <a:schemeClr val="tx2"/>
                </a:solidFill>
              </a:rPr>
              <a:t>kappa between two independent Opus annotators on the eight main fields</a:t>
            </a:r>
            <a:endParaRPr lang="en-US" sz="1400" dirty="0"/>
          </a:p>
        </p:txBody>
      </p:sp>
      <p:sp>
        <p:nvSpPr>
          <p:cNvPr id="8" name="check_2_value"/>
          <p:cNvSpPr txBox="1"/>
          <p:nvPr/>
        </p:nvSpPr>
        <p:spPr>
          <a:xfrm>
            <a:off x="7955280" y="4572000"/>
            <a:ext cx="374904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8% = 8%</a:t>
            </a:r>
            <a:endParaRPr lang="en-US" sz="3200" dirty="0"/>
          </a:p>
        </p:txBody>
      </p:sp>
      <p:sp>
        <p:nvSpPr>
          <p:cNvPr id="9" name="check_2_label"/>
          <p:cNvSpPr txBox="1"/>
          <p:nvPr/>
        </p:nvSpPr>
        <p:spPr>
          <a:xfrm>
            <a:off x="7955280" y="5257800"/>
            <a:ext cx="3749040" cy="685800"/>
          </a:xfrm>
          <a:prstGeom prst="rect">
            <a:avLst/>
          </a:prstGeom>
          <a:noFill/>
          <a:ln/>
        </p:spPr>
        <p:txBody>
          <a:bodyPr wrap="square" lIns="0" tIns="0" rIns="0" bIns="0" rtlCol="0" anchor="t"/>
          <a:lstStyle/>
          <a:p>
            <a:pPr indent="0" marL="0">
              <a:buNone/>
            </a:pPr>
            <a:r>
              <a:rPr lang="en-US" sz="1400" dirty="0">
                <a:solidFill>
                  <a:schemeClr val="tx2"/>
                </a:solidFill>
              </a:rPr>
              <a:t>tone flips when party names are swapped, same as a null edit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Coverage over-weights rising inflation, not job losses</a:t>
            </a:r>
            <a:endParaRPr lang="en-US" sz="3000" dirty="0"/>
          </a:p>
        </p:txBody>
      </p:sp>
      <p:graphicFrame>
        <p:nvGraphicFramePr>
          <p:cNvPr id="3" name="selection_chart" descr=""/>
          <p:cNvGraphicFramePr/>
          <p:nvPr/>
        </p:nvGraphicFramePr>
        <p:xfrm>
          <a:off x="548640" y="132588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4" name="asym_pi_value"/>
          <p:cNvSpPr txBox="1"/>
          <p:nvPr/>
        </p:nvSpPr>
        <p:spPr>
          <a:xfrm>
            <a:off x="7132320" y="1463040"/>
            <a:ext cx="4572000" cy="86868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p = 0.002</a:t>
            </a:r>
            <a:endParaRPr lang="en-US" sz="4800" dirty="0"/>
          </a:p>
        </p:txBody>
      </p:sp>
      <p:sp>
        <p:nvSpPr>
          <p:cNvPr id="5" name="asym_pi_label"/>
          <p:cNvSpPr txBox="1"/>
          <p:nvPr/>
        </p:nvSpPr>
        <p:spPr>
          <a:xfrm>
            <a:off x="7132320" y="2331720"/>
            <a:ext cx="4572000" cy="685800"/>
          </a:xfrm>
          <a:prstGeom prst="rect">
            <a:avLst/>
          </a:prstGeom>
          <a:noFill/>
          <a:ln/>
        </p:spPr>
        <p:txBody>
          <a:bodyPr wrap="square" lIns="0" tIns="0" rIns="0" bIns="0" rtlCol="0" anchor="t"/>
          <a:lstStyle/>
          <a:p>
            <a:pPr indent="0" marL="0">
              <a:buNone/>
            </a:pPr>
            <a:r>
              <a:rPr lang="en-US" sz="1400" dirty="0">
                <a:solidFill>
                  <a:schemeClr val="tx2"/>
                </a:solidFill>
              </a:rPr>
              <a:t>news gets more negative when inflation rises and does not recover when it falls</a:t>
            </a:r>
            <a:endParaRPr lang="en-US" sz="1400" dirty="0"/>
          </a:p>
        </p:txBody>
      </p:sp>
      <p:sp>
        <p:nvSpPr>
          <p:cNvPr id="6" name="asym_u_value"/>
          <p:cNvSpPr txBox="1"/>
          <p:nvPr/>
        </p:nvSpPr>
        <p:spPr>
          <a:xfrm>
            <a:off x="7132320" y="3154680"/>
            <a:ext cx="4572000" cy="86868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p = 0.20</a:t>
            </a:r>
            <a:endParaRPr lang="en-US" sz="4800" dirty="0"/>
          </a:p>
        </p:txBody>
      </p:sp>
      <p:sp>
        <p:nvSpPr>
          <p:cNvPr id="7" name="asym_u_label"/>
          <p:cNvSpPr txBox="1"/>
          <p:nvPr/>
        </p:nvSpPr>
        <p:spPr>
          <a:xfrm>
            <a:off x="7132320" y="4023360"/>
            <a:ext cx="4572000" cy="685800"/>
          </a:xfrm>
          <a:prstGeom prst="rect">
            <a:avLst/>
          </a:prstGeom>
          <a:noFill/>
          <a:ln/>
        </p:spPr>
        <p:txBody>
          <a:bodyPr wrap="square" lIns="0" tIns="0" rIns="0" bIns="0" rtlCol="0" anchor="t"/>
          <a:lstStyle/>
          <a:p>
            <a:pPr indent="0" marL="0">
              <a:buNone/>
            </a:pPr>
            <a:r>
              <a:rPr lang="en-US" sz="1400" dirty="0">
                <a:solidFill>
                  <a:schemeClr val="tx2"/>
                </a:solidFill>
              </a:rPr>
              <a:t>no significant asymmetry for unemployment (bad 0.30 vs good 0.10 per point)</a:t>
            </a:r>
            <a:endParaRPr lang="en-US" sz="1400" dirty="0"/>
          </a:p>
        </p:txBody>
      </p:sp>
      <p:sp>
        <p:nvSpPr>
          <p:cNvPr id="8" name="calib_value"/>
          <p:cNvSpPr txBox="1"/>
          <p:nvPr/>
        </p:nvSpPr>
        <p:spPr>
          <a:xfrm>
            <a:off x="7132320" y="4846320"/>
            <a:ext cx="457200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83%</a:t>
            </a:r>
            <a:endParaRPr lang="en-US" sz="4800" dirty="0"/>
          </a:p>
        </p:txBody>
      </p:sp>
      <p:sp>
        <p:nvSpPr>
          <p:cNvPr id="9" name="calib_label"/>
          <p:cNvSpPr txBox="1"/>
          <p:nvPr/>
        </p:nvSpPr>
        <p:spPr>
          <a:xfrm>
            <a:off x="7132320" y="5715000"/>
            <a:ext cx="4572000" cy="685800"/>
          </a:xfrm>
          <a:prstGeom prst="rect">
            <a:avLst/>
          </a:prstGeom>
          <a:noFill/>
          <a:ln/>
        </p:spPr>
        <p:txBody>
          <a:bodyPr wrap="square" lIns="0" tIns="0" rIns="0" bIns="0" rtlCol="0" anchor="t"/>
          <a:lstStyle/>
          <a:p>
            <a:pPr indent="0" marL="0">
              <a:buNone/>
            </a:pPr>
            <a:r>
              <a:rPr lang="en-US" sz="1400" dirty="0">
                <a:solidFill>
                  <a:schemeClr val="tx2"/>
                </a:solidFill>
              </a:rPr>
              <a:t>of numerical claims match the official data that day (inflation 65%: outlets mix CPI, PCE, months and years)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News tone explains about 1 point of a 40-point gap</a:t>
            </a:r>
            <a:endParaRPr lang="en-US" sz="3000" dirty="0"/>
          </a:p>
        </p:txBody>
      </p:sp>
      <p:graphicFrame>
        <p:nvGraphicFramePr>
          <p:cNvPr id="3" name="impact_chart" descr=""/>
          <p:cNvGraphicFramePr/>
          <p:nvPr/>
        </p:nvGraphicFramePr>
        <p:xfrm>
          <a:off x="548640" y="132588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4" name="impact_0_value"/>
          <p:cNvSpPr txBox="1"/>
          <p:nvPr/>
        </p:nvSpPr>
        <p:spPr>
          <a:xfrm>
            <a:off x="8138160" y="1463040"/>
            <a:ext cx="3566160" cy="6858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-1.0 pts</a:t>
            </a:r>
            <a:endParaRPr lang="en-US" sz="3200" dirty="0"/>
          </a:p>
        </p:txBody>
      </p:sp>
      <p:sp>
        <p:nvSpPr>
          <p:cNvPr id="5" name="impact_0_label"/>
          <p:cNvSpPr txBox="1"/>
          <p:nvPr/>
        </p:nvSpPr>
        <p:spPr>
          <a:xfrm>
            <a:off x="8138160" y="2148840"/>
            <a:ext cx="3566160" cy="868680"/>
          </a:xfrm>
          <a:prstGeom prst="rect">
            <a:avLst/>
          </a:prstGeom>
          <a:noFill/>
          <a:ln/>
        </p:spPr>
        <p:txBody>
          <a:bodyPr wrap="square" lIns="0" tIns="0" rIns="0" bIns="0" rtlCol="0" anchor="t"/>
          <a:lstStyle/>
          <a:p>
            <a:pPr indent="0" marL="0">
              <a:buNone/>
            </a:pPr>
            <a:r>
              <a:rPr lang="en-US" sz="1400" dirty="0">
                <a:solidFill>
                  <a:schemeClr val="tx2"/>
                </a:solidFill>
              </a:rPr>
              <a:t>implied media contribution (90% CI -2.4 to +0.4); fails the pre-registered test (q = 0.18)</a:t>
            </a:r>
            <a:endParaRPr lang="en-US" sz="1400" dirty="0"/>
          </a:p>
        </p:txBody>
      </p:sp>
      <p:sp>
        <p:nvSpPr>
          <p:cNvPr id="6" name="impact_1_value"/>
          <p:cNvSpPr txBox="1"/>
          <p:nvPr/>
        </p:nvSpPr>
        <p:spPr>
          <a:xfrm>
            <a:off x="8138160" y="3063240"/>
            <a:ext cx="3566160" cy="6858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q = 0.003</a:t>
            </a:r>
            <a:endParaRPr lang="en-US" sz="3200" dirty="0"/>
          </a:p>
        </p:txBody>
      </p:sp>
      <p:sp>
        <p:nvSpPr>
          <p:cNvPr id="7" name="impact_1_label"/>
          <p:cNvSpPr txBox="1"/>
          <p:nvPr/>
        </p:nvSpPr>
        <p:spPr>
          <a:xfrm>
            <a:off x="8138160" y="3749040"/>
            <a:ext cx="3566160" cy="868680"/>
          </a:xfrm>
          <a:prstGeom prst="rect">
            <a:avLst/>
          </a:prstGeom>
          <a:noFill/>
          <a:ln/>
        </p:spPr>
        <p:txBody>
          <a:bodyPr wrap="square" lIns="0" tIns="0" rIns="0" bIns="0" rtlCol="0" anchor="t"/>
          <a:lstStyle/>
          <a:p>
            <a:pPr indent="0" marL="0">
              <a:buNone/>
            </a:pPr>
            <a:r>
              <a:rPr lang="en-US" sz="1400" dirty="0">
                <a:solidFill>
                  <a:schemeClr val="tx2"/>
                </a:solidFill>
              </a:rPr>
              <a:t>sentiment leads the SF Fed news index, not the other way round</a:t>
            </a:r>
            <a:endParaRPr lang="en-US" sz="1400" dirty="0"/>
          </a:p>
        </p:txBody>
      </p:sp>
      <p:sp>
        <p:nvSpPr>
          <p:cNvPr id="8" name="impact_2_value"/>
          <p:cNvSpPr txBox="1"/>
          <p:nvPr/>
        </p:nvSpPr>
        <p:spPr>
          <a:xfrm>
            <a:off x="8138160" y="4663440"/>
            <a:ext cx="356616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Experiment</a:t>
            </a:r>
            <a:endParaRPr lang="en-US" sz="3200" dirty="0"/>
          </a:p>
        </p:txBody>
      </p:sp>
      <p:sp>
        <p:nvSpPr>
          <p:cNvPr id="9" name="impact_2_label"/>
          <p:cNvSpPr txBox="1"/>
          <p:nvPr/>
        </p:nvSpPr>
        <p:spPr>
          <a:xfrm>
            <a:off x="8138160" y="5349240"/>
            <a:ext cx="3566160" cy="868680"/>
          </a:xfrm>
          <a:prstGeom prst="rect">
            <a:avLst/>
          </a:prstGeom>
          <a:noFill/>
          <a:ln/>
        </p:spPr>
        <p:txBody>
          <a:bodyPr wrap="square" lIns="0" tIns="0" rIns="0" bIns="0" rtlCol="0" anchor="t"/>
          <a:lstStyle/>
          <a:p>
            <a:pPr indent="0" marL="0">
              <a:buNone/>
            </a:pPr>
            <a:r>
              <a:rPr lang="en-US" sz="1400" dirty="0">
                <a:solidFill>
                  <a:schemeClr val="tx2"/>
                </a:solidFill>
              </a:rPr>
              <a:t>a randomized framing test plus exposure data is what a causal answer needs (design in the report)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What tracks the gap: the price level and the party in power</a:t>
            </a:r>
            <a:endParaRPr lang="en-US" sz="3000" dirty="0"/>
          </a:p>
        </p:txBody>
      </p:sp>
      <p:graphicFrame>
        <p:nvGraphicFramePr>
          <p:cNvPr id="3" name="prices_chart" descr=""/>
          <p:cNvGraphicFramePr/>
          <p:nvPr/>
        </p:nvGraphicFramePr>
        <p:xfrm>
          <a:off x="548640" y="132588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party_chart" descr=""/>
          <p:cNvGraphicFramePr/>
          <p:nvPr/>
        </p:nvGraphicFramePr>
        <p:xfrm>
          <a:off x="6309360" y="1325880"/>
          <a:ext cx="5394960" cy="4023360"/>
        </p:xfrm>
        <a:graphic xmlns:a="http://schemas.openxmlformats.org/drawingml/2006/main">
          <a:graphicData uri="http://schemas.openxmlformats.org/drawingml/2006/chart">
            <c:chart xmlns:c="http://schemas.openxmlformats.org/drawingml/2006/chart" r:id="rId2"/>
          </a:graphicData>
        </a:graphic>
      </p:graphicFrame>
      <p:sp>
        <p:nvSpPr>
          <p:cNvPr id="5" name="prices_note"/>
          <p:cNvSpPr txBox="1"/>
          <p:nvPr/>
        </p:nvSpPr>
        <p:spPr>
          <a:xfrm>
            <a:off x="548640" y="5486400"/>
            <a:ext cx="5486400" cy="731520"/>
          </a:xfrm>
          <a:prstGeom prst="rect">
            <a:avLst/>
          </a:prstGeom>
          <a:noFill/>
          <a:ln/>
        </p:spPr>
        <p:txBody>
          <a:bodyPr wrap="square" lIns="0" tIns="0" rIns="0" bIns="0" rtlCol="0" anchor="t"/>
          <a:lstStyle/>
          <a:p>
            <a:pPr indent="0" marL="0">
              <a:buNone/>
            </a:pPr>
            <a:r>
              <a:rPr lang="en-US" sz="1400" dirty="0">
                <a:solidFill>
                  <a:schemeClr val="tx2"/>
                </a:solidFill>
              </a:rPr>
              <a:t>Fits the price level against trend (R² 0.81) far better than the inflation rate (R² 0.41)</a:t>
            </a:r>
            <a:endParaRPr lang="en-US" sz="1400" dirty="0"/>
          </a:p>
        </p:txBody>
      </p:sp>
      <p:sp>
        <p:nvSpPr>
          <p:cNvPr id="6" name="party_note"/>
          <p:cNvSpPr txBox="1"/>
          <p:nvPr/>
        </p:nvSpPr>
        <p:spPr>
          <a:xfrm>
            <a:off x="6309360" y="5486400"/>
            <a:ext cx="5394960" cy="731520"/>
          </a:xfrm>
          <a:prstGeom prst="rect">
            <a:avLst/>
          </a:prstGeom>
          <a:noFill/>
          <a:ln/>
        </p:spPr>
        <p:txBody>
          <a:bodyPr wrap="square" lIns="0" tIns="0" rIns="0" bIns="0" rtlCol="0" anchor="t"/>
          <a:lstStyle/>
          <a:p>
            <a:pPr indent="0" marL="0">
              <a:buNone/>
            </a:pPr>
            <a:r>
              <a:rPr lang="en-US" sz="1400" dirty="0">
                <a:solidFill>
                  <a:schemeClr val="tx2"/>
                </a:solidFill>
              </a:rPr>
              <a:t>Democrats -21.8, Republicans +31.8 in two months with unemployment and inflation flat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rPr>
              <a:t>For nowcasting sentiment, household pressures beat news tone</a:t>
            </a:r>
            <a:endParaRPr lang="en-US" sz="3000" dirty="0"/>
          </a:p>
        </p:txBody>
      </p:sp>
      <p:graphicFrame>
        <p:nvGraphicFramePr>
          <p:cNvPr id="3" name="rmse_chart"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fc_0_value"/>
          <p:cNvSpPr txBox="1"/>
          <p:nvPr/>
        </p:nvSpPr>
        <p:spPr>
          <a:xfrm>
            <a:off x="7772400" y="1463040"/>
            <a:ext cx="393192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 = 0.053</a:t>
            </a:r>
            <a:endParaRPr lang="en-US" sz="3200" dirty="0"/>
          </a:p>
        </p:txBody>
      </p:sp>
      <p:sp>
        <p:nvSpPr>
          <p:cNvPr id="5" name="fc_0_label"/>
          <p:cNvSpPr txBox="1"/>
          <p:nvPr/>
        </p:nvSpPr>
        <p:spPr>
          <a:xfrm>
            <a:off x="7772400" y="2148840"/>
            <a:ext cx="3931920" cy="868680"/>
          </a:xfrm>
          <a:prstGeom prst="rect">
            <a:avLst/>
          </a:prstGeom>
          <a:noFill/>
          <a:ln/>
        </p:spPr>
        <p:txBody>
          <a:bodyPr wrap="square" lIns="0" tIns="0" rIns="0" bIns="0" rtlCol="0" anchor="t"/>
          <a:lstStyle/>
          <a:p>
            <a:pPr indent="0" marL="0">
              <a:buNone/>
            </a:pPr>
            <a:r>
              <a:rPr lang="en-US" sz="1400" dirty="0">
                <a:solidFill>
                  <a:schemeClr val="tx2"/>
                </a:solidFill>
              </a:rPr>
              <a:t>news tone beats the economy-only model only by 3%, a borderline result</a:t>
            </a:r>
            <a:endParaRPr lang="en-US" sz="1400" dirty="0"/>
          </a:p>
        </p:txBody>
      </p:sp>
      <p:sp>
        <p:nvSpPr>
          <p:cNvPr id="6" name="fc_1_value"/>
          <p:cNvSpPr txBox="1"/>
          <p:nvPr/>
        </p:nvSpPr>
        <p:spPr>
          <a:xfrm>
            <a:off x="7772400" y="3063240"/>
            <a:ext cx="393192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 = 0.10</a:t>
            </a:r>
            <a:endParaRPr lang="en-US" sz="3200" dirty="0"/>
          </a:p>
        </p:txBody>
      </p:sp>
      <p:sp>
        <p:nvSpPr>
          <p:cNvPr id="7" name="fc_1_label"/>
          <p:cNvSpPr txBox="1"/>
          <p:nvPr/>
        </p:nvSpPr>
        <p:spPr>
          <a:xfrm>
            <a:off x="7772400" y="3749040"/>
            <a:ext cx="3931920" cy="868680"/>
          </a:xfrm>
          <a:prstGeom prst="rect">
            <a:avLst/>
          </a:prstGeom>
          <a:noFill/>
          <a:ln/>
        </p:spPr>
        <p:txBody>
          <a:bodyPr wrap="square" lIns="0" tIns="0" rIns="0" bIns="0" rtlCol="0" anchor="t"/>
          <a:lstStyle/>
          <a:p>
            <a:pPr indent="0" marL="0">
              <a:buNone/>
            </a:pPr>
            <a:r>
              <a:rPr lang="en-US" sz="1400" dirty="0">
                <a:solidFill>
                  <a:schemeClr val="tx2"/>
                </a:solidFill>
              </a:rPr>
              <a:t>a similar borderline gain from news remains with household pressures in</a:t>
            </a:r>
            <a:endParaRPr lang="en-US" sz="1400" dirty="0"/>
          </a:p>
        </p:txBody>
      </p:sp>
      <p:sp>
        <p:nvSpPr>
          <p:cNvPr id="8" name="fc_2_value"/>
          <p:cNvSpPr txBox="1"/>
          <p:nvPr/>
        </p:nvSpPr>
        <p:spPr>
          <a:xfrm>
            <a:off x="7772400" y="4663440"/>
            <a:ext cx="393192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-32%</a:t>
            </a:r>
            <a:endParaRPr lang="en-US" sz="3200" dirty="0"/>
          </a:p>
        </p:txBody>
      </p:sp>
      <p:sp>
        <p:nvSpPr>
          <p:cNvPr id="9" name="fc_2_label"/>
          <p:cNvSpPr txBox="1"/>
          <p:nvPr/>
        </p:nvSpPr>
        <p:spPr>
          <a:xfrm>
            <a:off x="7772400" y="5349240"/>
            <a:ext cx="3931920" cy="868680"/>
          </a:xfrm>
          <a:prstGeom prst="rect">
            <a:avLst/>
          </a:prstGeom>
          <a:noFill/>
          <a:ln/>
        </p:spPr>
        <p:txBody>
          <a:bodyPr wrap="square" lIns="0" tIns="0" rIns="0" bIns="0" rtlCol="0" anchor="t"/>
          <a:lstStyle/>
          <a:p>
            <a:pPr indent="0" marL="0">
              <a:buNone/>
            </a:pPr>
            <a:r>
              <a:rPr lang="en-US" sz="1400" dirty="0">
                <a:solidFill>
                  <a:schemeClr val="tx2"/>
                </a:solidFill>
              </a:rPr>
              <a:t>error cut by six household-pressure controls (exploratory, p = 0.0013)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Don't read record-low sentiment as a spending signal on its own</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bg2"/>
                </a:solidFill>
              </a:rPr>
              <a:t>Sentiment and the gap have not predicted real consumer spending 1 to 3 months ahead (exploratory test, p = 0.25 to 0.36)</a:t>
            </a:r>
            <a:endParaRPr lang="en-US" sz="2000" dirty="0"/>
          </a:p>
          <a:p>
            <a:pPr marL="342900" indent="-342900">
              <a:spcAft>
                <a:spcPts val="800"/>
              </a:spcAft>
              <a:buSzPct val="100000"/>
              <a:buChar char="•"/>
            </a:pPr>
            <a:r>
              <a:rPr lang="en-US" sz="2000" dirty="0">
                <a:solidFill>
                  <a:schemeClr val="bg2"/>
                </a:solidFill>
              </a:rPr>
              <a:t>The gap looks mostly like price-level and partisan pessimism, not a fall in what households can spend</a:t>
            </a:r>
            <a:endParaRPr lang="en-US" sz="2000" dirty="0"/>
          </a:p>
          <a:p>
            <a:pPr marL="342900" indent="-342900">
              <a:spcAft>
                <a:spcPts val="800"/>
              </a:spcAft>
              <a:buSzPct val="100000"/>
              <a:buChar char="•"/>
            </a:pPr>
            <a:r>
              <a:rPr lang="en-US" sz="2000" dirty="0">
                <a:solidFill>
                  <a:schemeClr val="bg2"/>
                </a:solidFill>
              </a:rPr>
              <a:t>So in spending forecasts and consumer risk models, do not lean on the headline index on its own</a:t>
            </a:r>
            <a:endParaRPr lang="en-US" sz="2000" dirty="0"/>
          </a:p>
        </p:txBody>
      </p:sp>
    </p:spTree>
  </p:cSld>
  <p:clrMapOvr>
    <a:masterClrMapping/>
  </p:clrMapOvr>
</p:sld>
</file>

<file path=ppt/theme/theme1.xml><?xml version="1.0" encoding="utf-8"?>
<a:theme xmlns:a="http://schemas.openxmlformats.org/drawingml/2006/main" name="Sentiment Gap">
  <a:themeElements>
    <a:clrScheme name="Sentiment Gap">
      <a:dk1>
        <a:srgbClr val="1B2333"/>
      </a:dk1>
      <a:lt1>
        <a:srgbClr val="FFFFFF"/>
      </a:lt1>
      <a:dk2>
        <a:srgbClr val="3A4659"/>
      </a:dk2>
      <a:lt2>
        <a:srgbClr val="EEF1F5"/>
      </a:lt2>
      <a:accent1>
        <a:srgbClr val="D9822B"/>
      </a:accent1>
      <a:accent2>
        <a:srgbClr val="2A7F86"/>
      </a:accent2>
      <a:accent3>
        <a:srgbClr val="C2453A"/>
      </a:accent3>
      <a:accent4>
        <a:srgbClr val="7A8699"/>
      </a:accent4>
      <a:accent5>
        <a:srgbClr val="3F6FB5"/>
      </a:accent5>
      <a:accent6>
        <a:srgbClr val="8C6BB1"/>
      </a:accent6>
      <a:hlink>
        <a:srgbClr val="2A7F86"/>
      </a:hlink>
      <a:folHlink>
        <a:srgbClr val="7A8699"/>
      </a:folHlink>
    </a:clrScheme>
    <a:fontScheme name="Sentiment G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Record-low sentiment is not, by itself, a spending signal</dc:title>
  <dc:subject>PptxGenJS Presentation</dc:subject>
  <dc:creator>Aditya Gupta</dc:creator>
  <cp:lastModifiedBy>Aditya Gupta</cp:lastModifiedBy>
  <cp:revision>1</cp:revision>
  <dcterms:created xsi:type="dcterms:W3CDTF">2026-10-13T08:42:15Z</dcterms:created>
  <dcterms:modified xsi:type="dcterms:W3CDTF">2026-10-13T08:42:15Z</dcterms:modified>
</cp:coreProperties>
</file>